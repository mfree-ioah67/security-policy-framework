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32"/>
  </p:notesMasterIdLst>
  <p:handoutMasterIdLst>
    <p:handoutMasterId r:id="rId33"/>
  </p:handoutMasterIdLst>
  <p:sldIdLst>
    <p:sldId id="1507" r:id="rId6"/>
    <p:sldId id="1514" r:id="rId7"/>
    <p:sldId id="1536" r:id="rId8"/>
    <p:sldId id="1512" r:id="rId9"/>
    <p:sldId id="1537" r:id="rId10"/>
    <p:sldId id="1526" r:id="rId11"/>
    <p:sldId id="1535" r:id="rId12"/>
    <p:sldId id="1527" r:id="rId13"/>
    <p:sldId id="1540" r:id="rId14"/>
    <p:sldId id="1519" r:id="rId15"/>
    <p:sldId id="1520" r:id="rId16"/>
    <p:sldId id="1528" r:id="rId17"/>
    <p:sldId id="1521" r:id="rId18"/>
    <p:sldId id="1529" r:id="rId19"/>
    <p:sldId id="1530" r:id="rId20"/>
    <p:sldId id="1541" r:id="rId21"/>
    <p:sldId id="1531" r:id="rId22"/>
    <p:sldId id="1532" r:id="rId23"/>
    <p:sldId id="1523" r:id="rId24"/>
    <p:sldId id="1524" r:id="rId25"/>
    <p:sldId id="1533" r:id="rId26"/>
    <p:sldId id="1534" r:id="rId27"/>
    <p:sldId id="1542" r:id="rId28"/>
    <p:sldId id="1525" r:id="rId29"/>
    <p:sldId id="1538" r:id="rId30"/>
    <p:sldId id="1539" r:id="rId31"/>
  </p:sldIdLst>
  <p:sldSz cx="9144000" cy="6858000" type="screen4x3"/>
  <p:notesSz cx="7010400" cy="9296400"/>
  <p:custDataLst>
    <p:tags r:id="rId34"/>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03" autoAdjust="0"/>
    <p:restoredTop sz="93076" autoAdjust="0"/>
  </p:normalViewPr>
  <p:slideViewPr>
    <p:cSldViewPr snapToGrid="0" snapToObjects="1">
      <p:cViewPr varScale="1">
        <p:scale>
          <a:sx n="73" d="100"/>
          <a:sy n="73" d="100"/>
        </p:scale>
        <p:origin x="1824" y="62"/>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604"/>
    </p:cViewPr>
  </p:sorterViewPr>
  <p:notesViewPr>
    <p:cSldViewPr snapToGrid="0" snapToObjects="1">
      <p:cViewPr varScale="1">
        <p:scale>
          <a:sx n="93" d="100"/>
          <a:sy n="93" d="100"/>
        </p:scale>
        <p:origin x="-2532" y="-12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C95C06-436C-461C-91A5-ADA800C525AA}" type="doc">
      <dgm:prSet loTypeId="urn:microsoft.com/office/officeart/2005/8/layout/target1" loCatId="relationship" qsTypeId="urn:microsoft.com/office/officeart/2005/8/quickstyle/simple1" qsCatId="simple" csTypeId="urn:microsoft.com/office/officeart/2005/8/colors/colorful1#1" csCatId="colorful" phldr="1"/>
      <dgm:spPr/>
      <dgm:t>
        <a:bodyPr/>
        <a:lstStyle/>
        <a:p>
          <a:endParaRPr lang="en-US"/>
        </a:p>
      </dgm:t>
    </dgm:pt>
    <dgm:pt modelId="{739AAE87-BE4F-4FF3-8A3F-D582A8188328}">
      <dgm:prSet custT="1"/>
      <dgm:spPr/>
      <dgm:t>
        <a:bodyPr/>
        <a:lstStyle/>
        <a:p>
          <a:pPr rtl="0"/>
          <a:r>
            <a:rPr lang="en-US" sz="1800" dirty="0"/>
            <a:t>Employees </a:t>
          </a:r>
        </a:p>
      </dgm:t>
    </dgm:pt>
    <dgm:pt modelId="{A9B92EF3-8E45-4E37-BE66-03B2B0C40E52}" type="parTrans" cxnId="{655BE15F-243A-48CD-937B-5F6B842D7C5C}">
      <dgm:prSet/>
      <dgm:spPr/>
      <dgm:t>
        <a:bodyPr/>
        <a:lstStyle/>
        <a:p>
          <a:endParaRPr lang="en-US"/>
        </a:p>
      </dgm:t>
    </dgm:pt>
    <dgm:pt modelId="{EE5D23EF-4FB3-44C6-BFE6-4983DAE1DB6B}" type="sibTrans" cxnId="{655BE15F-243A-48CD-937B-5F6B842D7C5C}">
      <dgm:prSet/>
      <dgm:spPr/>
      <dgm:t>
        <a:bodyPr/>
        <a:lstStyle/>
        <a:p>
          <a:endParaRPr lang="en-US"/>
        </a:p>
      </dgm:t>
    </dgm:pt>
    <dgm:pt modelId="{E4B56B89-53DA-4FB4-91EC-E9E919FD3F79}">
      <dgm:prSet custT="1"/>
      <dgm:spPr/>
      <dgm:t>
        <a:bodyPr/>
        <a:lstStyle/>
        <a:p>
          <a:pPr rtl="0"/>
          <a:r>
            <a:rPr lang="en-US" sz="1800" dirty="0"/>
            <a:t>System administrators</a:t>
          </a:r>
        </a:p>
      </dgm:t>
    </dgm:pt>
    <dgm:pt modelId="{857A6827-EE87-4B6F-B132-5337C530DA03}" type="parTrans" cxnId="{CDB6F229-6821-45AB-9C99-A93B9E41D90E}">
      <dgm:prSet/>
      <dgm:spPr/>
      <dgm:t>
        <a:bodyPr/>
        <a:lstStyle/>
        <a:p>
          <a:endParaRPr lang="en-US"/>
        </a:p>
      </dgm:t>
    </dgm:pt>
    <dgm:pt modelId="{C90A730B-DD42-4099-9274-668AF8715B06}" type="sibTrans" cxnId="{CDB6F229-6821-45AB-9C99-A93B9E41D90E}">
      <dgm:prSet/>
      <dgm:spPr/>
      <dgm:t>
        <a:bodyPr/>
        <a:lstStyle/>
        <a:p>
          <a:endParaRPr lang="en-US"/>
        </a:p>
      </dgm:t>
    </dgm:pt>
    <dgm:pt modelId="{3F1DABB5-5EC0-494F-8625-C0B2150D2814}">
      <dgm:prSet custT="1"/>
      <dgm:spPr/>
      <dgm:t>
        <a:bodyPr/>
        <a:lstStyle/>
        <a:p>
          <a:pPr rtl="0"/>
          <a:r>
            <a:rPr lang="en-US" sz="1800" dirty="0"/>
            <a:t>Security personnel</a:t>
          </a:r>
        </a:p>
      </dgm:t>
    </dgm:pt>
    <dgm:pt modelId="{E1866055-6837-4048-8208-D4003951AE68}" type="parTrans" cxnId="{BA6D93D5-D3A7-4550-9C41-A78E68D0E0E1}">
      <dgm:prSet/>
      <dgm:spPr/>
      <dgm:t>
        <a:bodyPr/>
        <a:lstStyle/>
        <a:p>
          <a:endParaRPr lang="en-US"/>
        </a:p>
      </dgm:t>
    </dgm:pt>
    <dgm:pt modelId="{8B30D64A-777E-4CF1-A771-6A2C0BA83DD3}" type="sibTrans" cxnId="{BA6D93D5-D3A7-4550-9C41-A78E68D0E0E1}">
      <dgm:prSet/>
      <dgm:spPr/>
      <dgm:t>
        <a:bodyPr/>
        <a:lstStyle/>
        <a:p>
          <a:endParaRPr lang="en-US"/>
        </a:p>
      </dgm:t>
    </dgm:pt>
    <dgm:pt modelId="{BC2C2F29-7640-4564-BE46-AEB22300409B}">
      <dgm:prSet custT="1"/>
      <dgm:spPr/>
      <dgm:t>
        <a:bodyPr/>
        <a:lstStyle/>
        <a:p>
          <a:pPr rtl="0"/>
          <a:r>
            <a:rPr lang="en-US" sz="1800" dirty="0"/>
            <a:t>Contractors</a:t>
          </a:r>
        </a:p>
      </dgm:t>
    </dgm:pt>
    <dgm:pt modelId="{631846DF-2C10-4FE6-ABBF-2FD270A5EBCF}" type="parTrans" cxnId="{94A0ECE1-59A5-4118-B83A-97AE210CE6EB}">
      <dgm:prSet/>
      <dgm:spPr/>
      <dgm:t>
        <a:bodyPr/>
        <a:lstStyle/>
        <a:p>
          <a:endParaRPr lang="en-US"/>
        </a:p>
      </dgm:t>
    </dgm:pt>
    <dgm:pt modelId="{6E19E5EF-009A-4855-83D9-05D32DD232F0}" type="sibTrans" cxnId="{94A0ECE1-59A5-4118-B83A-97AE210CE6EB}">
      <dgm:prSet/>
      <dgm:spPr/>
      <dgm:t>
        <a:bodyPr/>
        <a:lstStyle/>
        <a:p>
          <a:endParaRPr lang="en-US"/>
        </a:p>
      </dgm:t>
    </dgm:pt>
    <dgm:pt modelId="{4031B7FB-2505-4E43-88F7-CC4C3E652D9F}">
      <dgm:prSet custT="1"/>
      <dgm:spPr/>
      <dgm:t>
        <a:bodyPr/>
        <a:lstStyle/>
        <a:p>
          <a:pPr rtl="0"/>
          <a:r>
            <a:rPr lang="en-US" sz="1800" dirty="0"/>
            <a:t>Auditors or guests and general public</a:t>
          </a:r>
        </a:p>
      </dgm:t>
    </dgm:pt>
    <dgm:pt modelId="{D5440FA4-DCB8-42A7-8D35-7C292B5FD8FF}" type="parTrans" cxnId="{D1DD56C9-FFD1-4898-A0F2-BD7464A61D90}">
      <dgm:prSet/>
      <dgm:spPr/>
      <dgm:t>
        <a:bodyPr/>
        <a:lstStyle/>
        <a:p>
          <a:endParaRPr lang="en-US"/>
        </a:p>
      </dgm:t>
    </dgm:pt>
    <dgm:pt modelId="{A192CBA6-AEBD-42D7-88A4-235F14F14BE5}" type="sibTrans" cxnId="{D1DD56C9-FFD1-4898-A0F2-BD7464A61D90}">
      <dgm:prSet/>
      <dgm:spPr/>
      <dgm:t>
        <a:bodyPr/>
        <a:lstStyle/>
        <a:p>
          <a:endParaRPr lang="en-US"/>
        </a:p>
      </dgm:t>
    </dgm:pt>
    <dgm:pt modelId="{0B9285B9-3CFE-4EDD-903D-5BB1D4B5F43E}" type="pres">
      <dgm:prSet presAssocID="{9FC95C06-436C-461C-91A5-ADA800C525AA}" presName="composite" presStyleCnt="0">
        <dgm:presLayoutVars>
          <dgm:chMax val="5"/>
          <dgm:dir/>
          <dgm:resizeHandles val="exact"/>
        </dgm:presLayoutVars>
      </dgm:prSet>
      <dgm:spPr/>
    </dgm:pt>
    <dgm:pt modelId="{79B0AA35-F99A-45FA-BDF5-CAE8E079DF6A}" type="pres">
      <dgm:prSet presAssocID="{739AAE87-BE4F-4FF3-8A3F-D582A8188328}" presName="circle1" presStyleLbl="lnNode1" presStyleIdx="0" presStyleCnt="5"/>
      <dgm:spPr>
        <a:solidFill>
          <a:schemeClr val="tx2">
            <a:lumMod val="50000"/>
          </a:schemeClr>
        </a:solidFill>
      </dgm:spPr>
    </dgm:pt>
    <dgm:pt modelId="{43B4862E-CCC4-4341-8EB4-DB34EFAF6E29}" type="pres">
      <dgm:prSet presAssocID="{739AAE87-BE4F-4FF3-8A3F-D582A8188328}" presName="text1" presStyleLbl="revTx" presStyleIdx="0" presStyleCnt="5">
        <dgm:presLayoutVars>
          <dgm:bulletEnabled val="1"/>
        </dgm:presLayoutVars>
      </dgm:prSet>
      <dgm:spPr/>
    </dgm:pt>
    <dgm:pt modelId="{5B05FE8A-B066-43FB-B213-863A133AC0F2}" type="pres">
      <dgm:prSet presAssocID="{739AAE87-BE4F-4FF3-8A3F-D582A8188328}" presName="line1" presStyleLbl="callout" presStyleIdx="0" presStyleCnt="10"/>
      <dgm:spPr>
        <a:ln>
          <a:solidFill>
            <a:schemeClr val="accent4"/>
          </a:solidFill>
        </a:ln>
      </dgm:spPr>
    </dgm:pt>
    <dgm:pt modelId="{13C926F6-9DAE-45E5-AE31-3BA0D3901E2A}" type="pres">
      <dgm:prSet presAssocID="{739AAE87-BE4F-4FF3-8A3F-D582A8188328}" presName="d1" presStyleLbl="callout" presStyleIdx="1" presStyleCnt="10"/>
      <dgm:spPr>
        <a:ln>
          <a:solidFill>
            <a:schemeClr val="tx1"/>
          </a:solidFill>
        </a:ln>
      </dgm:spPr>
    </dgm:pt>
    <dgm:pt modelId="{EEDFF89A-817B-45F2-A40A-266F37D97F89}" type="pres">
      <dgm:prSet presAssocID="{E4B56B89-53DA-4FB4-91EC-E9E919FD3F79}" presName="circle2" presStyleLbl="lnNode1" presStyleIdx="1" presStyleCnt="5"/>
      <dgm:spPr/>
    </dgm:pt>
    <dgm:pt modelId="{3AF1296C-D60B-457F-A789-8984EB89A51E}" type="pres">
      <dgm:prSet presAssocID="{E4B56B89-53DA-4FB4-91EC-E9E919FD3F79}" presName="text2" presStyleLbl="revTx" presStyleIdx="1" presStyleCnt="5">
        <dgm:presLayoutVars>
          <dgm:bulletEnabled val="1"/>
        </dgm:presLayoutVars>
      </dgm:prSet>
      <dgm:spPr/>
    </dgm:pt>
    <dgm:pt modelId="{81E4A2D9-52E5-499D-AE9E-3D863E4DB8AA}" type="pres">
      <dgm:prSet presAssocID="{E4B56B89-53DA-4FB4-91EC-E9E919FD3F79}" presName="line2" presStyleLbl="callout" presStyleIdx="2" presStyleCnt="10"/>
      <dgm:spPr>
        <a:ln>
          <a:solidFill>
            <a:schemeClr val="tx1"/>
          </a:solidFill>
        </a:ln>
      </dgm:spPr>
    </dgm:pt>
    <dgm:pt modelId="{18867E44-12B9-4DB9-AB52-B9C451CEF9C8}" type="pres">
      <dgm:prSet presAssocID="{E4B56B89-53DA-4FB4-91EC-E9E919FD3F79}" presName="d2" presStyleLbl="callout" presStyleIdx="3" presStyleCnt="10"/>
      <dgm:spPr>
        <a:ln>
          <a:solidFill>
            <a:schemeClr val="tx1"/>
          </a:solidFill>
        </a:ln>
      </dgm:spPr>
    </dgm:pt>
    <dgm:pt modelId="{83CAF46A-237B-44C1-97FB-983A5E24B189}" type="pres">
      <dgm:prSet presAssocID="{3F1DABB5-5EC0-494F-8625-C0B2150D2814}" presName="circle3" presStyleLbl="lnNode1" presStyleIdx="2" presStyleCnt="5"/>
      <dgm:spPr>
        <a:solidFill>
          <a:schemeClr val="tx2">
            <a:lumMod val="40000"/>
            <a:lumOff val="60000"/>
          </a:schemeClr>
        </a:solidFill>
      </dgm:spPr>
    </dgm:pt>
    <dgm:pt modelId="{3DD6C353-D408-4F6F-929D-35F0C23D58F2}" type="pres">
      <dgm:prSet presAssocID="{3F1DABB5-5EC0-494F-8625-C0B2150D2814}" presName="text3" presStyleLbl="revTx" presStyleIdx="2" presStyleCnt="5">
        <dgm:presLayoutVars>
          <dgm:bulletEnabled val="1"/>
        </dgm:presLayoutVars>
      </dgm:prSet>
      <dgm:spPr/>
    </dgm:pt>
    <dgm:pt modelId="{8703E80E-8414-4DF0-ACAA-8528A499FA33}" type="pres">
      <dgm:prSet presAssocID="{3F1DABB5-5EC0-494F-8625-C0B2150D2814}" presName="line3" presStyleLbl="callout" presStyleIdx="4" presStyleCnt="10"/>
      <dgm:spPr>
        <a:ln>
          <a:solidFill>
            <a:schemeClr val="tx1"/>
          </a:solidFill>
        </a:ln>
      </dgm:spPr>
    </dgm:pt>
    <dgm:pt modelId="{1C8D850F-F287-41B4-B518-3A2490735DC6}" type="pres">
      <dgm:prSet presAssocID="{3F1DABB5-5EC0-494F-8625-C0B2150D2814}" presName="d3" presStyleLbl="callout" presStyleIdx="5" presStyleCnt="10"/>
      <dgm:spPr>
        <a:ln>
          <a:solidFill>
            <a:schemeClr val="tx1"/>
          </a:solidFill>
        </a:ln>
      </dgm:spPr>
    </dgm:pt>
    <dgm:pt modelId="{86EA7CDB-6655-43E0-82CB-8AA80679E7B8}" type="pres">
      <dgm:prSet presAssocID="{BC2C2F29-7640-4564-BE46-AEB22300409B}" presName="circle4" presStyleLbl="lnNode1" presStyleIdx="3" presStyleCnt="5"/>
      <dgm:spPr>
        <a:solidFill>
          <a:schemeClr val="tx2">
            <a:lumMod val="60000"/>
            <a:lumOff val="40000"/>
          </a:schemeClr>
        </a:solidFill>
      </dgm:spPr>
    </dgm:pt>
    <dgm:pt modelId="{CB6EF1F0-C8CD-4D9C-A50D-8842D59A4FC0}" type="pres">
      <dgm:prSet presAssocID="{BC2C2F29-7640-4564-BE46-AEB22300409B}" presName="text4" presStyleLbl="revTx" presStyleIdx="3" presStyleCnt="5">
        <dgm:presLayoutVars>
          <dgm:bulletEnabled val="1"/>
        </dgm:presLayoutVars>
      </dgm:prSet>
      <dgm:spPr/>
    </dgm:pt>
    <dgm:pt modelId="{587FBC50-BA69-4B11-9ADA-9FD867A15B9F}" type="pres">
      <dgm:prSet presAssocID="{BC2C2F29-7640-4564-BE46-AEB22300409B}" presName="line4" presStyleLbl="callout" presStyleIdx="6" presStyleCnt="10"/>
      <dgm:spPr>
        <a:ln>
          <a:solidFill>
            <a:schemeClr val="tx1"/>
          </a:solidFill>
        </a:ln>
      </dgm:spPr>
    </dgm:pt>
    <dgm:pt modelId="{AA354656-52DE-45D0-9581-7BB367A6E50C}" type="pres">
      <dgm:prSet presAssocID="{BC2C2F29-7640-4564-BE46-AEB22300409B}" presName="d4" presStyleLbl="callout" presStyleIdx="7" presStyleCnt="10"/>
      <dgm:spPr>
        <a:ln>
          <a:solidFill>
            <a:schemeClr val="tx1"/>
          </a:solidFill>
        </a:ln>
      </dgm:spPr>
    </dgm:pt>
    <dgm:pt modelId="{B6C4FCF8-496D-42E4-86CE-2F6E2824A74F}" type="pres">
      <dgm:prSet presAssocID="{4031B7FB-2505-4E43-88F7-CC4C3E652D9F}" presName="circle5" presStyleLbl="lnNode1" presStyleIdx="4" presStyleCnt="5"/>
      <dgm:spPr>
        <a:solidFill>
          <a:schemeClr val="tx2"/>
        </a:solidFill>
      </dgm:spPr>
    </dgm:pt>
    <dgm:pt modelId="{A0BF309F-BE5E-4A1F-8CC6-FA188315041C}" type="pres">
      <dgm:prSet presAssocID="{4031B7FB-2505-4E43-88F7-CC4C3E652D9F}" presName="text5" presStyleLbl="revTx" presStyleIdx="4" presStyleCnt="5" custScaleY="135355">
        <dgm:presLayoutVars>
          <dgm:bulletEnabled val="1"/>
        </dgm:presLayoutVars>
      </dgm:prSet>
      <dgm:spPr/>
    </dgm:pt>
    <dgm:pt modelId="{2C823C15-1D2C-4E56-878B-DA6B000C204C}" type="pres">
      <dgm:prSet presAssocID="{4031B7FB-2505-4E43-88F7-CC4C3E652D9F}" presName="line5" presStyleLbl="callout" presStyleIdx="8" presStyleCnt="10"/>
      <dgm:spPr>
        <a:ln>
          <a:solidFill>
            <a:schemeClr val="tx1"/>
          </a:solidFill>
        </a:ln>
      </dgm:spPr>
    </dgm:pt>
    <dgm:pt modelId="{9B10BD63-D1DA-416F-9BFE-6B82FC0A7DA2}" type="pres">
      <dgm:prSet presAssocID="{4031B7FB-2505-4E43-88F7-CC4C3E652D9F}" presName="d5" presStyleLbl="callout" presStyleIdx="9" presStyleCnt="10"/>
      <dgm:spPr>
        <a:ln>
          <a:solidFill>
            <a:schemeClr val="tx1"/>
          </a:solidFill>
        </a:ln>
      </dgm:spPr>
    </dgm:pt>
  </dgm:ptLst>
  <dgm:cxnLst>
    <dgm:cxn modelId="{8063BB0E-7351-4044-9AA6-1B9D0E3905E6}" type="presOf" srcId="{4031B7FB-2505-4E43-88F7-CC4C3E652D9F}" destId="{A0BF309F-BE5E-4A1F-8CC6-FA188315041C}" srcOrd="0" destOrd="0" presId="urn:microsoft.com/office/officeart/2005/8/layout/target1"/>
    <dgm:cxn modelId="{CDB6F229-6821-45AB-9C99-A93B9E41D90E}" srcId="{9FC95C06-436C-461C-91A5-ADA800C525AA}" destId="{E4B56B89-53DA-4FB4-91EC-E9E919FD3F79}" srcOrd="1" destOrd="0" parTransId="{857A6827-EE87-4B6F-B132-5337C530DA03}" sibTransId="{C90A730B-DD42-4099-9274-668AF8715B06}"/>
    <dgm:cxn modelId="{3C9B1831-8FB8-41D1-9B3F-88C9F27EC4BF}" type="presOf" srcId="{9FC95C06-436C-461C-91A5-ADA800C525AA}" destId="{0B9285B9-3CFE-4EDD-903D-5BB1D4B5F43E}" srcOrd="0" destOrd="0" presId="urn:microsoft.com/office/officeart/2005/8/layout/target1"/>
    <dgm:cxn modelId="{655BE15F-243A-48CD-937B-5F6B842D7C5C}" srcId="{9FC95C06-436C-461C-91A5-ADA800C525AA}" destId="{739AAE87-BE4F-4FF3-8A3F-D582A8188328}" srcOrd="0" destOrd="0" parTransId="{A9B92EF3-8E45-4E37-BE66-03B2B0C40E52}" sibTransId="{EE5D23EF-4FB3-44C6-BFE6-4983DAE1DB6B}"/>
    <dgm:cxn modelId="{8B233B7D-3850-44A4-A707-81E0BB94D4E1}" type="presOf" srcId="{739AAE87-BE4F-4FF3-8A3F-D582A8188328}" destId="{43B4862E-CCC4-4341-8EB4-DB34EFAF6E29}" srcOrd="0" destOrd="0" presId="urn:microsoft.com/office/officeart/2005/8/layout/target1"/>
    <dgm:cxn modelId="{2E722891-3231-4F8A-9D53-B664ED557C45}" type="presOf" srcId="{3F1DABB5-5EC0-494F-8625-C0B2150D2814}" destId="{3DD6C353-D408-4F6F-929D-35F0C23D58F2}" srcOrd="0" destOrd="0" presId="urn:microsoft.com/office/officeart/2005/8/layout/target1"/>
    <dgm:cxn modelId="{C5622092-3180-4040-A798-8A7F43289C86}" type="presOf" srcId="{E4B56B89-53DA-4FB4-91EC-E9E919FD3F79}" destId="{3AF1296C-D60B-457F-A789-8984EB89A51E}" srcOrd="0" destOrd="0" presId="urn:microsoft.com/office/officeart/2005/8/layout/target1"/>
    <dgm:cxn modelId="{D1DD56C9-FFD1-4898-A0F2-BD7464A61D90}" srcId="{9FC95C06-436C-461C-91A5-ADA800C525AA}" destId="{4031B7FB-2505-4E43-88F7-CC4C3E652D9F}" srcOrd="4" destOrd="0" parTransId="{D5440FA4-DCB8-42A7-8D35-7C292B5FD8FF}" sibTransId="{A192CBA6-AEBD-42D7-88A4-235F14F14BE5}"/>
    <dgm:cxn modelId="{BA6D93D5-D3A7-4550-9C41-A78E68D0E0E1}" srcId="{9FC95C06-436C-461C-91A5-ADA800C525AA}" destId="{3F1DABB5-5EC0-494F-8625-C0B2150D2814}" srcOrd="2" destOrd="0" parTransId="{E1866055-6837-4048-8208-D4003951AE68}" sibTransId="{8B30D64A-777E-4CF1-A771-6A2C0BA83DD3}"/>
    <dgm:cxn modelId="{94A0ECE1-59A5-4118-B83A-97AE210CE6EB}" srcId="{9FC95C06-436C-461C-91A5-ADA800C525AA}" destId="{BC2C2F29-7640-4564-BE46-AEB22300409B}" srcOrd="3" destOrd="0" parTransId="{631846DF-2C10-4FE6-ABBF-2FD270A5EBCF}" sibTransId="{6E19E5EF-009A-4855-83D9-05D32DD232F0}"/>
    <dgm:cxn modelId="{5D39E6EA-027F-4669-BC2B-56F78AED028F}" type="presOf" srcId="{BC2C2F29-7640-4564-BE46-AEB22300409B}" destId="{CB6EF1F0-C8CD-4D9C-A50D-8842D59A4FC0}" srcOrd="0" destOrd="0" presId="urn:microsoft.com/office/officeart/2005/8/layout/target1"/>
    <dgm:cxn modelId="{D703A279-DF55-4C02-8129-F7695841DDCE}" type="presParOf" srcId="{0B9285B9-3CFE-4EDD-903D-5BB1D4B5F43E}" destId="{79B0AA35-F99A-45FA-BDF5-CAE8E079DF6A}" srcOrd="0" destOrd="0" presId="urn:microsoft.com/office/officeart/2005/8/layout/target1"/>
    <dgm:cxn modelId="{EADE169E-9B33-4FCB-89F2-62994E27F3D8}" type="presParOf" srcId="{0B9285B9-3CFE-4EDD-903D-5BB1D4B5F43E}" destId="{43B4862E-CCC4-4341-8EB4-DB34EFAF6E29}" srcOrd="1" destOrd="0" presId="urn:microsoft.com/office/officeart/2005/8/layout/target1"/>
    <dgm:cxn modelId="{EBE06ACC-6800-430B-9F08-958D62B66AF9}" type="presParOf" srcId="{0B9285B9-3CFE-4EDD-903D-5BB1D4B5F43E}" destId="{5B05FE8A-B066-43FB-B213-863A133AC0F2}" srcOrd="2" destOrd="0" presId="urn:microsoft.com/office/officeart/2005/8/layout/target1"/>
    <dgm:cxn modelId="{738DED73-693E-4C6A-B2AE-96F3C1BD02A3}" type="presParOf" srcId="{0B9285B9-3CFE-4EDD-903D-5BB1D4B5F43E}" destId="{13C926F6-9DAE-45E5-AE31-3BA0D3901E2A}" srcOrd="3" destOrd="0" presId="urn:microsoft.com/office/officeart/2005/8/layout/target1"/>
    <dgm:cxn modelId="{0FDA114C-33EF-4D78-ADF6-421B7B66C03D}" type="presParOf" srcId="{0B9285B9-3CFE-4EDD-903D-5BB1D4B5F43E}" destId="{EEDFF89A-817B-45F2-A40A-266F37D97F89}" srcOrd="4" destOrd="0" presId="urn:microsoft.com/office/officeart/2005/8/layout/target1"/>
    <dgm:cxn modelId="{0E46FD95-3EA8-4E7D-81BE-38302C7436CB}" type="presParOf" srcId="{0B9285B9-3CFE-4EDD-903D-5BB1D4B5F43E}" destId="{3AF1296C-D60B-457F-A789-8984EB89A51E}" srcOrd="5" destOrd="0" presId="urn:microsoft.com/office/officeart/2005/8/layout/target1"/>
    <dgm:cxn modelId="{59FA75D8-4071-4CFE-B02D-FC35A17337D1}" type="presParOf" srcId="{0B9285B9-3CFE-4EDD-903D-5BB1D4B5F43E}" destId="{81E4A2D9-52E5-499D-AE9E-3D863E4DB8AA}" srcOrd="6" destOrd="0" presId="urn:microsoft.com/office/officeart/2005/8/layout/target1"/>
    <dgm:cxn modelId="{6D73A335-6C09-4228-BEED-250C48CEA775}" type="presParOf" srcId="{0B9285B9-3CFE-4EDD-903D-5BB1D4B5F43E}" destId="{18867E44-12B9-4DB9-AB52-B9C451CEF9C8}" srcOrd="7" destOrd="0" presId="urn:microsoft.com/office/officeart/2005/8/layout/target1"/>
    <dgm:cxn modelId="{F21CF824-B113-4324-8F42-16B429EC824B}" type="presParOf" srcId="{0B9285B9-3CFE-4EDD-903D-5BB1D4B5F43E}" destId="{83CAF46A-237B-44C1-97FB-983A5E24B189}" srcOrd="8" destOrd="0" presId="urn:microsoft.com/office/officeart/2005/8/layout/target1"/>
    <dgm:cxn modelId="{C66F721B-AD1E-456F-B2FA-66E01DE8709D}" type="presParOf" srcId="{0B9285B9-3CFE-4EDD-903D-5BB1D4B5F43E}" destId="{3DD6C353-D408-4F6F-929D-35F0C23D58F2}" srcOrd="9" destOrd="0" presId="urn:microsoft.com/office/officeart/2005/8/layout/target1"/>
    <dgm:cxn modelId="{C7AE7E0E-3C0E-49A8-9BB6-0D89EAA3A2E1}" type="presParOf" srcId="{0B9285B9-3CFE-4EDD-903D-5BB1D4B5F43E}" destId="{8703E80E-8414-4DF0-ACAA-8528A499FA33}" srcOrd="10" destOrd="0" presId="urn:microsoft.com/office/officeart/2005/8/layout/target1"/>
    <dgm:cxn modelId="{4D145B70-F212-46FB-BB07-241289681A27}" type="presParOf" srcId="{0B9285B9-3CFE-4EDD-903D-5BB1D4B5F43E}" destId="{1C8D850F-F287-41B4-B518-3A2490735DC6}" srcOrd="11" destOrd="0" presId="urn:microsoft.com/office/officeart/2005/8/layout/target1"/>
    <dgm:cxn modelId="{CA007E59-99C9-405D-A823-5EFAA18ABA9F}" type="presParOf" srcId="{0B9285B9-3CFE-4EDD-903D-5BB1D4B5F43E}" destId="{86EA7CDB-6655-43E0-82CB-8AA80679E7B8}" srcOrd="12" destOrd="0" presId="urn:microsoft.com/office/officeart/2005/8/layout/target1"/>
    <dgm:cxn modelId="{4DE509B7-931D-44C8-8017-E61EA1058324}" type="presParOf" srcId="{0B9285B9-3CFE-4EDD-903D-5BB1D4B5F43E}" destId="{CB6EF1F0-C8CD-4D9C-A50D-8842D59A4FC0}" srcOrd="13" destOrd="0" presId="urn:microsoft.com/office/officeart/2005/8/layout/target1"/>
    <dgm:cxn modelId="{7D617D20-6B18-4937-9CFA-7B0FC207231F}" type="presParOf" srcId="{0B9285B9-3CFE-4EDD-903D-5BB1D4B5F43E}" destId="{587FBC50-BA69-4B11-9ADA-9FD867A15B9F}" srcOrd="14" destOrd="0" presId="urn:microsoft.com/office/officeart/2005/8/layout/target1"/>
    <dgm:cxn modelId="{1300748F-1C92-481E-9E60-C7C44D2FAC20}" type="presParOf" srcId="{0B9285B9-3CFE-4EDD-903D-5BB1D4B5F43E}" destId="{AA354656-52DE-45D0-9581-7BB367A6E50C}" srcOrd="15" destOrd="0" presId="urn:microsoft.com/office/officeart/2005/8/layout/target1"/>
    <dgm:cxn modelId="{942C8A8E-8A34-48A9-832D-5AC7B3A660C8}" type="presParOf" srcId="{0B9285B9-3CFE-4EDD-903D-5BB1D4B5F43E}" destId="{B6C4FCF8-496D-42E4-86CE-2F6E2824A74F}" srcOrd="16" destOrd="0" presId="urn:microsoft.com/office/officeart/2005/8/layout/target1"/>
    <dgm:cxn modelId="{D61BC522-00C2-4DF1-87DB-D2D9B9F764A5}" type="presParOf" srcId="{0B9285B9-3CFE-4EDD-903D-5BB1D4B5F43E}" destId="{A0BF309F-BE5E-4A1F-8CC6-FA188315041C}" srcOrd="17" destOrd="0" presId="urn:microsoft.com/office/officeart/2005/8/layout/target1"/>
    <dgm:cxn modelId="{ED203D06-D3F0-46C3-9F0B-D39EFC36AEE4}" type="presParOf" srcId="{0B9285B9-3CFE-4EDD-903D-5BB1D4B5F43E}" destId="{2C823C15-1D2C-4E56-878B-DA6B000C204C}" srcOrd="18" destOrd="0" presId="urn:microsoft.com/office/officeart/2005/8/layout/target1"/>
    <dgm:cxn modelId="{3134B13E-00FE-4E03-902F-C134A43D8DF5}" type="presParOf" srcId="{0B9285B9-3CFE-4EDD-903D-5BB1D4B5F43E}" destId="{9B10BD63-D1DA-416F-9BFE-6B82FC0A7DA2}" srcOrd="19"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0B6BD1-F53E-44E6-9FE0-14E5A45320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9E11F52-999C-40B1-873B-E7BB9B54696F}">
      <dgm:prSet custT="1"/>
      <dgm:spPr/>
      <dgm:t>
        <a:bodyPr/>
        <a:lstStyle/>
        <a:p>
          <a:pPr rtl="0"/>
          <a:r>
            <a:rPr lang="en-US" sz="1800" dirty="0"/>
            <a:t>People that use computers have different skill levels, thus have different perceptions on information security </a:t>
          </a:r>
        </a:p>
      </dgm:t>
    </dgm:pt>
    <dgm:pt modelId="{B181E13D-3692-4151-AC8F-48AA7AAD446F}" type="parTrans" cxnId="{E8E0B746-E911-49A2-AA0C-4B7A1DE19A63}">
      <dgm:prSet/>
      <dgm:spPr/>
      <dgm:t>
        <a:bodyPr/>
        <a:lstStyle/>
        <a:p>
          <a:endParaRPr lang="en-US" sz="1600"/>
        </a:p>
      </dgm:t>
    </dgm:pt>
    <dgm:pt modelId="{7AECF020-F871-400E-BEB3-4F23037CCDC7}" type="sibTrans" cxnId="{E8E0B746-E911-49A2-AA0C-4B7A1DE19A63}">
      <dgm:prSet/>
      <dgm:spPr/>
      <dgm:t>
        <a:bodyPr/>
        <a:lstStyle/>
        <a:p>
          <a:endParaRPr lang="en-US" sz="1600"/>
        </a:p>
      </dgm:t>
    </dgm:pt>
    <dgm:pt modelId="{85CB39F6-C321-4F25-A05C-166F0D5DEC0F}">
      <dgm:prSet custT="1"/>
      <dgm:spPr/>
      <dgm:t>
        <a:bodyPr/>
        <a:lstStyle/>
        <a:p>
          <a:pPr rtl="0"/>
          <a:r>
            <a:rPr lang="en-US" sz="1800" dirty="0"/>
            <a:t>Social engineering can occur at any time within any organization</a:t>
          </a:r>
        </a:p>
      </dgm:t>
    </dgm:pt>
    <dgm:pt modelId="{F50F09AB-0909-4913-BC00-868EF934EF2E}" type="parTrans" cxnId="{F5C031D1-CD29-4411-8F12-19F15858ACFF}">
      <dgm:prSet/>
      <dgm:spPr/>
      <dgm:t>
        <a:bodyPr/>
        <a:lstStyle/>
        <a:p>
          <a:endParaRPr lang="en-US" sz="1600"/>
        </a:p>
      </dgm:t>
    </dgm:pt>
    <dgm:pt modelId="{277F5BF8-62A9-4F0A-8EF0-5A89CC6E956A}" type="sibTrans" cxnId="{F5C031D1-CD29-4411-8F12-19F15858ACFF}">
      <dgm:prSet/>
      <dgm:spPr/>
      <dgm:t>
        <a:bodyPr/>
        <a:lstStyle/>
        <a:p>
          <a:endParaRPr lang="en-US" sz="1600"/>
        </a:p>
      </dgm:t>
    </dgm:pt>
    <dgm:pt modelId="{7702B25C-36BC-41D4-B5FE-3769357F6D0F}">
      <dgm:prSet custT="1"/>
      <dgm:spPr/>
      <dgm:t>
        <a:bodyPr/>
        <a:lstStyle/>
        <a:p>
          <a:pPr rtl="0"/>
          <a:r>
            <a:rPr lang="en-US" sz="1800" dirty="0"/>
            <a:t>Human mistakes often occur and can lead to security breaches</a:t>
          </a:r>
        </a:p>
      </dgm:t>
    </dgm:pt>
    <dgm:pt modelId="{3472CF6D-0118-492D-97D0-FD66F3AB6620}" type="parTrans" cxnId="{CF6E6BB3-AE2E-436C-A04E-1219AA63B203}">
      <dgm:prSet/>
      <dgm:spPr/>
      <dgm:t>
        <a:bodyPr/>
        <a:lstStyle/>
        <a:p>
          <a:endParaRPr lang="en-US" sz="1600"/>
        </a:p>
      </dgm:t>
    </dgm:pt>
    <dgm:pt modelId="{63A98546-555C-4E8C-863B-6D0E899ADD29}" type="sibTrans" cxnId="{CF6E6BB3-AE2E-436C-A04E-1219AA63B203}">
      <dgm:prSet/>
      <dgm:spPr/>
      <dgm:t>
        <a:bodyPr/>
        <a:lstStyle/>
        <a:p>
          <a:endParaRPr lang="en-US" sz="1600"/>
        </a:p>
      </dgm:t>
    </dgm:pt>
    <dgm:pt modelId="{F2443BD6-9207-4E25-9B94-71101BE3C468}">
      <dgm:prSet custT="1"/>
      <dgm:spPr/>
      <dgm:t>
        <a:bodyPr/>
        <a:lstStyle/>
        <a:p>
          <a:pPr rtl="0"/>
          <a:r>
            <a:rPr lang="en-US" sz="1800" dirty="0"/>
            <a:t>One of the most significant threats come from within an organization from an “Insider”</a:t>
          </a:r>
        </a:p>
      </dgm:t>
    </dgm:pt>
    <dgm:pt modelId="{903D1C80-DF92-4708-940D-A15FC764B58C}" type="parTrans" cxnId="{EE24D85D-0BB5-4B21-8ED3-3A43DFF1DCE8}">
      <dgm:prSet/>
      <dgm:spPr/>
      <dgm:t>
        <a:bodyPr/>
        <a:lstStyle/>
        <a:p>
          <a:endParaRPr lang="en-US" sz="1600"/>
        </a:p>
      </dgm:t>
    </dgm:pt>
    <dgm:pt modelId="{88A84B2F-FCEB-4C15-84A5-457921CB062C}" type="sibTrans" cxnId="{EE24D85D-0BB5-4B21-8ED3-3A43DFF1DCE8}">
      <dgm:prSet/>
      <dgm:spPr/>
      <dgm:t>
        <a:bodyPr/>
        <a:lstStyle/>
        <a:p>
          <a:endParaRPr lang="en-US" sz="1600"/>
        </a:p>
      </dgm:t>
    </dgm:pt>
    <dgm:pt modelId="{A505278C-D9F8-4E33-B2F7-38583BF2E3F4}">
      <dgm:prSet custT="1"/>
      <dgm:spPr/>
      <dgm:t>
        <a:bodyPr/>
        <a:lstStyle/>
        <a:p>
          <a:pPr rtl="0"/>
          <a:r>
            <a:rPr lang="en-US" sz="1800" dirty="0"/>
            <a:t>Applications have weaknesses that are not known and these weaknesses can be exploited by users either knowingly or unknowingly</a:t>
          </a:r>
        </a:p>
      </dgm:t>
    </dgm:pt>
    <dgm:pt modelId="{52AE2A20-5B44-4DF8-99D6-5EC64DD6035E}" type="parTrans" cxnId="{2F5A4D75-05A7-4D1E-9C50-2C0CCA853C1F}">
      <dgm:prSet/>
      <dgm:spPr/>
      <dgm:t>
        <a:bodyPr/>
        <a:lstStyle/>
        <a:p>
          <a:endParaRPr lang="en-US" sz="1600"/>
        </a:p>
      </dgm:t>
    </dgm:pt>
    <dgm:pt modelId="{C57B8389-73D1-445A-B10F-E29AA88BEFB1}" type="sibTrans" cxnId="{2F5A4D75-05A7-4D1E-9C50-2C0CCA853C1F}">
      <dgm:prSet/>
      <dgm:spPr/>
      <dgm:t>
        <a:bodyPr/>
        <a:lstStyle/>
        <a:p>
          <a:endParaRPr lang="en-US" sz="1600"/>
        </a:p>
      </dgm:t>
    </dgm:pt>
    <dgm:pt modelId="{D0EB3B3B-0EA1-45F4-B041-384F22D8677B}">
      <dgm:prSet custT="1"/>
      <dgm:spPr/>
      <dgm:t>
        <a:bodyPr/>
        <a:lstStyle/>
        <a:p>
          <a:pPr rtl="0"/>
          <a:r>
            <a:rPr lang="en-US" sz="1800" dirty="0"/>
            <a:t>Security awareness training can remove this weakest link in the security chain</a:t>
          </a:r>
        </a:p>
      </dgm:t>
    </dgm:pt>
    <dgm:pt modelId="{5F9679B4-ECD3-4652-9242-E06612CD4620}" type="parTrans" cxnId="{F9146576-3770-46EC-85D7-F24ADAD5E7E8}">
      <dgm:prSet/>
      <dgm:spPr/>
      <dgm:t>
        <a:bodyPr/>
        <a:lstStyle/>
        <a:p>
          <a:endParaRPr lang="en-US" sz="1600"/>
        </a:p>
      </dgm:t>
    </dgm:pt>
    <dgm:pt modelId="{5D9D3C90-649A-4EB8-9C38-2203E85D102F}" type="sibTrans" cxnId="{F9146576-3770-46EC-85D7-F24ADAD5E7E8}">
      <dgm:prSet/>
      <dgm:spPr/>
      <dgm:t>
        <a:bodyPr/>
        <a:lstStyle/>
        <a:p>
          <a:endParaRPr lang="en-US" sz="1600"/>
        </a:p>
      </dgm:t>
    </dgm:pt>
    <dgm:pt modelId="{BB72B68B-C74A-493B-BD12-C9F5BE8A8DBF}" type="pres">
      <dgm:prSet presAssocID="{3F0B6BD1-F53E-44E6-9FE0-14E5A45320E0}" presName="linear" presStyleCnt="0">
        <dgm:presLayoutVars>
          <dgm:animLvl val="lvl"/>
          <dgm:resizeHandles val="exact"/>
        </dgm:presLayoutVars>
      </dgm:prSet>
      <dgm:spPr/>
    </dgm:pt>
    <dgm:pt modelId="{640817E2-A8EB-4743-8173-4010FBCB0CA7}" type="pres">
      <dgm:prSet presAssocID="{39E11F52-999C-40B1-873B-E7BB9B54696F}" presName="parentText" presStyleLbl="node1" presStyleIdx="0" presStyleCnt="6">
        <dgm:presLayoutVars>
          <dgm:chMax val="0"/>
          <dgm:bulletEnabled val="1"/>
        </dgm:presLayoutVars>
      </dgm:prSet>
      <dgm:spPr/>
    </dgm:pt>
    <dgm:pt modelId="{829C46D7-3B0C-4040-A3CF-1328090A07B7}" type="pres">
      <dgm:prSet presAssocID="{7AECF020-F871-400E-BEB3-4F23037CCDC7}" presName="spacer" presStyleCnt="0"/>
      <dgm:spPr/>
    </dgm:pt>
    <dgm:pt modelId="{98D20A38-CAEC-4CD5-9C63-0E7057891A62}" type="pres">
      <dgm:prSet presAssocID="{85CB39F6-C321-4F25-A05C-166F0D5DEC0F}" presName="parentText" presStyleLbl="node1" presStyleIdx="1" presStyleCnt="6">
        <dgm:presLayoutVars>
          <dgm:chMax val="0"/>
          <dgm:bulletEnabled val="1"/>
        </dgm:presLayoutVars>
      </dgm:prSet>
      <dgm:spPr/>
    </dgm:pt>
    <dgm:pt modelId="{85E40084-DE6D-479C-9592-A4AD1218DB68}" type="pres">
      <dgm:prSet presAssocID="{277F5BF8-62A9-4F0A-8EF0-5A89CC6E956A}" presName="spacer" presStyleCnt="0"/>
      <dgm:spPr/>
    </dgm:pt>
    <dgm:pt modelId="{80771360-DAB6-412E-A490-2792CBFA2B62}" type="pres">
      <dgm:prSet presAssocID="{7702B25C-36BC-41D4-B5FE-3769357F6D0F}" presName="parentText" presStyleLbl="node1" presStyleIdx="2" presStyleCnt="6">
        <dgm:presLayoutVars>
          <dgm:chMax val="0"/>
          <dgm:bulletEnabled val="1"/>
        </dgm:presLayoutVars>
      </dgm:prSet>
      <dgm:spPr/>
    </dgm:pt>
    <dgm:pt modelId="{20DB24E8-7C93-4959-BDB9-D631BD03F4C0}" type="pres">
      <dgm:prSet presAssocID="{63A98546-555C-4E8C-863B-6D0E899ADD29}" presName="spacer" presStyleCnt="0"/>
      <dgm:spPr/>
    </dgm:pt>
    <dgm:pt modelId="{04123A03-5DA1-4307-A284-FCFD232461C4}" type="pres">
      <dgm:prSet presAssocID="{F2443BD6-9207-4E25-9B94-71101BE3C468}" presName="parentText" presStyleLbl="node1" presStyleIdx="3" presStyleCnt="6">
        <dgm:presLayoutVars>
          <dgm:chMax val="0"/>
          <dgm:bulletEnabled val="1"/>
        </dgm:presLayoutVars>
      </dgm:prSet>
      <dgm:spPr/>
    </dgm:pt>
    <dgm:pt modelId="{124CB00E-70AA-4187-A49A-4EFC13983E95}" type="pres">
      <dgm:prSet presAssocID="{88A84B2F-FCEB-4C15-84A5-457921CB062C}" presName="spacer" presStyleCnt="0"/>
      <dgm:spPr/>
    </dgm:pt>
    <dgm:pt modelId="{54EBA309-B4C2-4C1D-A5DD-CE479885C87C}" type="pres">
      <dgm:prSet presAssocID="{A505278C-D9F8-4E33-B2F7-38583BF2E3F4}" presName="parentText" presStyleLbl="node1" presStyleIdx="4" presStyleCnt="6">
        <dgm:presLayoutVars>
          <dgm:chMax val="0"/>
          <dgm:bulletEnabled val="1"/>
        </dgm:presLayoutVars>
      </dgm:prSet>
      <dgm:spPr/>
    </dgm:pt>
    <dgm:pt modelId="{FA95CEBA-374B-4C88-AF0B-783DAC9585AC}" type="pres">
      <dgm:prSet presAssocID="{C57B8389-73D1-445A-B10F-E29AA88BEFB1}" presName="spacer" presStyleCnt="0"/>
      <dgm:spPr/>
    </dgm:pt>
    <dgm:pt modelId="{99C7D7B2-A333-46DF-9DB7-F6569DC0F1D9}" type="pres">
      <dgm:prSet presAssocID="{D0EB3B3B-0EA1-45F4-B041-384F22D8677B}" presName="parentText" presStyleLbl="node1" presStyleIdx="5" presStyleCnt="6">
        <dgm:presLayoutVars>
          <dgm:chMax val="0"/>
          <dgm:bulletEnabled val="1"/>
        </dgm:presLayoutVars>
      </dgm:prSet>
      <dgm:spPr/>
    </dgm:pt>
  </dgm:ptLst>
  <dgm:cxnLst>
    <dgm:cxn modelId="{D132B800-5A91-4D17-9127-27752335D38C}" type="presOf" srcId="{A505278C-D9F8-4E33-B2F7-38583BF2E3F4}" destId="{54EBA309-B4C2-4C1D-A5DD-CE479885C87C}" srcOrd="0" destOrd="0" presId="urn:microsoft.com/office/officeart/2005/8/layout/vList2"/>
    <dgm:cxn modelId="{A3FD9413-9CA5-49DD-8289-D91452347280}" type="presOf" srcId="{7702B25C-36BC-41D4-B5FE-3769357F6D0F}" destId="{80771360-DAB6-412E-A490-2792CBFA2B62}" srcOrd="0" destOrd="0" presId="urn:microsoft.com/office/officeart/2005/8/layout/vList2"/>
    <dgm:cxn modelId="{EE24D85D-0BB5-4B21-8ED3-3A43DFF1DCE8}" srcId="{3F0B6BD1-F53E-44E6-9FE0-14E5A45320E0}" destId="{F2443BD6-9207-4E25-9B94-71101BE3C468}" srcOrd="3" destOrd="0" parTransId="{903D1C80-DF92-4708-940D-A15FC764B58C}" sibTransId="{88A84B2F-FCEB-4C15-84A5-457921CB062C}"/>
    <dgm:cxn modelId="{E8E0B746-E911-49A2-AA0C-4B7A1DE19A63}" srcId="{3F0B6BD1-F53E-44E6-9FE0-14E5A45320E0}" destId="{39E11F52-999C-40B1-873B-E7BB9B54696F}" srcOrd="0" destOrd="0" parTransId="{B181E13D-3692-4151-AC8F-48AA7AAD446F}" sibTransId="{7AECF020-F871-400E-BEB3-4F23037CCDC7}"/>
    <dgm:cxn modelId="{2F5A4D75-05A7-4D1E-9C50-2C0CCA853C1F}" srcId="{3F0B6BD1-F53E-44E6-9FE0-14E5A45320E0}" destId="{A505278C-D9F8-4E33-B2F7-38583BF2E3F4}" srcOrd="4" destOrd="0" parTransId="{52AE2A20-5B44-4DF8-99D6-5EC64DD6035E}" sibTransId="{C57B8389-73D1-445A-B10F-E29AA88BEFB1}"/>
    <dgm:cxn modelId="{F9146576-3770-46EC-85D7-F24ADAD5E7E8}" srcId="{3F0B6BD1-F53E-44E6-9FE0-14E5A45320E0}" destId="{D0EB3B3B-0EA1-45F4-B041-384F22D8677B}" srcOrd="5" destOrd="0" parTransId="{5F9679B4-ECD3-4652-9242-E06612CD4620}" sibTransId="{5D9D3C90-649A-4EB8-9C38-2203E85D102F}"/>
    <dgm:cxn modelId="{0B090991-E44D-4127-8FCC-93DBC5FF96AA}" type="presOf" srcId="{3F0B6BD1-F53E-44E6-9FE0-14E5A45320E0}" destId="{BB72B68B-C74A-493B-BD12-C9F5BE8A8DBF}" srcOrd="0" destOrd="0" presId="urn:microsoft.com/office/officeart/2005/8/layout/vList2"/>
    <dgm:cxn modelId="{CF6E6BB3-AE2E-436C-A04E-1219AA63B203}" srcId="{3F0B6BD1-F53E-44E6-9FE0-14E5A45320E0}" destId="{7702B25C-36BC-41D4-B5FE-3769357F6D0F}" srcOrd="2" destOrd="0" parTransId="{3472CF6D-0118-492D-97D0-FD66F3AB6620}" sibTransId="{63A98546-555C-4E8C-863B-6D0E899ADD29}"/>
    <dgm:cxn modelId="{588573BA-F5A3-4ACE-9FF7-E189E8041FFC}" type="presOf" srcId="{D0EB3B3B-0EA1-45F4-B041-384F22D8677B}" destId="{99C7D7B2-A333-46DF-9DB7-F6569DC0F1D9}" srcOrd="0" destOrd="0" presId="urn:microsoft.com/office/officeart/2005/8/layout/vList2"/>
    <dgm:cxn modelId="{4C5EDCC4-AD84-4BD0-93CE-D182BA6303BD}" type="presOf" srcId="{F2443BD6-9207-4E25-9B94-71101BE3C468}" destId="{04123A03-5DA1-4307-A284-FCFD232461C4}" srcOrd="0" destOrd="0" presId="urn:microsoft.com/office/officeart/2005/8/layout/vList2"/>
    <dgm:cxn modelId="{F5C031D1-CD29-4411-8F12-19F15858ACFF}" srcId="{3F0B6BD1-F53E-44E6-9FE0-14E5A45320E0}" destId="{85CB39F6-C321-4F25-A05C-166F0D5DEC0F}" srcOrd="1" destOrd="0" parTransId="{F50F09AB-0909-4913-BC00-868EF934EF2E}" sibTransId="{277F5BF8-62A9-4F0A-8EF0-5A89CC6E956A}"/>
    <dgm:cxn modelId="{A37D0FEB-B55E-46B9-B3AA-56E2E080C63C}" type="presOf" srcId="{85CB39F6-C321-4F25-A05C-166F0D5DEC0F}" destId="{98D20A38-CAEC-4CD5-9C63-0E7057891A62}" srcOrd="0" destOrd="0" presId="urn:microsoft.com/office/officeart/2005/8/layout/vList2"/>
    <dgm:cxn modelId="{9643DBF4-0B84-442C-B5FD-4B16C8A9469A}" type="presOf" srcId="{39E11F52-999C-40B1-873B-E7BB9B54696F}" destId="{640817E2-A8EB-4743-8173-4010FBCB0CA7}" srcOrd="0" destOrd="0" presId="urn:microsoft.com/office/officeart/2005/8/layout/vList2"/>
    <dgm:cxn modelId="{18487993-4F9D-4E72-A9A8-1D754B7060CE}" type="presParOf" srcId="{BB72B68B-C74A-493B-BD12-C9F5BE8A8DBF}" destId="{640817E2-A8EB-4743-8173-4010FBCB0CA7}" srcOrd="0" destOrd="0" presId="urn:microsoft.com/office/officeart/2005/8/layout/vList2"/>
    <dgm:cxn modelId="{2D2F7532-27E3-4ECE-B1C1-76E69DEB2646}" type="presParOf" srcId="{BB72B68B-C74A-493B-BD12-C9F5BE8A8DBF}" destId="{829C46D7-3B0C-4040-A3CF-1328090A07B7}" srcOrd="1" destOrd="0" presId="urn:microsoft.com/office/officeart/2005/8/layout/vList2"/>
    <dgm:cxn modelId="{BEC71B75-822D-4737-8A98-AFECC433BBF2}" type="presParOf" srcId="{BB72B68B-C74A-493B-BD12-C9F5BE8A8DBF}" destId="{98D20A38-CAEC-4CD5-9C63-0E7057891A62}" srcOrd="2" destOrd="0" presId="urn:microsoft.com/office/officeart/2005/8/layout/vList2"/>
    <dgm:cxn modelId="{17146237-11DE-42E2-84CC-B2E3E0DDAFAC}" type="presParOf" srcId="{BB72B68B-C74A-493B-BD12-C9F5BE8A8DBF}" destId="{85E40084-DE6D-479C-9592-A4AD1218DB68}" srcOrd="3" destOrd="0" presId="urn:microsoft.com/office/officeart/2005/8/layout/vList2"/>
    <dgm:cxn modelId="{4A56847E-4BB6-4DD8-B7D5-346A95035AB6}" type="presParOf" srcId="{BB72B68B-C74A-493B-BD12-C9F5BE8A8DBF}" destId="{80771360-DAB6-412E-A490-2792CBFA2B62}" srcOrd="4" destOrd="0" presId="urn:microsoft.com/office/officeart/2005/8/layout/vList2"/>
    <dgm:cxn modelId="{529EACCE-C800-48D4-B828-60BE38790577}" type="presParOf" srcId="{BB72B68B-C74A-493B-BD12-C9F5BE8A8DBF}" destId="{20DB24E8-7C93-4959-BDB9-D631BD03F4C0}" srcOrd="5" destOrd="0" presId="urn:microsoft.com/office/officeart/2005/8/layout/vList2"/>
    <dgm:cxn modelId="{93BB38A9-71F5-44C9-8E32-0AC3D10A08C0}" type="presParOf" srcId="{BB72B68B-C74A-493B-BD12-C9F5BE8A8DBF}" destId="{04123A03-5DA1-4307-A284-FCFD232461C4}" srcOrd="6" destOrd="0" presId="urn:microsoft.com/office/officeart/2005/8/layout/vList2"/>
    <dgm:cxn modelId="{8C147AB3-1704-4307-97E4-5E2163538340}" type="presParOf" srcId="{BB72B68B-C74A-493B-BD12-C9F5BE8A8DBF}" destId="{124CB00E-70AA-4187-A49A-4EFC13983E95}" srcOrd="7" destOrd="0" presId="urn:microsoft.com/office/officeart/2005/8/layout/vList2"/>
    <dgm:cxn modelId="{2DF5DC73-3060-47DB-A59D-EBD6319482AC}" type="presParOf" srcId="{BB72B68B-C74A-493B-BD12-C9F5BE8A8DBF}" destId="{54EBA309-B4C2-4C1D-A5DD-CE479885C87C}" srcOrd="8" destOrd="0" presId="urn:microsoft.com/office/officeart/2005/8/layout/vList2"/>
    <dgm:cxn modelId="{AA2B1CD5-B0D8-469A-A119-05D1774EA260}" type="presParOf" srcId="{BB72B68B-C74A-493B-BD12-C9F5BE8A8DBF}" destId="{FA95CEBA-374B-4C88-AF0B-783DAC9585AC}" srcOrd="9" destOrd="0" presId="urn:microsoft.com/office/officeart/2005/8/layout/vList2"/>
    <dgm:cxn modelId="{84221793-0F1C-44A9-8C96-1970698C998C}" type="presParOf" srcId="{BB72B68B-C74A-493B-BD12-C9F5BE8A8DBF}" destId="{99C7D7B2-A333-46DF-9DB7-F6569DC0F1D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0B6BD1-F53E-44E6-9FE0-14E5A45320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9E11F52-999C-40B1-873B-E7BB9B54696F}">
      <dgm:prSet custT="1"/>
      <dgm:spPr/>
      <dgm:t>
        <a:bodyPr/>
        <a:lstStyle/>
        <a:p>
          <a:pPr rtl="0"/>
          <a:r>
            <a:rPr lang="en-US" sz="2400" dirty="0"/>
            <a:t>Users don’t appreciate the business reasons behind the policies </a:t>
          </a:r>
        </a:p>
      </dgm:t>
    </dgm:pt>
    <dgm:pt modelId="{B181E13D-3692-4151-AC8F-48AA7AAD446F}" type="parTrans" cxnId="{E8E0B746-E911-49A2-AA0C-4B7A1DE19A63}">
      <dgm:prSet/>
      <dgm:spPr/>
      <dgm:t>
        <a:bodyPr/>
        <a:lstStyle/>
        <a:p>
          <a:endParaRPr lang="en-US" sz="2400"/>
        </a:p>
      </dgm:t>
    </dgm:pt>
    <dgm:pt modelId="{7AECF020-F871-400E-BEB3-4F23037CCDC7}" type="sibTrans" cxnId="{E8E0B746-E911-49A2-AA0C-4B7A1DE19A63}">
      <dgm:prSet/>
      <dgm:spPr/>
      <dgm:t>
        <a:bodyPr/>
        <a:lstStyle/>
        <a:p>
          <a:endParaRPr lang="en-US" sz="2400"/>
        </a:p>
      </dgm:t>
    </dgm:pt>
    <dgm:pt modelId="{85CB39F6-C321-4F25-A05C-166F0D5DEC0F}">
      <dgm:prSet custT="1"/>
      <dgm:spPr/>
      <dgm:t>
        <a:bodyPr/>
        <a:lstStyle/>
        <a:p>
          <a:pPr rtl="0"/>
          <a:r>
            <a:rPr lang="en-US" sz="2400" dirty="0"/>
            <a:t>Users don’t buy into the policies</a:t>
          </a:r>
        </a:p>
      </dgm:t>
    </dgm:pt>
    <dgm:pt modelId="{F50F09AB-0909-4913-BC00-868EF934EF2E}" type="parTrans" cxnId="{F5C031D1-CD29-4411-8F12-19F15858ACFF}">
      <dgm:prSet/>
      <dgm:spPr/>
      <dgm:t>
        <a:bodyPr/>
        <a:lstStyle/>
        <a:p>
          <a:endParaRPr lang="en-US" sz="2400"/>
        </a:p>
      </dgm:t>
    </dgm:pt>
    <dgm:pt modelId="{277F5BF8-62A9-4F0A-8EF0-5A89CC6E956A}" type="sibTrans" cxnId="{F5C031D1-CD29-4411-8F12-19F15858ACFF}">
      <dgm:prSet/>
      <dgm:spPr/>
      <dgm:t>
        <a:bodyPr/>
        <a:lstStyle/>
        <a:p>
          <a:endParaRPr lang="en-US" sz="2400"/>
        </a:p>
      </dgm:t>
    </dgm:pt>
    <dgm:pt modelId="{7702B25C-36BC-41D4-B5FE-3769357F6D0F}">
      <dgm:prSet custT="1"/>
      <dgm:spPr/>
      <dgm:t>
        <a:bodyPr/>
        <a:lstStyle/>
        <a:p>
          <a:pPr rtl="0"/>
          <a:r>
            <a:rPr lang="en-US" sz="2400" dirty="0"/>
            <a:t>Users know the policies won’t be enforced</a:t>
          </a:r>
        </a:p>
      </dgm:t>
    </dgm:pt>
    <dgm:pt modelId="{3472CF6D-0118-492D-97D0-FD66F3AB6620}" type="parTrans" cxnId="{CF6E6BB3-AE2E-436C-A04E-1219AA63B203}">
      <dgm:prSet/>
      <dgm:spPr/>
      <dgm:t>
        <a:bodyPr/>
        <a:lstStyle/>
        <a:p>
          <a:endParaRPr lang="en-US" sz="2400"/>
        </a:p>
      </dgm:t>
    </dgm:pt>
    <dgm:pt modelId="{63A98546-555C-4E8C-863B-6D0E899ADD29}" type="sibTrans" cxnId="{CF6E6BB3-AE2E-436C-A04E-1219AA63B203}">
      <dgm:prSet/>
      <dgm:spPr/>
      <dgm:t>
        <a:bodyPr/>
        <a:lstStyle/>
        <a:p>
          <a:endParaRPr lang="en-US" sz="2400"/>
        </a:p>
      </dgm:t>
    </dgm:pt>
    <dgm:pt modelId="{F2443BD6-9207-4E25-9B94-71101BE3C468}">
      <dgm:prSet custT="1"/>
      <dgm:spPr/>
      <dgm:t>
        <a:bodyPr/>
        <a:lstStyle/>
        <a:p>
          <a:pPr rtl="0"/>
          <a:r>
            <a:rPr lang="en-US" sz="2400" dirty="0"/>
            <a:t>Users are lazy</a:t>
          </a:r>
        </a:p>
      </dgm:t>
    </dgm:pt>
    <dgm:pt modelId="{903D1C80-DF92-4708-940D-A15FC764B58C}" type="parTrans" cxnId="{EE24D85D-0BB5-4B21-8ED3-3A43DFF1DCE8}">
      <dgm:prSet/>
      <dgm:spPr/>
      <dgm:t>
        <a:bodyPr/>
        <a:lstStyle/>
        <a:p>
          <a:endParaRPr lang="en-US" sz="2400"/>
        </a:p>
      </dgm:t>
    </dgm:pt>
    <dgm:pt modelId="{88A84B2F-FCEB-4C15-84A5-457921CB062C}" type="sibTrans" cxnId="{EE24D85D-0BB5-4B21-8ED3-3A43DFF1DCE8}">
      <dgm:prSet/>
      <dgm:spPr/>
      <dgm:t>
        <a:bodyPr/>
        <a:lstStyle/>
        <a:p>
          <a:endParaRPr lang="en-US" sz="2400"/>
        </a:p>
      </dgm:t>
    </dgm:pt>
    <dgm:pt modelId="{A505278C-D9F8-4E33-B2F7-38583BF2E3F4}">
      <dgm:prSet custT="1"/>
      <dgm:spPr/>
      <dgm:t>
        <a:bodyPr/>
        <a:lstStyle/>
        <a:p>
          <a:pPr rtl="0"/>
          <a:r>
            <a:rPr lang="en-US" sz="2400" dirty="0"/>
            <a:t>Users’ desire to violate policies outweighs their perception of the risks involved</a:t>
          </a:r>
        </a:p>
      </dgm:t>
    </dgm:pt>
    <dgm:pt modelId="{52AE2A20-5B44-4DF8-99D6-5EC64DD6035E}" type="parTrans" cxnId="{2F5A4D75-05A7-4D1E-9C50-2C0CCA853C1F}">
      <dgm:prSet/>
      <dgm:spPr/>
      <dgm:t>
        <a:bodyPr/>
        <a:lstStyle/>
        <a:p>
          <a:endParaRPr lang="en-US" sz="2400"/>
        </a:p>
      </dgm:t>
    </dgm:pt>
    <dgm:pt modelId="{C57B8389-73D1-445A-B10F-E29AA88BEFB1}" type="sibTrans" cxnId="{2F5A4D75-05A7-4D1E-9C50-2C0CCA853C1F}">
      <dgm:prSet/>
      <dgm:spPr/>
      <dgm:t>
        <a:bodyPr/>
        <a:lstStyle/>
        <a:p>
          <a:endParaRPr lang="en-US" sz="2400"/>
        </a:p>
      </dgm:t>
    </dgm:pt>
    <dgm:pt modelId="{BB72B68B-C74A-493B-BD12-C9F5BE8A8DBF}" type="pres">
      <dgm:prSet presAssocID="{3F0B6BD1-F53E-44E6-9FE0-14E5A45320E0}" presName="linear" presStyleCnt="0">
        <dgm:presLayoutVars>
          <dgm:animLvl val="lvl"/>
          <dgm:resizeHandles val="exact"/>
        </dgm:presLayoutVars>
      </dgm:prSet>
      <dgm:spPr/>
    </dgm:pt>
    <dgm:pt modelId="{640817E2-A8EB-4743-8173-4010FBCB0CA7}" type="pres">
      <dgm:prSet presAssocID="{39E11F52-999C-40B1-873B-E7BB9B54696F}" presName="parentText" presStyleLbl="node1" presStyleIdx="0" presStyleCnt="5">
        <dgm:presLayoutVars>
          <dgm:chMax val="0"/>
          <dgm:bulletEnabled val="1"/>
        </dgm:presLayoutVars>
      </dgm:prSet>
      <dgm:spPr/>
    </dgm:pt>
    <dgm:pt modelId="{829C46D7-3B0C-4040-A3CF-1328090A07B7}" type="pres">
      <dgm:prSet presAssocID="{7AECF020-F871-400E-BEB3-4F23037CCDC7}" presName="spacer" presStyleCnt="0"/>
      <dgm:spPr/>
    </dgm:pt>
    <dgm:pt modelId="{98D20A38-CAEC-4CD5-9C63-0E7057891A62}" type="pres">
      <dgm:prSet presAssocID="{85CB39F6-C321-4F25-A05C-166F0D5DEC0F}" presName="parentText" presStyleLbl="node1" presStyleIdx="1" presStyleCnt="5">
        <dgm:presLayoutVars>
          <dgm:chMax val="0"/>
          <dgm:bulletEnabled val="1"/>
        </dgm:presLayoutVars>
      </dgm:prSet>
      <dgm:spPr/>
    </dgm:pt>
    <dgm:pt modelId="{85E40084-DE6D-479C-9592-A4AD1218DB68}" type="pres">
      <dgm:prSet presAssocID="{277F5BF8-62A9-4F0A-8EF0-5A89CC6E956A}" presName="spacer" presStyleCnt="0"/>
      <dgm:spPr/>
    </dgm:pt>
    <dgm:pt modelId="{80771360-DAB6-412E-A490-2792CBFA2B62}" type="pres">
      <dgm:prSet presAssocID="{7702B25C-36BC-41D4-B5FE-3769357F6D0F}" presName="parentText" presStyleLbl="node1" presStyleIdx="2" presStyleCnt="5">
        <dgm:presLayoutVars>
          <dgm:chMax val="0"/>
          <dgm:bulletEnabled val="1"/>
        </dgm:presLayoutVars>
      </dgm:prSet>
      <dgm:spPr/>
    </dgm:pt>
    <dgm:pt modelId="{20DB24E8-7C93-4959-BDB9-D631BD03F4C0}" type="pres">
      <dgm:prSet presAssocID="{63A98546-555C-4E8C-863B-6D0E899ADD29}" presName="spacer" presStyleCnt="0"/>
      <dgm:spPr/>
    </dgm:pt>
    <dgm:pt modelId="{04123A03-5DA1-4307-A284-FCFD232461C4}" type="pres">
      <dgm:prSet presAssocID="{F2443BD6-9207-4E25-9B94-71101BE3C468}" presName="parentText" presStyleLbl="node1" presStyleIdx="3" presStyleCnt="5">
        <dgm:presLayoutVars>
          <dgm:chMax val="0"/>
          <dgm:bulletEnabled val="1"/>
        </dgm:presLayoutVars>
      </dgm:prSet>
      <dgm:spPr/>
    </dgm:pt>
    <dgm:pt modelId="{124CB00E-70AA-4187-A49A-4EFC13983E95}" type="pres">
      <dgm:prSet presAssocID="{88A84B2F-FCEB-4C15-84A5-457921CB062C}" presName="spacer" presStyleCnt="0"/>
      <dgm:spPr/>
    </dgm:pt>
    <dgm:pt modelId="{54EBA309-B4C2-4C1D-A5DD-CE479885C87C}" type="pres">
      <dgm:prSet presAssocID="{A505278C-D9F8-4E33-B2F7-38583BF2E3F4}" presName="parentText" presStyleLbl="node1" presStyleIdx="4" presStyleCnt="5">
        <dgm:presLayoutVars>
          <dgm:chMax val="0"/>
          <dgm:bulletEnabled val="1"/>
        </dgm:presLayoutVars>
      </dgm:prSet>
      <dgm:spPr/>
    </dgm:pt>
  </dgm:ptLst>
  <dgm:cxnLst>
    <dgm:cxn modelId="{B1E1B605-64AB-4713-B889-F76BD4BB0C99}" type="presOf" srcId="{3F0B6BD1-F53E-44E6-9FE0-14E5A45320E0}" destId="{BB72B68B-C74A-493B-BD12-C9F5BE8A8DBF}" srcOrd="0" destOrd="0" presId="urn:microsoft.com/office/officeart/2005/8/layout/vList2"/>
    <dgm:cxn modelId="{7590171B-3189-4D7F-AD18-AE98362A3250}" type="presOf" srcId="{A505278C-D9F8-4E33-B2F7-38583BF2E3F4}" destId="{54EBA309-B4C2-4C1D-A5DD-CE479885C87C}" srcOrd="0" destOrd="0" presId="urn:microsoft.com/office/officeart/2005/8/layout/vList2"/>
    <dgm:cxn modelId="{6A844029-F1C7-4C4C-98F2-CA750BEE5608}" type="presOf" srcId="{F2443BD6-9207-4E25-9B94-71101BE3C468}" destId="{04123A03-5DA1-4307-A284-FCFD232461C4}" srcOrd="0" destOrd="0" presId="urn:microsoft.com/office/officeart/2005/8/layout/vList2"/>
    <dgm:cxn modelId="{34E7E332-11EF-4DD7-9416-C3C92FF6815B}" type="presOf" srcId="{7702B25C-36BC-41D4-B5FE-3769357F6D0F}" destId="{80771360-DAB6-412E-A490-2792CBFA2B62}" srcOrd="0" destOrd="0" presId="urn:microsoft.com/office/officeart/2005/8/layout/vList2"/>
    <dgm:cxn modelId="{EE24D85D-0BB5-4B21-8ED3-3A43DFF1DCE8}" srcId="{3F0B6BD1-F53E-44E6-9FE0-14E5A45320E0}" destId="{F2443BD6-9207-4E25-9B94-71101BE3C468}" srcOrd="3" destOrd="0" parTransId="{903D1C80-DF92-4708-940D-A15FC764B58C}" sibTransId="{88A84B2F-FCEB-4C15-84A5-457921CB062C}"/>
    <dgm:cxn modelId="{0FFA205F-315E-4903-9B04-414F68B31032}" type="presOf" srcId="{39E11F52-999C-40B1-873B-E7BB9B54696F}" destId="{640817E2-A8EB-4743-8173-4010FBCB0CA7}" srcOrd="0" destOrd="0" presId="urn:microsoft.com/office/officeart/2005/8/layout/vList2"/>
    <dgm:cxn modelId="{E7639643-7543-4B9A-896B-4F7ECD2DBC61}" type="presOf" srcId="{85CB39F6-C321-4F25-A05C-166F0D5DEC0F}" destId="{98D20A38-CAEC-4CD5-9C63-0E7057891A62}" srcOrd="0" destOrd="0" presId="urn:microsoft.com/office/officeart/2005/8/layout/vList2"/>
    <dgm:cxn modelId="{E8E0B746-E911-49A2-AA0C-4B7A1DE19A63}" srcId="{3F0B6BD1-F53E-44E6-9FE0-14E5A45320E0}" destId="{39E11F52-999C-40B1-873B-E7BB9B54696F}" srcOrd="0" destOrd="0" parTransId="{B181E13D-3692-4151-AC8F-48AA7AAD446F}" sibTransId="{7AECF020-F871-400E-BEB3-4F23037CCDC7}"/>
    <dgm:cxn modelId="{2F5A4D75-05A7-4D1E-9C50-2C0CCA853C1F}" srcId="{3F0B6BD1-F53E-44E6-9FE0-14E5A45320E0}" destId="{A505278C-D9F8-4E33-B2F7-38583BF2E3F4}" srcOrd="4" destOrd="0" parTransId="{52AE2A20-5B44-4DF8-99D6-5EC64DD6035E}" sibTransId="{C57B8389-73D1-445A-B10F-E29AA88BEFB1}"/>
    <dgm:cxn modelId="{CF6E6BB3-AE2E-436C-A04E-1219AA63B203}" srcId="{3F0B6BD1-F53E-44E6-9FE0-14E5A45320E0}" destId="{7702B25C-36BC-41D4-B5FE-3769357F6D0F}" srcOrd="2" destOrd="0" parTransId="{3472CF6D-0118-492D-97D0-FD66F3AB6620}" sibTransId="{63A98546-555C-4E8C-863B-6D0E899ADD29}"/>
    <dgm:cxn modelId="{F5C031D1-CD29-4411-8F12-19F15858ACFF}" srcId="{3F0B6BD1-F53E-44E6-9FE0-14E5A45320E0}" destId="{85CB39F6-C321-4F25-A05C-166F0D5DEC0F}" srcOrd="1" destOrd="0" parTransId="{F50F09AB-0909-4913-BC00-868EF934EF2E}" sibTransId="{277F5BF8-62A9-4F0A-8EF0-5A89CC6E956A}"/>
    <dgm:cxn modelId="{62D7C963-7BC2-4474-8F05-C90141EC7DDC}" type="presParOf" srcId="{BB72B68B-C74A-493B-BD12-C9F5BE8A8DBF}" destId="{640817E2-A8EB-4743-8173-4010FBCB0CA7}" srcOrd="0" destOrd="0" presId="urn:microsoft.com/office/officeart/2005/8/layout/vList2"/>
    <dgm:cxn modelId="{F4719439-7F76-43F0-BF37-B10BD38752C7}" type="presParOf" srcId="{BB72B68B-C74A-493B-BD12-C9F5BE8A8DBF}" destId="{829C46D7-3B0C-4040-A3CF-1328090A07B7}" srcOrd="1" destOrd="0" presId="urn:microsoft.com/office/officeart/2005/8/layout/vList2"/>
    <dgm:cxn modelId="{45BEFBA6-888D-4B5C-BC51-D469BB9357E2}" type="presParOf" srcId="{BB72B68B-C74A-493B-BD12-C9F5BE8A8DBF}" destId="{98D20A38-CAEC-4CD5-9C63-0E7057891A62}" srcOrd="2" destOrd="0" presId="urn:microsoft.com/office/officeart/2005/8/layout/vList2"/>
    <dgm:cxn modelId="{7D3FD5E4-5F38-4413-83EE-5787E5A2DE7A}" type="presParOf" srcId="{BB72B68B-C74A-493B-BD12-C9F5BE8A8DBF}" destId="{85E40084-DE6D-479C-9592-A4AD1218DB68}" srcOrd="3" destOrd="0" presId="urn:microsoft.com/office/officeart/2005/8/layout/vList2"/>
    <dgm:cxn modelId="{020457A3-F608-41A7-B9D1-540BA3E06A66}" type="presParOf" srcId="{BB72B68B-C74A-493B-BD12-C9F5BE8A8DBF}" destId="{80771360-DAB6-412E-A490-2792CBFA2B62}" srcOrd="4" destOrd="0" presId="urn:microsoft.com/office/officeart/2005/8/layout/vList2"/>
    <dgm:cxn modelId="{D56B48B7-9127-4098-8B2E-EABAFF20193B}" type="presParOf" srcId="{BB72B68B-C74A-493B-BD12-C9F5BE8A8DBF}" destId="{20DB24E8-7C93-4959-BDB9-D631BD03F4C0}" srcOrd="5" destOrd="0" presId="urn:microsoft.com/office/officeart/2005/8/layout/vList2"/>
    <dgm:cxn modelId="{B6380B37-E942-4E94-B36A-1AAA06D47FEE}" type="presParOf" srcId="{BB72B68B-C74A-493B-BD12-C9F5BE8A8DBF}" destId="{04123A03-5DA1-4307-A284-FCFD232461C4}" srcOrd="6" destOrd="0" presId="urn:microsoft.com/office/officeart/2005/8/layout/vList2"/>
    <dgm:cxn modelId="{FC7B3377-BFBD-42C9-8AD5-0CB15D0F6F15}" type="presParOf" srcId="{BB72B68B-C74A-493B-BD12-C9F5BE8A8DBF}" destId="{124CB00E-70AA-4187-A49A-4EFC13983E95}" srcOrd="7" destOrd="0" presId="urn:microsoft.com/office/officeart/2005/8/layout/vList2"/>
    <dgm:cxn modelId="{6652EFF5-F490-47E5-8CFC-A22C5365B5B3}" type="presParOf" srcId="{BB72B68B-C74A-493B-BD12-C9F5BE8A8DBF}" destId="{54EBA309-B4C2-4C1D-A5DD-CE479885C87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4FCF8-496D-42E4-86CE-2F6E2824A74F}">
      <dsp:nvSpPr>
        <dsp:cNvPr id="0" name=""/>
        <dsp:cNvSpPr/>
      </dsp:nvSpPr>
      <dsp:spPr>
        <a:xfrm>
          <a:off x="1244599" y="1013772"/>
          <a:ext cx="3486150" cy="3486150"/>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EA7CDB-6655-43E0-82CB-8AA80679E7B8}">
      <dsp:nvSpPr>
        <dsp:cNvPr id="0" name=""/>
        <dsp:cNvSpPr/>
      </dsp:nvSpPr>
      <dsp:spPr>
        <a:xfrm>
          <a:off x="1631853" y="1401025"/>
          <a:ext cx="2711643" cy="2711643"/>
        </a:xfrm>
        <a:prstGeom prst="ellipse">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CAF46A-237B-44C1-97FB-983A5E24B189}">
      <dsp:nvSpPr>
        <dsp:cNvPr id="0" name=""/>
        <dsp:cNvSpPr/>
      </dsp:nvSpPr>
      <dsp:spPr>
        <a:xfrm>
          <a:off x="2019106" y="1788278"/>
          <a:ext cx="1937137" cy="1937137"/>
        </a:xfrm>
        <a:prstGeom prst="ellipse">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DFF89A-817B-45F2-A40A-266F37D97F89}">
      <dsp:nvSpPr>
        <dsp:cNvPr id="0" name=""/>
        <dsp:cNvSpPr/>
      </dsp:nvSpPr>
      <dsp:spPr>
        <a:xfrm>
          <a:off x="2406650" y="2175822"/>
          <a:ext cx="1162050" cy="116205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B0AA35-F99A-45FA-BDF5-CAE8E079DF6A}">
      <dsp:nvSpPr>
        <dsp:cNvPr id="0" name=""/>
        <dsp:cNvSpPr/>
      </dsp:nvSpPr>
      <dsp:spPr>
        <a:xfrm>
          <a:off x="2793903" y="2563075"/>
          <a:ext cx="387543" cy="387543"/>
        </a:xfrm>
        <a:prstGeom prst="ellipse">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B4862E-CCC4-4341-8EB4-DB34EFAF6E29}">
      <dsp:nvSpPr>
        <dsp:cNvPr id="0" name=""/>
        <dsp:cNvSpPr/>
      </dsp:nvSpPr>
      <dsp:spPr>
        <a:xfrm>
          <a:off x="5311774" y="148277"/>
          <a:ext cx="1743075" cy="615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kern="1200" dirty="0"/>
            <a:t>Employees </a:t>
          </a:r>
        </a:p>
      </dsp:txBody>
      <dsp:txXfrm>
        <a:off x="5311774" y="148277"/>
        <a:ext cx="1743075" cy="615421"/>
      </dsp:txXfrm>
    </dsp:sp>
    <dsp:sp modelId="{5B05FE8A-B066-43FB-B213-863A133AC0F2}">
      <dsp:nvSpPr>
        <dsp:cNvPr id="0" name=""/>
        <dsp:cNvSpPr/>
      </dsp:nvSpPr>
      <dsp:spPr>
        <a:xfrm>
          <a:off x="4876006" y="455988"/>
          <a:ext cx="435768" cy="0"/>
        </a:xfrm>
        <a:prstGeom prst="line">
          <a:avLst/>
        </a:prstGeom>
        <a:solidFill>
          <a:schemeClr val="accent2">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0">
          <a:scrgbClr r="0" g="0" b="0"/>
        </a:effectRef>
        <a:fontRef idx="minor"/>
      </dsp:style>
    </dsp:sp>
    <dsp:sp modelId="{13C926F6-9DAE-45E5-AE31-3BA0D3901E2A}">
      <dsp:nvSpPr>
        <dsp:cNvPr id="0" name=""/>
        <dsp:cNvSpPr/>
      </dsp:nvSpPr>
      <dsp:spPr>
        <a:xfrm rot="5400000">
          <a:off x="2779958" y="663704"/>
          <a:ext cx="2300859" cy="1885426"/>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3AF1296C-D60B-457F-A789-8984EB89A51E}">
      <dsp:nvSpPr>
        <dsp:cNvPr id="0" name=""/>
        <dsp:cNvSpPr/>
      </dsp:nvSpPr>
      <dsp:spPr>
        <a:xfrm>
          <a:off x="5311774" y="799025"/>
          <a:ext cx="1743075" cy="615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kern="1200" dirty="0"/>
            <a:t>System administrators</a:t>
          </a:r>
        </a:p>
      </dsp:txBody>
      <dsp:txXfrm>
        <a:off x="5311774" y="799025"/>
        <a:ext cx="1743075" cy="615421"/>
      </dsp:txXfrm>
    </dsp:sp>
    <dsp:sp modelId="{81E4A2D9-52E5-499D-AE9E-3D863E4DB8AA}">
      <dsp:nvSpPr>
        <dsp:cNvPr id="0" name=""/>
        <dsp:cNvSpPr/>
      </dsp:nvSpPr>
      <dsp:spPr>
        <a:xfrm>
          <a:off x="4876006" y="1106736"/>
          <a:ext cx="435768" cy="0"/>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18867E44-12B9-4DB9-AB52-B9C451CEF9C8}">
      <dsp:nvSpPr>
        <dsp:cNvPr id="0" name=""/>
        <dsp:cNvSpPr/>
      </dsp:nvSpPr>
      <dsp:spPr>
        <a:xfrm rot="5400000">
          <a:off x="3118057" y="1265007"/>
          <a:ext cx="1915755" cy="1597818"/>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3DD6C353-D408-4F6F-929D-35F0C23D58F2}">
      <dsp:nvSpPr>
        <dsp:cNvPr id="0" name=""/>
        <dsp:cNvSpPr/>
      </dsp:nvSpPr>
      <dsp:spPr>
        <a:xfrm>
          <a:off x="5311774" y="1449773"/>
          <a:ext cx="1743075" cy="615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kern="1200" dirty="0"/>
            <a:t>Security personnel</a:t>
          </a:r>
        </a:p>
      </dsp:txBody>
      <dsp:txXfrm>
        <a:off x="5311774" y="1449773"/>
        <a:ext cx="1743075" cy="615421"/>
      </dsp:txXfrm>
    </dsp:sp>
    <dsp:sp modelId="{8703E80E-8414-4DF0-ACAA-8528A499FA33}">
      <dsp:nvSpPr>
        <dsp:cNvPr id="0" name=""/>
        <dsp:cNvSpPr/>
      </dsp:nvSpPr>
      <dsp:spPr>
        <a:xfrm>
          <a:off x="4876006" y="1757484"/>
          <a:ext cx="435768" cy="0"/>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1C8D850F-F287-41B4-B518-3A2490735DC6}">
      <dsp:nvSpPr>
        <dsp:cNvPr id="0" name=""/>
        <dsp:cNvSpPr/>
      </dsp:nvSpPr>
      <dsp:spPr>
        <a:xfrm rot="5400000">
          <a:off x="3449589" y="1841733"/>
          <a:ext cx="1510665" cy="1342167"/>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CB6EF1F0-C8CD-4D9C-A50D-8842D59A4FC0}">
      <dsp:nvSpPr>
        <dsp:cNvPr id="0" name=""/>
        <dsp:cNvSpPr/>
      </dsp:nvSpPr>
      <dsp:spPr>
        <a:xfrm>
          <a:off x="5311774" y="2086576"/>
          <a:ext cx="1743075" cy="615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kern="1200" dirty="0"/>
            <a:t>Contractors</a:t>
          </a:r>
        </a:p>
      </dsp:txBody>
      <dsp:txXfrm>
        <a:off x="5311774" y="2086576"/>
        <a:ext cx="1743075" cy="615421"/>
      </dsp:txXfrm>
    </dsp:sp>
    <dsp:sp modelId="{587FBC50-BA69-4B11-9ADA-9FD867A15B9F}">
      <dsp:nvSpPr>
        <dsp:cNvPr id="0" name=""/>
        <dsp:cNvSpPr/>
      </dsp:nvSpPr>
      <dsp:spPr>
        <a:xfrm>
          <a:off x="4876006" y="2394287"/>
          <a:ext cx="435768" cy="0"/>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AA354656-52DE-45D0-9581-7BB367A6E50C}">
      <dsp:nvSpPr>
        <dsp:cNvPr id="0" name=""/>
        <dsp:cNvSpPr/>
      </dsp:nvSpPr>
      <dsp:spPr>
        <a:xfrm rot="5400000">
          <a:off x="3779612" y="2450647"/>
          <a:ext cx="1152753" cy="1040034"/>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A0BF309F-BE5E-4A1F-8CC6-FA188315041C}">
      <dsp:nvSpPr>
        <dsp:cNvPr id="0" name=""/>
        <dsp:cNvSpPr/>
      </dsp:nvSpPr>
      <dsp:spPr>
        <a:xfrm>
          <a:off x="5311774" y="2595996"/>
          <a:ext cx="1743075" cy="83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22860" rIns="22860" bIns="22860" numCol="1" spcCol="1270" anchor="ctr" anchorCtr="0">
          <a:noAutofit/>
        </a:bodyPr>
        <a:lstStyle/>
        <a:p>
          <a:pPr marL="0" lvl="0" indent="0" algn="l" defTabSz="800100" rtl="0">
            <a:lnSpc>
              <a:spcPct val="90000"/>
            </a:lnSpc>
            <a:spcBef>
              <a:spcPct val="0"/>
            </a:spcBef>
            <a:spcAft>
              <a:spcPct val="35000"/>
            </a:spcAft>
            <a:buNone/>
          </a:pPr>
          <a:r>
            <a:rPr lang="en-US" sz="1800" kern="1200" dirty="0"/>
            <a:t>Auditors or guests and general public</a:t>
          </a:r>
        </a:p>
      </dsp:txBody>
      <dsp:txXfrm>
        <a:off x="5311774" y="2595996"/>
        <a:ext cx="1743075" cy="833004"/>
      </dsp:txXfrm>
    </dsp:sp>
    <dsp:sp modelId="{2C823C15-1D2C-4E56-878B-DA6B000C204C}">
      <dsp:nvSpPr>
        <dsp:cNvPr id="0" name=""/>
        <dsp:cNvSpPr/>
      </dsp:nvSpPr>
      <dsp:spPr>
        <a:xfrm>
          <a:off x="4876006" y="3012498"/>
          <a:ext cx="435768" cy="0"/>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9B10BD63-D1DA-416F-9BFE-6B82FC0A7DA2}">
      <dsp:nvSpPr>
        <dsp:cNvPr id="0" name=""/>
        <dsp:cNvSpPr/>
      </dsp:nvSpPr>
      <dsp:spPr>
        <a:xfrm rot="5400000">
          <a:off x="4091622" y="3041549"/>
          <a:ext cx="813435" cy="755332"/>
        </a:xfrm>
        <a:prstGeom prst="line">
          <a:avLst/>
        </a:prstGeom>
        <a:solidFill>
          <a:schemeClr val="accent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817E2-A8EB-4743-8173-4010FBCB0CA7}">
      <dsp:nvSpPr>
        <dsp:cNvPr id="0" name=""/>
        <dsp:cNvSpPr/>
      </dsp:nvSpPr>
      <dsp:spPr>
        <a:xfrm>
          <a:off x="0" y="1559"/>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People that use computers have different skill levels, thus have different perceptions on information security </a:t>
          </a:r>
        </a:p>
      </dsp:txBody>
      <dsp:txXfrm>
        <a:off x="33926" y="35485"/>
        <a:ext cx="8231598" cy="627128"/>
      </dsp:txXfrm>
    </dsp:sp>
    <dsp:sp modelId="{98D20A38-CAEC-4CD5-9C63-0E7057891A62}">
      <dsp:nvSpPr>
        <dsp:cNvPr id="0" name=""/>
        <dsp:cNvSpPr/>
      </dsp:nvSpPr>
      <dsp:spPr>
        <a:xfrm>
          <a:off x="0" y="791579"/>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Social engineering can occur at any time within any organization</a:t>
          </a:r>
        </a:p>
      </dsp:txBody>
      <dsp:txXfrm>
        <a:off x="33926" y="825505"/>
        <a:ext cx="8231598" cy="627128"/>
      </dsp:txXfrm>
    </dsp:sp>
    <dsp:sp modelId="{80771360-DAB6-412E-A490-2792CBFA2B62}">
      <dsp:nvSpPr>
        <dsp:cNvPr id="0" name=""/>
        <dsp:cNvSpPr/>
      </dsp:nvSpPr>
      <dsp:spPr>
        <a:xfrm>
          <a:off x="0" y="1581599"/>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Human mistakes often occur and can lead to security breaches</a:t>
          </a:r>
        </a:p>
      </dsp:txBody>
      <dsp:txXfrm>
        <a:off x="33926" y="1615525"/>
        <a:ext cx="8231598" cy="627128"/>
      </dsp:txXfrm>
    </dsp:sp>
    <dsp:sp modelId="{04123A03-5DA1-4307-A284-FCFD232461C4}">
      <dsp:nvSpPr>
        <dsp:cNvPr id="0" name=""/>
        <dsp:cNvSpPr/>
      </dsp:nvSpPr>
      <dsp:spPr>
        <a:xfrm>
          <a:off x="0" y="2371620"/>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One of the most significant threats come from within an organization from an “Insider”</a:t>
          </a:r>
        </a:p>
      </dsp:txBody>
      <dsp:txXfrm>
        <a:off x="33926" y="2405546"/>
        <a:ext cx="8231598" cy="627128"/>
      </dsp:txXfrm>
    </dsp:sp>
    <dsp:sp modelId="{54EBA309-B4C2-4C1D-A5DD-CE479885C87C}">
      <dsp:nvSpPr>
        <dsp:cNvPr id="0" name=""/>
        <dsp:cNvSpPr/>
      </dsp:nvSpPr>
      <dsp:spPr>
        <a:xfrm>
          <a:off x="0" y="3161640"/>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Applications have weaknesses that are not known and these weaknesses can be exploited by users either knowingly or unknowingly</a:t>
          </a:r>
        </a:p>
      </dsp:txBody>
      <dsp:txXfrm>
        <a:off x="33926" y="3195566"/>
        <a:ext cx="8231598" cy="627128"/>
      </dsp:txXfrm>
    </dsp:sp>
    <dsp:sp modelId="{99C7D7B2-A333-46DF-9DB7-F6569DC0F1D9}">
      <dsp:nvSpPr>
        <dsp:cNvPr id="0" name=""/>
        <dsp:cNvSpPr/>
      </dsp:nvSpPr>
      <dsp:spPr>
        <a:xfrm>
          <a:off x="0" y="3951660"/>
          <a:ext cx="829945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Security awareness training can remove this weakest link in the security chain</a:t>
          </a:r>
        </a:p>
      </dsp:txBody>
      <dsp:txXfrm>
        <a:off x="33926" y="3985586"/>
        <a:ext cx="8231598" cy="6271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817E2-A8EB-4743-8173-4010FBCB0CA7}">
      <dsp:nvSpPr>
        <dsp:cNvPr id="0" name=""/>
        <dsp:cNvSpPr/>
      </dsp:nvSpPr>
      <dsp:spPr>
        <a:xfrm>
          <a:off x="0" y="8310"/>
          <a:ext cx="6733310" cy="905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Users don’t appreciate the business reasons behind the policies </a:t>
          </a:r>
        </a:p>
      </dsp:txBody>
      <dsp:txXfrm>
        <a:off x="44207" y="52517"/>
        <a:ext cx="6644896" cy="817166"/>
      </dsp:txXfrm>
    </dsp:sp>
    <dsp:sp modelId="{98D20A38-CAEC-4CD5-9C63-0E7057891A62}">
      <dsp:nvSpPr>
        <dsp:cNvPr id="0" name=""/>
        <dsp:cNvSpPr/>
      </dsp:nvSpPr>
      <dsp:spPr>
        <a:xfrm>
          <a:off x="0" y="939810"/>
          <a:ext cx="6733310" cy="905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Users don’t buy into the policies</a:t>
          </a:r>
        </a:p>
      </dsp:txBody>
      <dsp:txXfrm>
        <a:off x="44207" y="984017"/>
        <a:ext cx="6644896" cy="817166"/>
      </dsp:txXfrm>
    </dsp:sp>
    <dsp:sp modelId="{80771360-DAB6-412E-A490-2792CBFA2B62}">
      <dsp:nvSpPr>
        <dsp:cNvPr id="0" name=""/>
        <dsp:cNvSpPr/>
      </dsp:nvSpPr>
      <dsp:spPr>
        <a:xfrm>
          <a:off x="0" y="1871310"/>
          <a:ext cx="6733310" cy="905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Users know the policies won’t be enforced</a:t>
          </a:r>
        </a:p>
      </dsp:txBody>
      <dsp:txXfrm>
        <a:off x="44207" y="1915517"/>
        <a:ext cx="6644896" cy="817166"/>
      </dsp:txXfrm>
    </dsp:sp>
    <dsp:sp modelId="{04123A03-5DA1-4307-A284-FCFD232461C4}">
      <dsp:nvSpPr>
        <dsp:cNvPr id="0" name=""/>
        <dsp:cNvSpPr/>
      </dsp:nvSpPr>
      <dsp:spPr>
        <a:xfrm>
          <a:off x="0" y="2802810"/>
          <a:ext cx="6733310" cy="905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Users are lazy</a:t>
          </a:r>
        </a:p>
      </dsp:txBody>
      <dsp:txXfrm>
        <a:off x="44207" y="2847017"/>
        <a:ext cx="6644896" cy="817166"/>
      </dsp:txXfrm>
    </dsp:sp>
    <dsp:sp modelId="{54EBA309-B4C2-4C1D-A5DD-CE479885C87C}">
      <dsp:nvSpPr>
        <dsp:cNvPr id="0" name=""/>
        <dsp:cNvSpPr/>
      </dsp:nvSpPr>
      <dsp:spPr>
        <a:xfrm>
          <a:off x="0" y="3734310"/>
          <a:ext cx="6733310" cy="905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Users’ desire to violate policies outweighs their perception of the risks involved</a:t>
          </a:r>
        </a:p>
      </dsp:txBody>
      <dsp:txXfrm>
        <a:off x="44207" y="3778517"/>
        <a:ext cx="6644896" cy="817166"/>
      </dsp:txXfrm>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AB432E9C-DAD3-40B9-96ED-2BD9E81FA4DE}" type="datetime1">
              <a:rPr lang="en-US"/>
              <a:pPr>
                <a:defRPr/>
              </a:pPr>
              <a:t>9/22/2023</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a:t>(c) ITT Educational Services, Inc.</a:t>
            </a:r>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C62D5C86-1E65-4E27-B12D-5E2C0EA4D1CC}" type="slidenum">
              <a:rPr lang="en-US"/>
              <a:pPr>
                <a:defRPr/>
              </a:pPr>
              <a:t>‹#›</a:t>
            </a:fld>
            <a:endParaRPr lang="en-US" dirty="0"/>
          </a:p>
        </p:txBody>
      </p:sp>
    </p:spTree>
    <p:extLst>
      <p:ext uri="{BB962C8B-B14F-4D97-AF65-F5344CB8AC3E}">
        <p14:creationId xmlns:p14="http://schemas.microsoft.com/office/powerpoint/2010/main" val="8276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AD994C78-BAEA-4DFB-A59B-2C4B44351B9E}" type="datetime1">
              <a:rPr lang="en-US"/>
              <a:pPr>
                <a:defRPr/>
              </a:pPr>
              <a:t>9/22/2023</a:t>
            </a:fld>
            <a:endParaRPr lang="en-US" dirty="0"/>
          </a:p>
        </p:txBody>
      </p:sp>
      <p:sp>
        <p:nvSpPr>
          <p:cNvPr id="2355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a:t>(c) ITT Educational Services, Inc.</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258078EF-F713-4610-8B0B-96FAE2094581}" type="slidenum">
              <a:rPr lang="en-US"/>
              <a:pPr>
                <a:defRPr/>
              </a:pPr>
              <a:t>‹#›</a:t>
            </a:fld>
            <a:endParaRPr lang="en-US" dirty="0"/>
          </a:p>
        </p:txBody>
      </p:sp>
    </p:spTree>
    <p:extLst>
      <p:ext uri="{BB962C8B-B14F-4D97-AF65-F5344CB8AC3E}">
        <p14:creationId xmlns:p14="http://schemas.microsoft.com/office/powerpoint/2010/main" val="1573596703"/>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Arial" charset="0"/>
              </a:defRPr>
            </a:lvl1pPr>
            <a:lvl2pPr marL="742950" indent="-285750" defTabSz="931863" eaLnBrk="0" hangingPunct="0">
              <a:defRPr>
                <a:solidFill>
                  <a:schemeClr val="tx1"/>
                </a:solidFill>
                <a:latin typeface="Arial" charset="0"/>
              </a:defRPr>
            </a:lvl2pPr>
            <a:lvl3pPr marL="1143000" indent="-228600" defTabSz="931863" eaLnBrk="0" hangingPunct="0">
              <a:defRPr>
                <a:solidFill>
                  <a:schemeClr val="tx1"/>
                </a:solidFill>
                <a:latin typeface="Arial" charset="0"/>
              </a:defRPr>
            </a:lvl3pPr>
            <a:lvl4pPr marL="1600200" indent="-228600" defTabSz="931863" eaLnBrk="0" hangingPunct="0">
              <a:defRPr>
                <a:solidFill>
                  <a:schemeClr val="tx1"/>
                </a:solidFill>
                <a:latin typeface="Arial" charset="0"/>
              </a:defRPr>
            </a:lvl4pPr>
            <a:lvl5pPr marL="2057400" indent="-228600" defTabSz="931863" eaLnBrk="0" hangingPunct="0">
              <a:defRPr>
                <a:solidFill>
                  <a:schemeClr val="tx1"/>
                </a:solidFill>
                <a:latin typeface="Arial" charset="0"/>
              </a:defRPr>
            </a:lvl5pPr>
            <a:lvl6pPr marL="2514600" indent="-228600" defTabSz="931863" eaLnBrk="0" fontAlgn="base" hangingPunct="0">
              <a:spcBef>
                <a:spcPct val="0"/>
              </a:spcBef>
              <a:spcAft>
                <a:spcPct val="0"/>
              </a:spcAft>
              <a:defRPr>
                <a:solidFill>
                  <a:schemeClr val="tx1"/>
                </a:solidFill>
                <a:latin typeface="Arial" charset="0"/>
              </a:defRPr>
            </a:lvl6pPr>
            <a:lvl7pPr marL="2971800" indent="-228600" defTabSz="931863" eaLnBrk="0" fontAlgn="base" hangingPunct="0">
              <a:spcBef>
                <a:spcPct val="0"/>
              </a:spcBef>
              <a:spcAft>
                <a:spcPct val="0"/>
              </a:spcAft>
              <a:defRPr>
                <a:solidFill>
                  <a:schemeClr val="tx1"/>
                </a:solidFill>
                <a:latin typeface="Arial" charset="0"/>
              </a:defRPr>
            </a:lvl7pPr>
            <a:lvl8pPr marL="3429000" indent="-228600" defTabSz="931863" eaLnBrk="0" fontAlgn="base" hangingPunct="0">
              <a:spcBef>
                <a:spcPct val="0"/>
              </a:spcBef>
              <a:spcAft>
                <a:spcPct val="0"/>
              </a:spcAft>
              <a:defRPr>
                <a:solidFill>
                  <a:schemeClr val="tx1"/>
                </a:solidFill>
                <a:latin typeface="Arial" charset="0"/>
              </a:defRPr>
            </a:lvl8pPr>
            <a:lvl9pPr marL="3886200" indent="-228600" defTabSz="931863" eaLnBrk="0" fontAlgn="base" hangingPunct="0">
              <a:spcBef>
                <a:spcPct val="0"/>
              </a:spcBef>
              <a:spcAft>
                <a:spcPct val="0"/>
              </a:spcAft>
              <a:defRPr>
                <a:solidFill>
                  <a:schemeClr val="tx1"/>
                </a:solidFill>
                <a:latin typeface="Arial" charset="0"/>
              </a:defRPr>
            </a:lvl9pPr>
          </a:lstStyle>
          <a:p>
            <a:pPr eaLnBrk="1" hangingPunct="1"/>
            <a:fld id="{7498D9EC-9EA7-469A-9B8D-823225DA1E17}" type="slidenum">
              <a:rPr lang="en-US" smtClean="0">
                <a:latin typeface="Times New Roman" pitchFamily="18" charset="0"/>
              </a:rPr>
              <a:pPr eaLnBrk="1" hangingPunct="1"/>
              <a:t>1</a:t>
            </a:fld>
            <a:endParaRPr lang="en-US">
              <a:latin typeface="Times New Roman"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8534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charset="0"/>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Arial" charset="0"/>
              </a:defRPr>
            </a:lvl1pPr>
            <a:lvl2pPr marL="742950" indent="-285750" defTabSz="931863" eaLnBrk="0" hangingPunct="0">
              <a:defRPr>
                <a:solidFill>
                  <a:schemeClr val="tx1"/>
                </a:solidFill>
                <a:latin typeface="Arial" charset="0"/>
              </a:defRPr>
            </a:lvl2pPr>
            <a:lvl3pPr marL="1143000" indent="-228600" defTabSz="931863" eaLnBrk="0" hangingPunct="0">
              <a:defRPr>
                <a:solidFill>
                  <a:schemeClr val="tx1"/>
                </a:solidFill>
                <a:latin typeface="Arial" charset="0"/>
              </a:defRPr>
            </a:lvl3pPr>
            <a:lvl4pPr marL="1600200" indent="-228600" defTabSz="931863" eaLnBrk="0" hangingPunct="0">
              <a:defRPr>
                <a:solidFill>
                  <a:schemeClr val="tx1"/>
                </a:solidFill>
                <a:latin typeface="Arial" charset="0"/>
              </a:defRPr>
            </a:lvl4pPr>
            <a:lvl5pPr marL="2057400" indent="-228600" defTabSz="931863" eaLnBrk="0" hangingPunct="0">
              <a:defRPr>
                <a:solidFill>
                  <a:schemeClr val="tx1"/>
                </a:solidFill>
                <a:latin typeface="Arial" charset="0"/>
              </a:defRPr>
            </a:lvl5pPr>
            <a:lvl6pPr marL="2514600" indent="-228600" defTabSz="931863" eaLnBrk="0" fontAlgn="base" hangingPunct="0">
              <a:spcBef>
                <a:spcPct val="0"/>
              </a:spcBef>
              <a:spcAft>
                <a:spcPct val="0"/>
              </a:spcAft>
              <a:defRPr>
                <a:solidFill>
                  <a:schemeClr val="tx1"/>
                </a:solidFill>
                <a:latin typeface="Arial" charset="0"/>
              </a:defRPr>
            </a:lvl6pPr>
            <a:lvl7pPr marL="2971800" indent="-228600" defTabSz="931863" eaLnBrk="0" fontAlgn="base" hangingPunct="0">
              <a:spcBef>
                <a:spcPct val="0"/>
              </a:spcBef>
              <a:spcAft>
                <a:spcPct val="0"/>
              </a:spcAft>
              <a:defRPr>
                <a:solidFill>
                  <a:schemeClr val="tx1"/>
                </a:solidFill>
                <a:latin typeface="Arial" charset="0"/>
              </a:defRPr>
            </a:lvl7pPr>
            <a:lvl8pPr marL="3429000" indent="-228600" defTabSz="931863" eaLnBrk="0" fontAlgn="base" hangingPunct="0">
              <a:spcBef>
                <a:spcPct val="0"/>
              </a:spcBef>
              <a:spcAft>
                <a:spcPct val="0"/>
              </a:spcAft>
              <a:defRPr>
                <a:solidFill>
                  <a:schemeClr val="tx1"/>
                </a:solidFill>
                <a:latin typeface="Arial" charset="0"/>
              </a:defRPr>
            </a:lvl8pPr>
            <a:lvl9pPr marL="3886200" indent="-228600" defTabSz="931863" eaLnBrk="0" fontAlgn="base" hangingPunct="0">
              <a:spcBef>
                <a:spcPct val="0"/>
              </a:spcBef>
              <a:spcAft>
                <a:spcPct val="0"/>
              </a:spcAft>
              <a:defRPr>
                <a:solidFill>
                  <a:schemeClr val="tx1"/>
                </a:solidFill>
                <a:latin typeface="Arial" charset="0"/>
              </a:defRPr>
            </a:lvl9pPr>
          </a:lstStyle>
          <a:p>
            <a:pPr eaLnBrk="1" hangingPunct="1"/>
            <a:fld id="{83E6D8E1-A0C4-4329-978C-E8654CD7F988}" type="slidenum">
              <a:rPr lang="en-US" smtClean="0"/>
              <a:pPr eaLnBrk="1" hangingPunct="1"/>
              <a:t>2</a:t>
            </a:fld>
            <a:endParaRPr lang="en-US"/>
          </a:p>
        </p:txBody>
      </p:sp>
    </p:spTree>
    <p:extLst>
      <p:ext uri="{BB962C8B-B14F-4D97-AF65-F5344CB8AC3E}">
        <p14:creationId xmlns:p14="http://schemas.microsoft.com/office/powerpoint/2010/main" val="1522937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75" y="0"/>
            <a:ext cx="9137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Tree>
    <p:extLst>
      <p:ext uri="{BB962C8B-B14F-4D97-AF65-F5344CB8AC3E}">
        <p14:creationId xmlns:p14="http://schemas.microsoft.com/office/powerpoint/2010/main" val="3829080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231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6204442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297613"/>
            <a:ext cx="91440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539750" y="304800"/>
            <a:ext cx="82994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80966" name="Text Box 6"/>
          <p:cNvSpPr txBox="1">
            <a:spLocks noChangeArrowheads="1"/>
          </p:cNvSpPr>
          <p:nvPr/>
        </p:nvSpPr>
        <p:spPr bwMode="auto">
          <a:xfrm>
            <a:off x="8382000" y="6496050"/>
            <a:ext cx="581025" cy="215900"/>
          </a:xfrm>
          <a:prstGeom prst="rect">
            <a:avLst/>
          </a:prstGeom>
          <a:noFill/>
          <a:ln w="9525">
            <a:noFill/>
            <a:miter lim="800000"/>
            <a:headEnd/>
            <a:tailEnd/>
          </a:ln>
          <a:effectLst/>
        </p:spPr>
        <p:txBody>
          <a:bodyPr wrap="none">
            <a:spAutoFit/>
          </a:bodyPr>
          <a:lstStyle/>
          <a:p>
            <a:pPr eaLnBrk="0" hangingPunct="0">
              <a:defRPr/>
            </a:pPr>
            <a:r>
              <a:rPr lang="en-US" sz="800" dirty="0">
                <a:solidFill>
                  <a:schemeClr val="bg1"/>
                </a:solidFill>
              </a:rPr>
              <a:t>Page </a:t>
            </a:r>
            <a:fld id="{B2EF325C-3739-4464-9C5A-067942018442}" type="slidenum">
              <a:rPr lang="en-US" sz="800">
                <a:solidFill>
                  <a:schemeClr val="bg1"/>
                </a:solidFill>
              </a:rPr>
              <a:pPr eaLnBrk="0" hangingPunct="0">
                <a:defRPr/>
              </a:pPr>
              <a:t>‹#›</a:t>
            </a:fld>
            <a:endParaRPr lang="en-US" sz="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042" r:id="rId1"/>
    <p:sldLayoutId id="2147484040" r:id="rId2"/>
    <p:sldLayoutId id="2147484041"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pitchFamily="18" charset="0"/>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subTitle" idx="1"/>
          </p:nvPr>
        </p:nvSpPr>
        <p:spPr>
          <a:xfrm>
            <a:off x="401638" y="2133600"/>
            <a:ext cx="8348662" cy="2973122"/>
          </a:xfrm>
        </p:spPr>
        <p:txBody>
          <a:bodyPr/>
          <a:lstStyle/>
          <a:p>
            <a:pPr algn="ctr"/>
            <a:r>
              <a:rPr lang="en-US" sz="3600" b="1" dirty="0"/>
              <a:t>IAP301 Policy Development in Information Assurance</a:t>
            </a:r>
          </a:p>
          <a:p>
            <a:pPr algn="ctr"/>
            <a:endParaRPr lang="en-US" dirty="0"/>
          </a:p>
          <a:p>
            <a:pPr algn="ctr"/>
            <a:endParaRPr lang="en-US" dirty="0"/>
          </a:p>
          <a:p>
            <a:pPr algn="ctr"/>
            <a:r>
              <a:rPr lang="en-US" b="1" dirty="0"/>
              <a:t>Lecture 5. User Policies</a:t>
            </a:r>
          </a:p>
        </p:txBody>
      </p:sp>
      <p:pic>
        <p:nvPicPr>
          <p:cNvPr id="2" name="Picture 1">
            <a:extLst>
              <a:ext uri="{FF2B5EF4-FFF2-40B4-BE49-F238E27FC236}">
                <a16:creationId xmlns:a16="http://schemas.microsoft.com/office/drawing/2014/main" id="{417143FF-544F-7BED-8C9F-55F4054625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6268370"/>
            <a:ext cx="1429406" cy="58963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sz="4000"/>
              <a:t>Learning Objective</a:t>
            </a:r>
          </a:p>
        </p:txBody>
      </p:sp>
      <p:sp>
        <p:nvSpPr>
          <p:cNvPr id="4099" name="Content Placeholder 2"/>
          <p:cNvSpPr>
            <a:spLocks noGrp="1"/>
          </p:cNvSpPr>
          <p:nvPr>
            <p:ph idx="1"/>
          </p:nvPr>
        </p:nvSpPr>
        <p:spPr>
          <a:xfrm>
            <a:off x="539750" y="1524000"/>
            <a:ext cx="8299450" cy="4419600"/>
          </a:xfrm>
        </p:spPr>
        <p:txBody>
          <a:bodyPr/>
          <a:lstStyle/>
          <a:p>
            <a:r>
              <a:rPr lang="en-US" sz="3200"/>
              <a:t>Describe the different ISS policies associated with the user domain.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1"/>
          <p:cNvSpPr>
            <a:spLocks noGrp="1"/>
          </p:cNvSpPr>
          <p:nvPr>
            <p:ph idx="1"/>
          </p:nvPr>
        </p:nvSpPr>
        <p:spPr/>
        <p:txBody>
          <a:bodyPr/>
          <a:lstStyle/>
          <a:p>
            <a:r>
              <a:rPr lang="en-US" sz="3200"/>
              <a:t>Reasons for governing users with policies</a:t>
            </a:r>
          </a:p>
          <a:p>
            <a:r>
              <a:rPr lang="en-US" sz="3200"/>
              <a:t>Regular and privileged users</a:t>
            </a:r>
          </a:p>
          <a:p>
            <a:r>
              <a:rPr lang="en-US" sz="3200"/>
              <a:t>Acceptable use policy (AUP) and privileged-level access agreement (PAA) </a:t>
            </a:r>
          </a:p>
          <a:p>
            <a:r>
              <a:rPr lang="en-US" sz="3200"/>
              <a:t>Security awareness policy (SAP)</a:t>
            </a:r>
          </a:p>
          <a:p>
            <a:r>
              <a:rPr lang="en-US" sz="3200"/>
              <a:t>Differences between public and private user domain policies</a:t>
            </a:r>
          </a:p>
          <a:p>
            <a:endParaRPr lang="en-US"/>
          </a:p>
        </p:txBody>
      </p:sp>
      <p:sp>
        <p:nvSpPr>
          <p:cNvPr id="5123" name="Title 2"/>
          <p:cNvSpPr>
            <a:spLocks noGrp="1"/>
          </p:cNvSpPr>
          <p:nvPr>
            <p:ph type="title"/>
          </p:nvPr>
        </p:nvSpPr>
        <p:spPr/>
        <p:txBody>
          <a:bodyPr/>
          <a:lstStyle/>
          <a:p>
            <a:r>
              <a:rPr lang="en-US" sz="4000"/>
              <a:t>Key Concepts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CONCEPTS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750" y="2161308"/>
            <a:ext cx="8299450" cy="3782291"/>
          </a:xfrm>
        </p:spPr>
        <p:txBody>
          <a:bodyPr/>
          <a:lstStyle/>
          <a:p>
            <a:r>
              <a:rPr lang="en-US" sz="2800" dirty="0"/>
              <a:t>Computer Users</a:t>
            </a:r>
          </a:p>
          <a:p>
            <a:r>
              <a:rPr lang="en-US" sz="2800" dirty="0"/>
              <a:t>Metcalfe law </a:t>
            </a:r>
          </a:p>
        </p:txBody>
      </p:sp>
      <p:sp>
        <p:nvSpPr>
          <p:cNvPr id="3" name="Title 2"/>
          <p:cNvSpPr>
            <a:spLocks noGrp="1"/>
          </p:cNvSpPr>
          <p:nvPr>
            <p:ph type="title"/>
          </p:nvPr>
        </p:nvSpPr>
        <p:spPr>
          <a:xfrm>
            <a:off x="539750" y="692726"/>
            <a:ext cx="8299450" cy="803565"/>
          </a:xfrm>
        </p:spPr>
        <p:txBody>
          <a:bodyPr/>
          <a:lstStyle/>
          <a:p>
            <a:r>
              <a:rPr lang="en-US" sz="3600" dirty="0"/>
              <a:t>Discussion</a:t>
            </a:r>
          </a:p>
        </p:txBody>
      </p:sp>
    </p:spTree>
    <p:extLst>
      <p:ext uri="{BB962C8B-B14F-4D97-AF65-F5344CB8AC3E}">
        <p14:creationId xmlns:p14="http://schemas.microsoft.com/office/powerpoint/2010/main" val="2509009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39750" y="595745"/>
            <a:ext cx="8299450" cy="817418"/>
          </a:xfrm>
        </p:spPr>
        <p:txBody>
          <a:bodyPr/>
          <a:lstStyle/>
          <a:p>
            <a:r>
              <a:rPr lang="en-US" sz="4000" dirty="0">
                <a:solidFill>
                  <a:schemeClr val="tx2"/>
                </a:solidFill>
              </a:rPr>
              <a:t>AUP</a:t>
            </a:r>
          </a:p>
        </p:txBody>
      </p:sp>
      <p:sp>
        <p:nvSpPr>
          <p:cNvPr id="6147" name="Content Placeholder 2"/>
          <p:cNvSpPr>
            <a:spLocks noGrp="1"/>
          </p:cNvSpPr>
          <p:nvPr>
            <p:ph idx="1"/>
          </p:nvPr>
        </p:nvSpPr>
        <p:spPr>
          <a:xfrm>
            <a:off x="539750" y="2119744"/>
            <a:ext cx="8299450" cy="3601605"/>
          </a:xfrm>
        </p:spPr>
        <p:txBody>
          <a:bodyPr/>
          <a:lstStyle/>
          <a:p>
            <a:pPr marL="233363" lvl="1" indent="-233363">
              <a:buFont typeface="Wingdings" pitchFamily="2" charset="2"/>
              <a:buChar char="§"/>
              <a:defRPr/>
            </a:pPr>
            <a:r>
              <a:rPr lang="en-US" sz="3200" dirty="0">
                <a:ea typeface="+mn-ea"/>
                <a:cs typeface="+mn-cs"/>
              </a:rPr>
              <a:t>Protecting an organization’s computers and network </a:t>
            </a:r>
          </a:p>
          <a:p>
            <a:pPr marL="233363" lvl="1" indent="-233363">
              <a:buFont typeface="Wingdings" pitchFamily="2" charset="2"/>
              <a:buChar char="§"/>
              <a:defRPr/>
            </a:pPr>
            <a:r>
              <a:rPr lang="en-US" sz="3200" dirty="0">
                <a:ea typeface="+mn-ea"/>
                <a:cs typeface="+mn-cs"/>
              </a:rPr>
              <a:t>Managing passwords</a:t>
            </a:r>
          </a:p>
          <a:p>
            <a:pPr marL="233363" lvl="1" indent="-233363">
              <a:buFont typeface="Wingdings" pitchFamily="2" charset="2"/>
              <a:buChar char="§"/>
              <a:defRPr/>
            </a:pPr>
            <a:r>
              <a:rPr lang="en-US" sz="3200" dirty="0">
                <a:ea typeface="+mn-ea"/>
                <a:cs typeface="+mn-cs"/>
              </a:rPr>
              <a:t>Managing software licenses</a:t>
            </a:r>
          </a:p>
          <a:p>
            <a:pPr marL="233363" lvl="1" indent="-233363">
              <a:buFont typeface="Wingdings" pitchFamily="2" charset="2"/>
              <a:buChar char="§"/>
              <a:defRPr/>
            </a:pPr>
            <a:r>
              <a:rPr lang="en-US" sz="3200" dirty="0">
                <a:ea typeface="+mn-ea"/>
                <a:cs typeface="+mn-cs"/>
              </a:rPr>
              <a:t>Managing intellectual property</a:t>
            </a:r>
          </a:p>
          <a:p>
            <a:pPr marL="233363" lvl="1" indent="-233363">
              <a:buFont typeface="Wingdings" pitchFamily="2" charset="2"/>
              <a:buChar char="§"/>
              <a:defRPr/>
            </a:pPr>
            <a:endParaRPr lang="en-US" sz="3200" b="1" dirty="0">
              <a:ea typeface="+mn-ea"/>
              <a:cs typeface="+mn-cs"/>
            </a:endParaRPr>
          </a:p>
          <a:p>
            <a:pPr>
              <a:defRPr/>
            </a:pPr>
            <a:endParaRPr lang="en-US" dirty="0"/>
          </a:p>
          <a:p>
            <a:pPr>
              <a:buFont typeface="Wingdings" pitchFamily="2" charset="2"/>
              <a:buNone/>
              <a:defRPr/>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688975"/>
            <a:ext cx="8299450" cy="768350"/>
          </a:xfrm>
        </p:spPr>
        <p:txBody>
          <a:bodyPr/>
          <a:lstStyle/>
          <a:p>
            <a:r>
              <a:rPr lang="en-US" sz="4000" dirty="0">
                <a:solidFill>
                  <a:schemeClr val="tx2"/>
                </a:solidFill>
              </a:rPr>
              <a:t>AUP (cont’d)</a:t>
            </a:r>
          </a:p>
        </p:txBody>
      </p:sp>
      <p:sp>
        <p:nvSpPr>
          <p:cNvPr id="6147" name="Content Placeholder 2"/>
          <p:cNvSpPr>
            <a:spLocks noGrp="1"/>
          </p:cNvSpPr>
          <p:nvPr>
            <p:ph idx="1"/>
          </p:nvPr>
        </p:nvSpPr>
        <p:spPr>
          <a:xfrm>
            <a:off x="539750" y="1953491"/>
            <a:ext cx="8299450" cy="3767859"/>
          </a:xfrm>
        </p:spPr>
        <p:txBody>
          <a:bodyPr/>
          <a:lstStyle/>
          <a:p>
            <a:pPr marL="233363" lvl="1" indent="-233363">
              <a:buFont typeface="Wingdings" pitchFamily="2" charset="2"/>
              <a:buChar char="§"/>
              <a:defRPr/>
            </a:pPr>
            <a:r>
              <a:rPr lang="en-US" sz="3200" dirty="0">
                <a:ea typeface="+mn-ea"/>
                <a:cs typeface="+mn-cs"/>
              </a:rPr>
              <a:t>E-mail etiquette</a:t>
            </a:r>
          </a:p>
          <a:p>
            <a:pPr marL="233363" lvl="1" indent="-233363">
              <a:buFont typeface="Wingdings" pitchFamily="2" charset="2"/>
              <a:buChar char="§"/>
              <a:defRPr/>
            </a:pPr>
            <a:r>
              <a:rPr lang="en-US" sz="3200" dirty="0">
                <a:ea typeface="+mn-ea"/>
                <a:cs typeface="+mn-cs"/>
              </a:rPr>
              <a:t>Level of privacy an individual should expect when using an organization’s computer or network</a:t>
            </a:r>
          </a:p>
          <a:p>
            <a:pPr marL="233363" lvl="1" indent="-233363">
              <a:buFont typeface="Wingdings" pitchFamily="2" charset="2"/>
              <a:buChar char="§"/>
              <a:defRPr/>
            </a:pPr>
            <a:r>
              <a:rPr lang="en-US" sz="3200" dirty="0">
                <a:ea typeface="+mn-ea"/>
                <a:cs typeface="+mn-cs"/>
              </a:rPr>
              <a:t>Noncompliance consequences</a:t>
            </a:r>
          </a:p>
          <a:p>
            <a:pPr>
              <a:defRPr/>
            </a:pPr>
            <a:endParaRPr lang="en-US" dirty="0"/>
          </a:p>
          <a:p>
            <a:pPr>
              <a:buFont typeface="Wingdings" pitchFamily="2" charset="2"/>
              <a:buNone/>
              <a:defRPr/>
            </a:pP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a:solidFill>
                  <a:schemeClr val="tx2"/>
                </a:solidFill>
              </a:rPr>
              <a:t>PAA</a:t>
            </a:r>
          </a:p>
        </p:txBody>
      </p:sp>
      <p:sp>
        <p:nvSpPr>
          <p:cNvPr id="7171" name="Content Placeholder 2"/>
          <p:cNvSpPr>
            <a:spLocks noGrp="1"/>
          </p:cNvSpPr>
          <p:nvPr>
            <p:ph idx="1"/>
          </p:nvPr>
        </p:nvSpPr>
        <p:spPr>
          <a:xfrm>
            <a:off x="539750" y="1069975"/>
            <a:ext cx="8299450" cy="5080000"/>
          </a:xfrm>
        </p:spPr>
        <p:txBody>
          <a:bodyPr/>
          <a:lstStyle/>
          <a:p>
            <a:pPr marL="233363" lvl="1" indent="-233363">
              <a:buFont typeface="Wingdings" pitchFamily="2" charset="2"/>
              <a:buChar char="§"/>
              <a:defRPr/>
            </a:pPr>
            <a:r>
              <a:rPr lang="en-US" sz="3200" dirty="0">
                <a:ea typeface="+mn-ea"/>
                <a:cs typeface="+mn-cs"/>
              </a:rPr>
              <a:t>The PAA generally contains the following from the administrator’s perspective:</a:t>
            </a:r>
          </a:p>
          <a:p>
            <a:pPr lvl="1">
              <a:defRPr/>
            </a:pPr>
            <a:r>
              <a:rPr lang="en-US" sz="2400" dirty="0"/>
              <a:t>Acknowledgement of the risk associated with elevated access in the event the credentials are breached or abused</a:t>
            </a:r>
          </a:p>
          <a:p>
            <a:pPr lvl="1">
              <a:defRPr/>
            </a:pPr>
            <a:r>
              <a:rPr lang="en-US" sz="2400" dirty="0"/>
              <a:t>Promise to only use the access granted for approved organization business</a:t>
            </a:r>
          </a:p>
          <a:p>
            <a:pPr lvl="1">
              <a:defRPr/>
            </a:pPr>
            <a:r>
              <a:rPr lang="en-US" sz="2400" dirty="0"/>
              <a:t>Promise not to attempt to “hack” or breach security</a:t>
            </a:r>
          </a:p>
          <a:p>
            <a:pPr lvl="1">
              <a:defRPr/>
            </a:pPr>
            <a:r>
              <a:rPr lang="en-US" sz="2400" dirty="0"/>
              <a:t>Promise to protect any output from these credentials such as reports, logs, files, and downloads</a:t>
            </a:r>
          </a:p>
          <a:p>
            <a:pPr>
              <a:defRPr/>
            </a:pPr>
            <a:endParaRPr lang="en-US" dirty="0"/>
          </a:p>
          <a:p>
            <a:pPr>
              <a:buFont typeface="Wingdings" pitchFamily="2" charset="2"/>
              <a:buNone/>
              <a:defRPr/>
            </a:pP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799"/>
            <a:ext cx="8299450" cy="765175"/>
          </a:xfrm>
        </p:spPr>
        <p:txBody>
          <a:bodyPr/>
          <a:lstStyle/>
          <a:p>
            <a:r>
              <a:rPr lang="en-US" sz="4000" dirty="0">
                <a:solidFill>
                  <a:schemeClr val="tx2"/>
                </a:solidFill>
              </a:rPr>
              <a:t>SAP</a:t>
            </a:r>
          </a:p>
        </p:txBody>
      </p:sp>
      <p:sp>
        <p:nvSpPr>
          <p:cNvPr id="7171" name="Content Placeholder 2"/>
          <p:cNvSpPr>
            <a:spLocks noGrp="1"/>
          </p:cNvSpPr>
          <p:nvPr>
            <p:ph idx="1"/>
          </p:nvPr>
        </p:nvSpPr>
        <p:spPr>
          <a:xfrm>
            <a:off x="539750" y="1208521"/>
            <a:ext cx="8299450" cy="5080000"/>
          </a:xfrm>
        </p:spPr>
        <p:txBody>
          <a:bodyPr/>
          <a:lstStyle/>
          <a:p>
            <a:pPr marL="233363" lvl="1" indent="-233363">
              <a:buFont typeface="Wingdings" pitchFamily="2" charset="2"/>
              <a:buChar char="§"/>
              <a:defRPr/>
            </a:pPr>
            <a:r>
              <a:rPr lang="en-US" sz="3200" dirty="0">
                <a:ea typeface="+mn-ea"/>
                <a:cs typeface="+mn-cs"/>
              </a:rPr>
              <a:t>Helping employees really ‘get’ company policy</a:t>
            </a:r>
          </a:p>
          <a:p>
            <a:pPr marL="233363" lvl="1" indent="-233363">
              <a:buFont typeface="Wingdings" pitchFamily="2" charset="2"/>
              <a:buChar char="§"/>
              <a:defRPr/>
            </a:pPr>
            <a:r>
              <a:rPr lang="en-US" sz="3200" dirty="0">
                <a:ea typeface="+mn-ea"/>
                <a:cs typeface="+mn-cs"/>
              </a:rPr>
              <a:t>Defining responsibilities and roles for instilling security awareness among all personnel granted access to information resources</a:t>
            </a:r>
          </a:p>
          <a:p>
            <a:pPr marL="233363" lvl="1" indent="-233363">
              <a:buFont typeface="Wingdings" pitchFamily="2" charset="2"/>
              <a:buChar char="§"/>
              <a:defRPr/>
            </a:pPr>
            <a:r>
              <a:rPr lang="en-US" sz="3200" dirty="0">
                <a:ea typeface="+mn-ea"/>
                <a:cs typeface="+mn-cs"/>
              </a:rPr>
              <a:t>Educating administrators and users at all levels on the safe and responsible use and handling of information</a:t>
            </a:r>
            <a:endParaRPr lang="en-US" sz="2400" dirty="0"/>
          </a:p>
          <a:p>
            <a:pPr>
              <a:defRPr/>
            </a:pPr>
            <a:endParaRPr lang="en-US" dirty="0"/>
          </a:p>
          <a:p>
            <a:pPr>
              <a:buFont typeface="Wingdings" pitchFamily="2" charset="2"/>
              <a:buNone/>
              <a:defRPr/>
            </a:pPr>
            <a:endParaRPr lang="en-US" sz="2000" dirty="0"/>
          </a:p>
        </p:txBody>
      </p:sp>
    </p:spTree>
    <p:extLst>
      <p:ext uri="{BB962C8B-B14F-4D97-AF65-F5344CB8AC3E}">
        <p14:creationId xmlns:p14="http://schemas.microsoft.com/office/powerpoint/2010/main" val="4149762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PROCESS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a:xfrm>
            <a:off x="539750" y="304800"/>
            <a:ext cx="8299450" cy="476250"/>
          </a:xfrm>
        </p:spPr>
        <p:txBody>
          <a:bodyPr/>
          <a:lstStyle/>
          <a:p>
            <a:pPr>
              <a:defRPr/>
            </a:pPr>
            <a:r>
              <a:rPr lang="en-US" sz="4000" kern="1200" dirty="0">
                <a:solidFill>
                  <a:schemeClr val="tx2"/>
                </a:solidFill>
              </a:rPr>
              <a:t>Different Types of Users Within an Organization</a:t>
            </a:r>
            <a:endParaRPr lang="en-US" sz="4000" dirty="0">
              <a:solidFill>
                <a:schemeClr val="tx2"/>
              </a:solidFill>
            </a:endParaRPr>
          </a:p>
        </p:txBody>
      </p:sp>
      <p:sp>
        <p:nvSpPr>
          <p:cNvPr id="11267" name="TextBox 4"/>
          <p:cNvSpPr txBox="1">
            <a:spLocks noChangeArrowheads="1"/>
          </p:cNvSpPr>
          <p:nvPr/>
        </p:nvSpPr>
        <p:spPr bwMode="auto">
          <a:xfrm>
            <a:off x="2438400" y="131445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p>
        </p:txBody>
      </p:sp>
      <p:graphicFrame>
        <p:nvGraphicFramePr>
          <p:cNvPr id="28" name="Content Placeholder 4"/>
          <p:cNvGraphicFramePr>
            <a:graphicFrameLocks noGrp="1"/>
          </p:cNvGraphicFramePr>
          <p:nvPr>
            <p:ph idx="1"/>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a:xfrm>
            <a:off x="539750" y="304800"/>
            <a:ext cx="8299450" cy="476250"/>
          </a:xfrm>
        </p:spPr>
        <p:txBody>
          <a:bodyPr/>
          <a:lstStyle/>
          <a:p>
            <a:pPr>
              <a:defRPr/>
            </a:pPr>
            <a:r>
              <a:rPr lang="en-US" sz="4000" kern="1200" dirty="0">
                <a:solidFill>
                  <a:schemeClr val="tx2"/>
                </a:solidFill>
              </a:rPr>
              <a:t>Different User-Access Requirements</a:t>
            </a:r>
            <a:endParaRPr lang="en-US" sz="4000" dirty="0">
              <a:solidFill>
                <a:schemeClr val="tx2"/>
              </a:solidFill>
            </a:endParaRPr>
          </a:p>
        </p:txBody>
      </p:sp>
      <p:sp>
        <p:nvSpPr>
          <p:cNvPr id="12291" name="TextBox 4"/>
          <p:cNvSpPr txBox="1">
            <a:spLocks noChangeArrowheads="1"/>
          </p:cNvSpPr>
          <p:nvPr/>
        </p:nvSpPr>
        <p:spPr bwMode="auto">
          <a:xfrm>
            <a:off x="2438400" y="131445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p>
        </p:txBody>
      </p:sp>
      <p:sp>
        <p:nvSpPr>
          <p:cNvPr id="7" name="Oval 6"/>
          <p:cNvSpPr/>
          <p:nvPr/>
        </p:nvSpPr>
        <p:spPr>
          <a:xfrm>
            <a:off x="1346200" y="2516188"/>
            <a:ext cx="3486150" cy="3486150"/>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Oval 7"/>
          <p:cNvSpPr/>
          <p:nvPr/>
        </p:nvSpPr>
        <p:spPr>
          <a:xfrm>
            <a:off x="1844675" y="3014663"/>
            <a:ext cx="2489200" cy="2489200"/>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Oval 8"/>
          <p:cNvSpPr/>
          <p:nvPr/>
        </p:nvSpPr>
        <p:spPr>
          <a:xfrm>
            <a:off x="2343150" y="3513138"/>
            <a:ext cx="1493838" cy="1493837"/>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Oval 9"/>
          <p:cNvSpPr/>
          <p:nvPr/>
        </p:nvSpPr>
        <p:spPr>
          <a:xfrm>
            <a:off x="2840038" y="4010025"/>
            <a:ext cx="498475" cy="498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Freeform 10"/>
          <p:cNvSpPr/>
          <p:nvPr/>
        </p:nvSpPr>
        <p:spPr>
          <a:xfrm>
            <a:off x="5476875" y="1341438"/>
            <a:ext cx="3495675" cy="1068387"/>
          </a:xfrm>
          <a:custGeom>
            <a:avLst/>
            <a:gdLst>
              <a:gd name="connsiteX0" fmla="*/ 0 w 3494586"/>
              <a:gd name="connsiteY0" fmla="*/ 0 h 1069444"/>
              <a:gd name="connsiteX1" fmla="*/ 3494586 w 3494586"/>
              <a:gd name="connsiteY1" fmla="*/ 0 h 1069444"/>
              <a:gd name="connsiteX2" fmla="*/ 3494586 w 3494586"/>
              <a:gd name="connsiteY2" fmla="*/ 1069444 h 1069444"/>
              <a:gd name="connsiteX3" fmla="*/ 0 w 3494586"/>
              <a:gd name="connsiteY3" fmla="*/ 1069444 h 1069444"/>
              <a:gd name="connsiteX4" fmla="*/ 0 w 3494586"/>
              <a:gd name="connsiteY4" fmla="*/ 0 h 1069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586" h="1069444">
                <a:moveTo>
                  <a:pt x="0" y="0"/>
                </a:moveTo>
                <a:lnTo>
                  <a:pt x="3494586" y="0"/>
                </a:lnTo>
                <a:lnTo>
                  <a:pt x="3494586" y="1069444"/>
                </a:lnTo>
                <a:lnTo>
                  <a:pt x="0" y="106944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8016" tIns="22860" rIns="22860" bIns="22860" spcCol="1270" anchor="ctr"/>
          <a:lstStyle/>
          <a:p>
            <a:pPr defTabSz="800100">
              <a:lnSpc>
                <a:spcPct val="90000"/>
              </a:lnSpc>
              <a:spcAft>
                <a:spcPct val="35000"/>
              </a:spcAft>
              <a:defRPr/>
            </a:pPr>
            <a:r>
              <a:rPr lang="en-US" dirty="0"/>
              <a:t>Each user requires different levels of access to applications and information within the organization</a:t>
            </a:r>
          </a:p>
        </p:txBody>
      </p:sp>
      <p:sp>
        <p:nvSpPr>
          <p:cNvPr id="12" name="Straight Connector 11"/>
          <p:cNvSpPr/>
          <p:nvPr/>
        </p:nvSpPr>
        <p:spPr>
          <a:xfrm>
            <a:off x="4978400" y="1771650"/>
            <a:ext cx="434975"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3" name="Straight Connector 12"/>
          <p:cNvSpPr/>
          <p:nvPr/>
        </p:nvSpPr>
        <p:spPr>
          <a:xfrm rot="5400000">
            <a:off x="2788444" y="2045494"/>
            <a:ext cx="2462212" cy="191770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13"/>
          <p:cNvSpPr/>
          <p:nvPr/>
        </p:nvSpPr>
        <p:spPr>
          <a:xfrm>
            <a:off x="5476875" y="2435225"/>
            <a:ext cx="3346450" cy="835025"/>
          </a:xfrm>
          <a:custGeom>
            <a:avLst/>
            <a:gdLst>
              <a:gd name="connsiteX0" fmla="*/ 0 w 3345762"/>
              <a:gd name="connsiteY0" fmla="*/ 0 h 833770"/>
              <a:gd name="connsiteX1" fmla="*/ 3345762 w 3345762"/>
              <a:gd name="connsiteY1" fmla="*/ 0 h 833770"/>
              <a:gd name="connsiteX2" fmla="*/ 3345762 w 3345762"/>
              <a:gd name="connsiteY2" fmla="*/ 833770 h 833770"/>
              <a:gd name="connsiteX3" fmla="*/ 0 w 3345762"/>
              <a:gd name="connsiteY3" fmla="*/ 833770 h 833770"/>
              <a:gd name="connsiteX4" fmla="*/ 0 w 3345762"/>
              <a:gd name="connsiteY4" fmla="*/ 0 h 83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5762" h="833770">
                <a:moveTo>
                  <a:pt x="0" y="0"/>
                </a:moveTo>
                <a:lnTo>
                  <a:pt x="3345762" y="0"/>
                </a:lnTo>
                <a:lnTo>
                  <a:pt x="3345762" y="833770"/>
                </a:lnTo>
                <a:lnTo>
                  <a:pt x="0" y="8337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8016" tIns="22860" rIns="22860" bIns="22860" spcCol="1270" anchor="ctr"/>
          <a:lstStyle/>
          <a:p>
            <a:pPr defTabSz="800100">
              <a:lnSpc>
                <a:spcPct val="90000"/>
              </a:lnSpc>
              <a:spcAft>
                <a:spcPct val="35000"/>
              </a:spcAft>
              <a:defRPr/>
            </a:pPr>
            <a:r>
              <a:rPr lang="en-US" dirty="0"/>
              <a:t>Users require information from different systems across the organization to do their jobs</a:t>
            </a:r>
          </a:p>
        </p:txBody>
      </p:sp>
      <p:sp>
        <p:nvSpPr>
          <p:cNvPr id="15" name="Straight Connector 14"/>
          <p:cNvSpPr/>
          <p:nvPr/>
        </p:nvSpPr>
        <p:spPr>
          <a:xfrm>
            <a:off x="4978400" y="2605088"/>
            <a:ext cx="434975"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6" name="Straight Connector 15"/>
          <p:cNvSpPr/>
          <p:nvPr/>
        </p:nvSpPr>
        <p:spPr>
          <a:xfrm rot="5400000">
            <a:off x="3213895" y="2866231"/>
            <a:ext cx="2024062" cy="1501775"/>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7" name="Freeform 16"/>
          <p:cNvSpPr/>
          <p:nvPr/>
        </p:nvSpPr>
        <p:spPr>
          <a:xfrm>
            <a:off x="5476875" y="3289300"/>
            <a:ext cx="3254375" cy="833438"/>
          </a:xfrm>
          <a:custGeom>
            <a:avLst/>
            <a:gdLst>
              <a:gd name="connsiteX0" fmla="*/ 0 w 3253466"/>
              <a:gd name="connsiteY0" fmla="*/ 0 h 833770"/>
              <a:gd name="connsiteX1" fmla="*/ 3253466 w 3253466"/>
              <a:gd name="connsiteY1" fmla="*/ 0 h 833770"/>
              <a:gd name="connsiteX2" fmla="*/ 3253466 w 3253466"/>
              <a:gd name="connsiteY2" fmla="*/ 833770 h 833770"/>
              <a:gd name="connsiteX3" fmla="*/ 0 w 3253466"/>
              <a:gd name="connsiteY3" fmla="*/ 833770 h 833770"/>
              <a:gd name="connsiteX4" fmla="*/ 0 w 3253466"/>
              <a:gd name="connsiteY4" fmla="*/ 0 h 83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3466" h="833770">
                <a:moveTo>
                  <a:pt x="0" y="0"/>
                </a:moveTo>
                <a:lnTo>
                  <a:pt x="3253466" y="0"/>
                </a:lnTo>
                <a:lnTo>
                  <a:pt x="3253466" y="833770"/>
                </a:lnTo>
                <a:lnTo>
                  <a:pt x="0" y="8337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8016" tIns="22860" rIns="22860" bIns="22860" spcCol="1270" anchor="ctr"/>
          <a:lstStyle/>
          <a:p>
            <a:pPr defTabSz="800100">
              <a:lnSpc>
                <a:spcPct val="90000"/>
              </a:lnSpc>
              <a:spcAft>
                <a:spcPct val="35000"/>
              </a:spcAft>
              <a:defRPr/>
            </a:pPr>
            <a:r>
              <a:rPr lang="en-US" dirty="0"/>
              <a:t>The data coming from different systems often has different security controls </a:t>
            </a:r>
          </a:p>
        </p:txBody>
      </p:sp>
      <p:sp>
        <p:nvSpPr>
          <p:cNvPr id="18" name="Straight Connector 17"/>
          <p:cNvSpPr/>
          <p:nvPr/>
        </p:nvSpPr>
        <p:spPr>
          <a:xfrm>
            <a:off x="4978400" y="3438525"/>
            <a:ext cx="434975"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9" name="Straight Connector 18"/>
          <p:cNvSpPr/>
          <p:nvPr/>
        </p:nvSpPr>
        <p:spPr>
          <a:xfrm rot="5400000">
            <a:off x="3627438" y="3630612"/>
            <a:ext cx="1543050" cy="1158875"/>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0" name="Freeform 19"/>
          <p:cNvSpPr/>
          <p:nvPr/>
        </p:nvSpPr>
        <p:spPr>
          <a:xfrm>
            <a:off x="5476875" y="4138613"/>
            <a:ext cx="3343275" cy="833437"/>
          </a:xfrm>
          <a:custGeom>
            <a:avLst/>
            <a:gdLst>
              <a:gd name="connsiteX0" fmla="*/ 0 w 3342572"/>
              <a:gd name="connsiteY0" fmla="*/ 0 h 833770"/>
              <a:gd name="connsiteX1" fmla="*/ 3342572 w 3342572"/>
              <a:gd name="connsiteY1" fmla="*/ 0 h 833770"/>
              <a:gd name="connsiteX2" fmla="*/ 3342572 w 3342572"/>
              <a:gd name="connsiteY2" fmla="*/ 833770 h 833770"/>
              <a:gd name="connsiteX3" fmla="*/ 0 w 3342572"/>
              <a:gd name="connsiteY3" fmla="*/ 833770 h 833770"/>
              <a:gd name="connsiteX4" fmla="*/ 0 w 3342572"/>
              <a:gd name="connsiteY4" fmla="*/ 0 h 83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2572" h="833770">
                <a:moveTo>
                  <a:pt x="0" y="0"/>
                </a:moveTo>
                <a:lnTo>
                  <a:pt x="3342572" y="0"/>
                </a:lnTo>
                <a:lnTo>
                  <a:pt x="3342572" y="833770"/>
                </a:lnTo>
                <a:lnTo>
                  <a:pt x="0" y="8337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8016" tIns="22860" rIns="22860" bIns="22860" spcCol="1270" anchor="ctr"/>
          <a:lstStyle/>
          <a:p>
            <a:pPr defTabSz="800100">
              <a:lnSpc>
                <a:spcPct val="90000"/>
              </a:lnSpc>
              <a:spcAft>
                <a:spcPct val="35000"/>
              </a:spcAft>
              <a:defRPr/>
            </a:pPr>
            <a:r>
              <a:rPr lang="en-US" dirty="0"/>
              <a:t>The different role each user has within the organization can create security challenges </a:t>
            </a:r>
          </a:p>
        </p:txBody>
      </p:sp>
      <p:sp>
        <p:nvSpPr>
          <p:cNvPr id="21" name="Straight Connector 20"/>
          <p:cNvSpPr/>
          <p:nvPr/>
        </p:nvSpPr>
        <p:spPr>
          <a:xfrm>
            <a:off x="4978400" y="4271963"/>
            <a:ext cx="434975"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2" name="Straight Connector 21"/>
          <p:cNvSpPr/>
          <p:nvPr/>
        </p:nvSpPr>
        <p:spPr>
          <a:xfrm rot="5400000">
            <a:off x="4040188" y="4397375"/>
            <a:ext cx="1060450" cy="809625"/>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ROLES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9750" y="595744"/>
            <a:ext cx="8299450" cy="789709"/>
          </a:xfrm>
        </p:spPr>
        <p:txBody>
          <a:bodyPr/>
          <a:lstStyle/>
          <a:p>
            <a:r>
              <a:rPr lang="en-US" sz="4000" dirty="0">
                <a:solidFill>
                  <a:schemeClr val="tx2"/>
                </a:solidFill>
              </a:rPr>
              <a:t>Who Develops User Policies</a:t>
            </a:r>
          </a:p>
        </p:txBody>
      </p:sp>
      <p:sp>
        <p:nvSpPr>
          <p:cNvPr id="14339" name="Content Placeholder 2"/>
          <p:cNvSpPr>
            <a:spLocks noGrp="1"/>
          </p:cNvSpPr>
          <p:nvPr>
            <p:ph idx="1"/>
          </p:nvPr>
        </p:nvSpPr>
        <p:spPr>
          <a:xfrm>
            <a:off x="539750" y="2036618"/>
            <a:ext cx="8299450" cy="3684731"/>
          </a:xfrm>
        </p:spPr>
        <p:txBody>
          <a:bodyPr/>
          <a:lstStyle/>
          <a:p>
            <a:r>
              <a:rPr lang="en-US" sz="3200" dirty="0"/>
              <a:t>Chief Financial Officer (CFO)</a:t>
            </a:r>
          </a:p>
          <a:p>
            <a:r>
              <a:rPr lang="en-US" sz="3200" dirty="0"/>
              <a:t>Chief Operations Officer (COO)</a:t>
            </a:r>
          </a:p>
          <a:p>
            <a:r>
              <a:rPr lang="en-US" sz="3200" dirty="0"/>
              <a:t>Security manager</a:t>
            </a:r>
          </a:p>
          <a:p>
            <a:r>
              <a:rPr lang="en-US" sz="3200" dirty="0"/>
              <a:t>IT manager</a:t>
            </a:r>
          </a:p>
          <a:p>
            <a:r>
              <a:rPr lang="en-US" sz="3200" dirty="0"/>
              <a:t>Marketing and sales manager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222375"/>
          </a:xfrm>
        </p:spPr>
        <p:txBody>
          <a:bodyPr/>
          <a:lstStyle/>
          <a:p>
            <a:r>
              <a:rPr lang="en-US" sz="4000" dirty="0">
                <a:solidFill>
                  <a:schemeClr val="tx2"/>
                </a:solidFill>
              </a:rPr>
              <a:t>Who Develops User Policies (cont’d)</a:t>
            </a:r>
          </a:p>
        </p:txBody>
      </p:sp>
      <p:sp>
        <p:nvSpPr>
          <p:cNvPr id="15363" name="Content Placeholder 2"/>
          <p:cNvSpPr>
            <a:spLocks noGrp="1"/>
          </p:cNvSpPr>
          <p:nvPr>
            <p:ph idx="1"/>
          </p:nvPr>
        </p:nvSpPr>
        <p:spPr>
          <a:xfrm>
            <a:off x="539750" y="2327563"/>
            <a:ext cx="8299450" cy="3847811"/>
          </a:xfrm>
        </p:spPr>
        <p:txBody>
          <a:bodyPr/>
          <a:lstStyle/>
          <a:p>
            <a:r>
              <a:rPr lang="en-US" sz="3200" dirty="0"/>
              <a:t>Unit manager</a:t>
            </a:r>
          </a:p>
          <a:p>
            <a:r>
              <a:rPr lang="en-US" sz="3200" dirty="0"/>
              <a:t>Materials manager</a:t>
            </a:r>
          </a:p>
          <a:p>
            <a:r>
              <a:rPr lang="en-US" sz="3200" dirty="0"/>
              <a:t>Purchasing manager</a:t>
            </a:r>
          </a:p>
          <a:p>
            <a:r>
              <a:rPr lang="en-US" sz="3200" dirty="0"/>
              <a:t>Inventory manager</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581891"/>
            <a:ext cx="8299450" cy="831273"/>
          </a:xfrm>
        </p:spPr>
        <p:txBody>
          <a:bodyPr/>
          <a:lstStyle/>
          <a:p>
            <a:r>
              <a:rPr lang="en-US" sz="4000" dirty="0">
                <a:solidFill>
                  <a:schemeClr val="tx2"/>
                </a:solidFill>
              </a:rPr>
              <a:t>Who Enforces User Policies</a:t>
            </a:r>
          </a:p>
        </p:txBody>
      </p:sp>
      <p:sp>
        <p:nvSpPr>
          <p:cNvPr id="15363" name="Content Placeholder 2"/>
          <p:cNvSpPr>
            <a:spLocks noGrp="1"/>
          </p:cNvSpPr>
          <p:nvPr>
            <p:ph idx="1"/>
          </p:nvPr>
        </p:nvSpPr>
        <p:spPr>
          <a:xfrm>
            <a:off x="539750" y="1870365"/>
            <a:ext cx="8299450" cy="4305010"/>
          </a:xfrm>
        </p:spPr>
        <p:txBody>
          <a:bodyPr/>
          <a:lstStyle/>
          <a:p>
            <a:r>
              <a:rPr lang="en-US" sz="3200" dirty="0"/>
              <a:t>Other Users</a:t>
            </a:r>
          </a:p>
          <a:p>
            <a:r>
              <a:rPr lang="en-US" sz="3200" dirty="0"/>
              <a:t>Direct Managers</a:t>
            </a:r>
          </a:p>
          <a:p>
            <a:r>
              <a:rPr lang="en-US" sz="3200" dirty="0"/>
              <a:t>Human Resources</a:t>
            </a:r>
          </a:p>
          <a:p>
            <a:r>
              <a:rPr lang="en-US" sz="3200" dirty="0"/>
              <a:t>Security Administrators</a:t>
            </a:r>
          </a:p>
          <a:p>
            <a:r>
              <a:rPr lang="en-US" sz="3200" dirty="0"/>
              <a:t>Senior Management</a:t>
            </a:r>
          </a:p>
          <a:p>
            <a:r>
              <a:rPr lang="en-US" sz="3200" dirty="0"/>
              <a:t>Legal Department</a:t>
            </a:r>
          </a:p>
          <a:p>
            <a:r>
              <a:rPr lang="en-US" sz="3200" dirty="0"/>
              <a:t>Law Enforcement</a:t>
            </a:r>
            <a:endParaRPr lang="en-US" sz="2000" dirty="0"/>
          </a:p>
        </p:txBody>
      </p:sp>
    </p:spTree>
    <p:extLst>
      <p:ext uri="{BB962C8B-B14F-4D97-AF65-F5344CB8AC3E}">
        <p14:creationId xmlns:p14="http://schemas.microsoft.com/office/powerpoint/2010/main" val="3606698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39750" y="304800"/>
            <a:ext cx="8299450" cy="476250"/>
          </a:xfrm>
        </p:spPr>
        <p:txBody>
          <a:bodyPr/>
          <a:lstStyle/>
          <a:p>
            <a:r>
              <a:rPr lang="en-US" sz="4000" dirty="0">
                <a:solidFill>
                  <a:schemeClr val="tx2"/>
                </a:solidFill>
              </a:rPr>
              <a:t>Roles and Responsibilities</a:t>
            </a:r>
          </a:p>
        </p:txBody>
      </p:sp>
      <p:sp>
        <p:nvSpPr>
          <p:cNvPr id="16387" name="Content Placeholder 2"/>
          <p:cNvSpPr>
            <a:spLocks noGrp="1"/>
          </p:cNvSpPr>
          <p:nvPr>
            <p:ph idx="1"/>
          </p:nvPr>
        </p:nvSpPr>
        <p:spPr>
          <a:xfrm>
            <a:off x="539750" y="1069975"/>
            <a:ext cx="8299450" cy="4648200"/>
          </a:xfrm>
        </p:spPr>
        <p:txBody>
          <a:bodyPr/>
          <a:lstStyle/>
          <a:p>
            <a:r>
              <a:rPr lang="en-US" sz="3200"/>
              <a:t>Executive Managers</a:t>
            </a:r>
          </a:p>
          <a:p>
            <a:pPr lvl="1"/>
            <a:r>
              <a:rPr lang="en-US" sz="2400"/>
              <a:t>Responsible for governance and compliance requirements, and funding and policy support</a:t>
            </a:r>
          </a:p>
          <a:p>
            <a:r>
              <a:rPr lang="en-US" sz="3200"/>
              <a:t>Program and Functional Managers</a:t>
            </a:r>
          </a:p>
          <a:p>
            <a:pPr lvl="1"/>
            <a:r>
              <a:rPr lang="en-US" sz="2400"/>
              <a:t>Responsible for security management, planning, and implementation; also risk management and contingency planning</a:t>
            </a:r>
          </a:p>
          <a:p>
            <a:r>
              <a:rPr lang="en-US" sz="3200"/>
              <a:t>IT Security Program Managers</a:t>
            </a:r>
          </a:p>
          <a:p>
            <a:pPr lvl="1"/>
            <a:r>
              <a:rPr lang="en-US" sz="2400"/>
              <a:t>Responsible for broad training in security planning, system and application security management, risk management, and contingency planning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39750" y="762000"/>
            <a:ext cx="8299450" cy="872836"/>
          </a:xfrm>
        </p:spPr>
        <p:txBody>
          <a:bodyPr/>
          <a:lstStyle/>
          <a:p>
            <a:r>
              <a:rPr lang="en-US" sz="3600" dirty="0">
                <a:solidFill>
                  <a:schemeClr val="tx2"/>
                </a:solidFill>
              </a:rPr>
              <a:t>Roles and Responsibilities (cont’d)</a:t>
            </a:r>
          </a:p>
        </p:txBody>
      </p:sp>
      <p:sp>
        <p:nvSpPr>
          <p:cNvPr id="17411" name="Content Placeholder 2"/>
          <p:cNvSpPr>
            <a:spLocks noGrp="1"/>
          </p:cNvSpPr>
          <p:nvPr>
            <p:ph idx="1"/>
          </p:nvPr>
        </p:nvSpPr>
        <p:spPr>
          <a:xfrm>
            <a:off x="539750" y="1939636"/>
            <a:ext cx="8299450" cy="4235738"/>
          </a:xfrm>
        </p:spPr>
        <p:txBody>
          <a:bodyPr/>
          <a:lstStyle/>
          <a:p>
            <a:r>
              <a:rPr lang="en-US" sz="2800" dirty="0"/>
              <a:t>Auditors</a:t>
            </a:r>
          </a:p>
          <a:p>
            <a:pPr lvl="1"/>
            <a:r>
              <a:rPr lang="en-US" sz="2400" dirty="0"/>
              <a:t>Responsible for broad training in security planning, system and application security management, risk management, and contingency planning</a:t>
            </a:r>
          </a:p>
          <a:p>
            <a:r>
              <a:rPr lang="en-US" sz="2800" dirty="0"/>
              <a:t>Legal Counsel</a:t>
            </a:r>
          </a:p>
          <a:p>
            <a:pPr lvl="1"/>
            <a:r>
              <a:rPr lang="en-US" sz="2400" dirty="0"/>
              <a:t>Responsible for ensuring the legality of policies</a:t>
            </a:r>
          </a:p>
          <a:p>
            <a:r>
              <a:rPr lang="en-US" sz="2800" dirty="0"/>
              <a:t>All Users</a:t>
            </a:r>
          </a:p>
          <a:p>
            <a:pPr lvl="1"/>
            <a:r>
              <a:rPr lang="en-US" sz="2400" dirty="0"/>
              <a:t>Responsible for basic security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CONTEXT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a:xfrm>
            <a:off x="539750" y="304800"/>
            <a:ext cx="8299450" cy="476250"/>
          </a:xfrm>
        </p:spPr>
        <p:txBody>
          <a:bodyPr/>
          <a:lstStyle/>
          <a:p>
            <a:pPr>
              <a:defRPr/>
            </a:pPr>
            <a:r>
              <a:rPr lang="en-US" sz="4000" kern="1200" dirty="0">
                <a:solidFill>
                  <a:schemeClr val="tx2"/>
                </a:solidFill>
              </a:rPr>
              <a:t>Differences and Similarities in User Domain Policies</a:t>
            </a:r>
            <a:endParaRPr lang="en-US" sz="4000" dirty="0">
              <a:solidFill>
                <a:schemeClr val="tx2"/>
              </a:solidFill>
            </a:endParaRPr>
          </a:p>
        </p:txBody>
      </p:sp>
      <p:grpSp>
        <p:nvGrpSpPr>
          <p:cNvPr id="19459" name="Group 4"/>
          <p:cNvGrpSpPr>
            <a:grpSpLocks/>
          </p:cNvGrpSpPr>
          <p:nvPr/>
        </p:nvGrpSpPr>
        <p:grpSpPr bwMode="auto">
          <a:xfrm>
            <a:off x="539750" y="1666875"/>
            <a:ext cx="8299450" cy="4324350"/>
            <a:chOff x="539750" y="1519084"/>
            <a:chExt cx="8299450" cy="4324091"/>
          </a:xfrm>
        </p:grpSpPr>
        <p:sp>
          <p:nvSpPr>
            <p:cNvPr id="6" name="Freeform 5"/>
            <p:cNvSpPr/>
            <p:nvPr/>
          </p:nvSpPr>
          <p:spPr>
            <a:xfrm>
              <a:off x="539750" y="1519084"/>
              <a:ext cx="8299450" cy="661948"/>
            </a:xfrm>
            <a:custGeom>
              <a:avLst/>
              <a:gdLst>
                <a:gd name="connsiteX0" fmla="*/ 0 w 8299450"/>
                <a:gd name="connsiteY0" fmla="*/ 110445 h 662657"/>
                <a:gd name="connsiteX1" fmla="*/ 32349 w 8299450"/>
                <a:gd name="connsiteY1" fmla="*/ 32349 h 662657"/>
                <a:gd name="connsiteX2" fmla="*/ 110445 w 8299450"/>
                <a:gd name="connsiteY2" fmla="*/ 1 h 662657"/>
                <a:gd name="connsiteX3" fmla="*/ 8189005 w 8299450"/>
                <a:gd name="connsiteY3" fmla="*/ 0 h 662657"/>
                <a:gd name="connsiteX4" fmla="*/ 8267101 w 8299450"/>
                <a:gd name="connsiteY4" fmla="*/ 32349 h 662657"/>
                <a:gd name="connsiteX5" fmla="*/ 8299449 w 8299450"/>
                <a:gd name="connsiteY5" fmla="*/ 110445 h 662657"/>
                <a:gd name="connsiteX6" fmla="*/ 8299450 w 8299450"/>
                <a:gd name="connsiteY6" fmla="*/ 552212 h 662657"/>
                <a:gd name="connsiteX7" fmla="*/ 8267101 w 8299450"/>
                <a:gd name="connsiteY7" fmla="*/ 630308 h 662657"/>
                <a:gd name="connsiteX8" fmla="*/ 8189005 w 8299450"/>
                <a:gd name="connsiteY8" fmla="*/ 662657 h 662657"/>
                <a:gd name="connsiteX9" fmla="*/ 110445 w 8299450"/>
                <a:gd name="connsiteY9" fmla="*/ 662657 h 662657"/>
                <a:gd name="connsiteX10" fmla="*/ 32349 w 8299450"/>
                <a:gd name="connsiteY10" fmla="*/ 630308 h 662657"/>
                <a:gd name="connsiteX11" fmla="*/ 0 w 8299450"/>
                <a:gd name="connsiteY11" fmla="*/ 552212 h 662657"/>
                <a:gd name="connsiteX12" fmla="*/ 0 w 8299450"/>
                <a:gd name="connsiteY12" fmla="*/ 110445 h 66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99450" h="662657">
                  <a:moveTo>
                    <a:pt x="0" y="110445"/>
                  </a:moveTo>
                  <a:cubicBezTo>
                    <a:pt x="0" y="81153"/>
                    <a:pt x="11636" y="53061"/>
                    <a:pt x="32349" y="32349"/>
                  </a:cubicBezTo>
                  <a:cubicBezTo>
                    <a:pt x="53061" y="11637"/>
                    <a:pt x="81154" y="0"/>
                    <a:pt x="110445" y="1"/>
                  </a:cubicBezTo>
                  <a:lnTo>
                    <a:pt x="8189005" y="0"/>
                  </a:lnTo>
                  <a:cubicBezTo>
                    <a:pt x="8218297" y="0"/>
                    <a:pt x="8246389" y="11636"/>
                    <a:pt x="8267101" y="32349"/>
                  </a:cubicBezTo>
                  <a:cubicBezTo>
                    <a:pt x="8287813" y="53061"/>
                    <a:pt x="8299450" y="81154"/>
                    <a:pt x="8299449" y="110445"/>
                  </a:cubicBezTo>
                  <a:cubicBezTo>
                    <a:pt x="8299449" y="257701"/>
                    <a:pt x="8299450" y="404956"/>
                    <a:pt x="8299450" y="552212"/>
                  </a:cubicBezTo>
                  <a:cubicBezTo>
                    <a:pt x="8299450" y="581504"/>
                    <a:pt x="8287814" y="609596"/>
                    <a:pt x="8267101" y="630308"/>
                  </a:cubicBezTo>
                  <a:cubicBezTo>
                    <a:pt x="8246389" y="651020"/>
                    <a:pt x="8218296" y="662657"/>
                    <a:pt x="8189005" y="662657"/>
                  </a:cubicBezTo>
                  <a:lnTo>
                    <a:pt x="110445" y="662657"/>
                  </a:lnTo>
                  <a:cubicBezTo>
                    <a:pt x="81153" y="662657"/>
                    <a:pt x="53061" y="651021"/>
                    <a:pt x="32349" y="630308"/>
                  </a:cubicBezTo>
                  <a:cubicBezTo>
                    <a:pt x="11637" y="609596"/>
                    <a:pt x="0" y="581503"/>
                    <a:pt x="0" y="552212"/>
                  </a:cubicBezTo>
                  <a:lnTo>
                    <a:pt x="0" y="11044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00928" tIns="100928" rIns="100928" bIns="100928" spcCol="1270" anchor="ctr"/>
            <a:lstStyle/>
            <a:p>
              <a:pPr defTabSz="800100">
                <a:lnSpc>
                  <a:spcPct val="90000"/>
                </a:lnSpc>
                <a:spcAft>
                  <a:spcPct val="35000"/>
                </a:spcAft>
                <a:defRPr/>
              </a:pPr>
              <a:r>
                <a:rPr lang="en-US" dirty="0"/>
                <a:t>Differences:</a:t>
              </a:r>
            </a:p>
          </p:txBody>
        </p:sp>
        <p:sp>
          <p:nvSpPr>
            <p:cNvPr id="7" name="Freeform 6"/>
            <p:cNvSpPr/>
            <p:nvPr/>
          </p:nvSpPr>
          <p:spPr>
            <a:xfrm>
              <a:off x="539750" y="2263577"/>
              <a:ext cx="8299450" cy="903233"/>
            </a:xfrm>
            <a:custGeom>
              <a:avLst/>
              <a:gdLst>
                <a:gd name="connsiteX0" fmla="*/ 0 w 8299450"/>
                <a:gd name="connsiteY0" fmla="*/ 0 h 902954"/>
                <a:gd name="connsiteX1" fmla="*/ 8299450 w 8299450"/>
                <a:gd name="connsiteY1" fmla="*/ 0 h 902954"/>
                <a:gd name="connsiteX2" fmla="*/ 8299450 w 8299450"/>
                <a:gd name="connsiteY2" fmla="*/ 902954 h 902954"/>
                <a:gd name="connsiteX3" fmla="*/ 0 w 8299450"/>
                <a:gd name="connsiteY3" fmla="*/ 902954 h 902954"/>
                <a:gd name="connsiteX4" fmla="*/ 0 w 8299450"/>
                <a:gd name="connsiteY4" fmla="*/ 0 h 902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9450" h="902954">
                  <a:moveTo>
                    <a:pt x="0" y="0"/>
                  </a:moveTo>
                  <a:lnTo>
                    <a:pt x="8299450" y="0"/>
                  </a:lnTo>
                  <a:lnTo>
                    <a:pt x="8299450" y="902954"/>
                  </a:lnTo>
                  <a:lnTo>
                    <a:pt x="0" y="90295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263508" tIns="22860" rIns="128016" bIns="22860" spcCol="1270"/>
            <a:lstStyle/>
            <a:p>
              <a:pPr marL="171450" lvl="1" indent="-171450" defTabSz="800100">
                <a:lnSpc>
                  <a:spcPct val="90000"/>
                </a:lnSpc>
                <a:spcAft>
                  <a:spcPct val="20000"/>
                </a:spcAft>
                <a:buFontTx/>
                <a:buChar char="••"/>
                <a:defRPr/>
              </a:pPr>
              <a:r>
                <a:rPr lang="en-US" dirty="0"/>
                <a:t>Public organizations must follow Sarbanes Oxley Compliance (SOX), Health Insurance Portability and Accountability Act (HIPPA), and other compliance laws</a:t>
              </a:r>
            </a:p>
            <a:p>
              <a:pPr marL="171450" lvl="1" indent="-171450" defTabSz="800100">
                <a:lnSpc>
                  <a:spcPct val="90000"/>
                </a:lnSpc>
                <a:spcAft>
                  <a:spcPct val="20000"/>
                </a:spcAft>
                <a:buFontTx/>
                <a:buChar char="••"/>
                <a:defRPr/>
              </a:pPr>
              <a:r>
                <a:rPr lang="en-US" dirty="0"/>
                <a:t>Private organizations are often smaller and easier to control from a user standpoint</a:t>
              </a:r>
            </a:p>
            <a:p>
              <a:pPr marL="171450" lvl="1" indent="-171450" defTabSz="800100">
                <a:lnSpc>
                  <a:spcPct val="90000"/>
                </a:lnSpc>
                <a:spcAft>
                  <a:spcPct val="20000"/>
                </a:spcAft>
                <a:buFontTx/>
                <a:buChar char="••"/>
                <a:defRPr/>
              </a:pPr>
              <a:r>
                <a:rPr lang="en-US" dirty="0"/>
                <a:t>Private organizations may not follow public-compliance laws</a:t>
              </a:r>
            </a:p>
          </p:txBody>
        </p:sp>
        <p:sp>
          <p:nvSpPr>
            <p:cNvPr id="8" name="Freeform 7"/>
            <p:cNvSpPr/>
            <p:nvPr/>
          </p:nvSpPr>
          <p:spPr>
            <a:xfrm>
              <a:off x="539750" y="4009723"/>
              <a:ext cx="8299450" cy="665122"/>
            </a:xfrm>
            <a:custGeom>
              <a:avLst/>
              <a:gdLst>
                <a:gd name="connsiteX0" fmla="*/ 0 w 8299450"/>
                <a:gd name="connsiteY0" fmla="*/ 111010 h 666044"/>
                <a:gd name="connsiteX1" fmla="*/ 32514 w 8299450"/>
                <a:gd name="connsiteY1" fmla="*/ 32514 h 666044"/>
                <a:gd name="connsiteX2" fmla="*/ 111010 w 8299450"/>
                <a:gd name="connsiteY2" fmla="*/ 0 h 666044"/>
                <a:gd name="connsiteX3" fmla="*/ 8188440 w 8299450"/>
                <a:gd name="connsiteY3" fmla="*/ 0 h 666044"/>
                <a:gd name="connsiteX4" fmla="*/ 8266936 w 8299450"/>
                <a:gd name="connsiteY4" fmla="*/ 32514 h 666044"/>
                <a:gd name="connsiteX5" fmla="*/ 8299450 w 8299450"/>
                <a:gd name="connsiteY5" fmla="*/ 111010 h 666044"/>
                <a:gd name="connsiteX6" fmla="*/ 8299450 w 8299450"/>
                <a:gd name="connsiteY6" fmla="*/ 555034 h 666044"/>
                <a:gd name="connsiteX7" fmla="*/ 8266936 w 8299450"/>
                <a:gd name="connsiteY7" fmla="*/ 633530 h 666044"/>
                <a:gd name="connsiteX8" fmla="*/ 8188440 w 8299450"/>
                <a:gd name="connsiteY8" fmla="*/ 666044 h 666044"/>
                <a:gd name="connsiteX9" fmla="*/ 111010 w 8299450"/>
                <a:gd name="connsiteY9" fmla="*/ 666044 h 666044"/>
                <a:gd name="connsiteX10" fmla="*/ 32514 w 8299450"/>
                <a:gd name="connsiteY10" fmla="*/ 633530 h 666044"/>
                <a:gd name="connsiteX11" fmla="*/ 0 w 8299450"/>
                <a:gd name="connsiteY11" fmla="*/ 555034 h 666044"/>
                <a:gd name="connsiteX12" fmla="*/ 0 w 8299450"/>
                <a:gd name="connsiteY12" fmla="*/ 111010 h 66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99450" h="666044">
                  <a:moveTo>
                    <a:pt x="0" y="111010"/>
                  </a:moveTo>
                  <a:cubicBezTo>
                    <a:pt x="0" y="81568"/>
                    <a:pt x="11696" y="53332"/>
                    <a:pt x="32514" y="32514"/>
                  </a:cubicBezTo>
                  <a:cubicBezTo>
                    <a:pt x="53332" y="11696"/>
                    <a:pt x="81568" y="0"/>
                    <a:pt x="111010" y="0"/>
                  </a:cubicBezTo>
                  <a:lnTo>
                    <a:pt x="8188440" y="0"/>
                  </a:lnTo>
                  <a:cubicBezTo>
                    <a:pt x="8217882" y="0"/>
                    <a:pt x="8246118" y="11696"/>
                    <a:pt x="8266936" y="32514"/>
                  </a:cubicBezTo>
                  <a:cubicBezTo>
                    <a:pt x="8287754" y="53332"/>
                    <a:pt x="8299450" y="81568"/>
                    <a:pt x="8299450" y="111010"/>
                  </a:cubicBezTo>
                  <a:lnTo>
                    <a:pt x="8299450" y="555034"/>
                  </a:lnTo>
                  <a:cubicBezTo>
                    <a:pt x="8299450" y="584476"/>
                    <a:pt x="8287754" y="612712"/>
                    <a:pt x="8266936" y="633530"/>
                  </a:cubicBezTo>
                  <a:cubicBezTo>
                    <a:pt x="8246118" y="654348"/>
                    <a:pt x="8217882" y="666044"/>
                    <a:pt x="8188440" y="666044"/>
                  </a:cubicBezTo>
                  <a:lnTo>
                    <a:pt x="111010" y="666044"/>
                  </a:lnTo>
                  <a:cubicBezTo>
                    <a:pt x="81568" y="666044"/>
                    <a:pt x="53332" y="654348"/>
                    <a:pt x="32514" y="633530"/>
                  </a:cubicBezTo>
                  <a:cubicBezTo>
                    <a:pt x="11696" y="612712"/>
                    <a:pt x="0" y="584476"/>
                    <a:pt x="0" y="555034"/>
                  </a:cubicBezTo>
                  <a:lnTo>
                    <a:pt x="0" y="11101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01094" tIns="101094" rIns="101094" bIns="101094" spcCol="1270" anchor="ctr"/>
            <a:lstStyle/>
            <a:p>
              <a:pPr defTabSz="800100">
                <a:lnSpc>
                  <a:spcPct val="90000"/>
                </a:lnSpc>
                <a:spcAft>
                  <a:spcPct val="35000"/>
                </a:spcAft>
                <a:defRPr/>
              </a:pPr>
              <a:r>
                <a:rPr lang="en-US" dirty="0"/>
                <a:t>Similarities:</a:t>
              </a:r>
            </a:p>
          </p:txBody>
        </p:sp>
        <p:sp>
          <p:nvSpPr>
            <p:cNvPr id="9" name="Freeform 8"/>
            <p:cNvSpPr/>
            <p:nvPr/>
          </p:nvSpPr>
          <p:spPr>
            <a:xfrm>
              <a:off x="539750" y="4784376"/>
              <a:ext cx="8299450" cy="1058799"/>
            </a:xfrm>
            <a:custGeom>
              <a:avLst/>
              <a:gdLst>
                <a:gd name="connsiteX0" fmla="*/ 0 w 8299450"/>
                <a:gd name="connsiteY0" fmla="*/ 0 h 1058804"/>
                <a:gd name="connsiteX1" fmla="*/ 8299450 w 8299450"/>
                <a:gd name="connsiteY1" fmla="*/ 0 h 1058804"/>
                <a:gd name="connsiteX2" fmla="*/ 8299450 w 8299450"/>
                <a:gd name="connsiteY2" fmla="*/ 1058804 h 1058804"/>
                <a:gd name="connsiteX3" fmla="*/ 0 w 8299450"/>
                <a:gd name="connsiteY3" fmla="*/ 1058804 h 1058804"/>
                <a:gd name="connsiteX4" fmla="*/ 0 w 8299450"/>
                <a:gd name="connsiteY4" fmla="*/ 0 h 105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9450" h="1058804">
                  <a:moveTo>
                    <a:pt x="0" y="0"/>
                  </a:moveTo>
                  <a:lnTo>
                    <a:pt x="8299450" y="0"/>
                  </a:lnTo>
                  <a:lnTo>
                    <a:pt x="8299450" y="1058804"/>
                  </a:lnTo>
                  <a:lnTo>
                    <a:pt x="0" y="10588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263508" tIns="22860" rIns="128016" bIns="22860" spcCol="1270"/>
            <a:lstStyle/>
            <a:p>
              <a:pPr marL="171450" lvl="1" indent="-171450" defTabSz="800100">
                <a:lnSpc>
                  <a:spcPct val="90000"/>
                </a:lnSpc>
                <a:spcAft>
                  <a:spcPct val="20000"/>
                </a:spcAft>
                <a:buFontTx/>
                <a:buChar char="••"/>
                <a:defRPr/>
              </a:pPr>
              <a:r>
                <a:rPr lang="en-US" dirty="0"/>
                <a:t>Private organizations may follow public-compliance laws depending on their governance requirements</a:t>
              </a:r>
            </a:p>
            <a:p>
              <a:pPr marL="171450" lvl="1" indent="-171450" defTabSz="800100">
                <a:lnSpc>
                  <a:spcPct val="90000"/>
                </a:lnSpc>
                <a:spcAft>
                  <a:spcPct val="20000"/>
                </a:spcAft>
                <a:buFontTx/>
                <a:buChar char="••"/>
                <a:defRPr/>
              </a:pPr>
              <a:r>
                <a:rPr lang="en-US" dirty="0"/>
                <a:t>Public organizations may be small is size and thus have similar control over their user populations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457200" y="1752600"/>
            <a:ext cx="8001000" cy="3127375"/>
          </a:xfrm>
        </p:spPr>
        <p:txBody>
          <a:bodyPr/>
          <a:lstStyle/>
          <a:p>
            <a:pPr algn="ctr"/>
            <a:br>
              <a:rPr lang="en-US" sz="4000">
                <a:solidFill>
                  <a:schemeClr val="tx1"/>
                </a:solidFill>
              </a:rPr>
            </a:br>
            <a:r>
              <a:rPr lang="en-US" sz="4000">
                <a:solidFill>
                  <a:schemeClr val="tx1"/>
                </a:solidFill>
              </a:rPr>
              <a:t>EXPLORE: RATIONALE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a:xfrm>
            <a:off x="539750" y="304800"/>
            <a:ext cx="8299450" cy="476250"/>
          </a:xfrm>
        </p:spPr>
        <p:txBody>
          <a:bodyPr/>
          <a:lstStyle/>
          <a:p>
            <a:pPr>
              <a:defRPr/>
            </a:pPr>
            <a:r>
              <a:rPr lang="en-US" sz="4000" kern="1200" dirty="0">
                <a:solidFill>
                  <a:schemeClr val="tx2"/>
                </a:solidFill>
              </a:rPr>
              <a:t>The User as the Weakest Link in the Security Chain</a:t>
            </a:r>
            <a:endParaRPr lang="en-US" sz="4000" dirty="0">
              <a:solidFill>
                <a:schemeClr val="tx2"/>
              </a:solidFill>
            </a:endParaRPr>
          </a:p>
        </p:txBody>
      </p:sp>
      <p:graphicFrame>
        <p:nvGraphicFramePr>
          <p:cNvPr id="6" name="Content Placeholder 3"/>
          <p:cNvGraphicFramePr>
            <a:graphicFrameLocks noGrp="1"/>
          </p:cNvGraphicFramePr>
          <p:nvPr>
            <p:ph idx="1"/>
          </p:nvPr>
        </p:nvGraphicFramePr>
        <p:xfrm>
          <a:off x="539750" y="1558645"/>
          <a:ext cx="829945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a:xfrm>
            <a:off x="539750" y="484909"/>
            <a:ext cx="8299450" cy="748146"/>
          </a:xfrm>
        </p:spPr>
        <p:txBody>
          <a:bodyPr/>
          <a:lstStyle/>
          <a:p>
            <a:pPr>
              <a:defRPr/>
            </a:pPr>
            <a:r>
              <a:rPr lang="en-US" sz="3600" kern="1200" dirty="0">
                <a:solidFill>
                  <a:schemeClr val="tx2"/>
                </a:solidFill>
              </a:rPr>
              <a:t>Why Users Violate Policies</a:t>
            </a:r>
            <a:endParaRPr lang="en-US" sz="3600" dirty="0">
              <a:solidFill>
                <a:schemeClr val="tx2"/>
              </a:solidFill>
            </a:endParaRPr>
          </a:p>
        </p:txBody>
      </p:sp>
      <p:graphicFrame>
        <p:nvGraphicFramePr>
          <p:cNvPr id="6" name="Content Placeholder 3"/>
          <p:cNvGraphicFramePr>
            <a:graphicFrameLocks noGrp="1"/>
          </p:cNvGraphicFramePr>
          <p:nvPr>
            <p:ph idx="1"/>
            <p:extLst>
              <p:ext uri="{D42A27DB-BD31-4B8C-83A1-F6EECF244321}">
                <p14:modId xmlns:p14="http://schemas.microsoft.com/office/powerpoint/2010/main" val="4035124098"/>
              </p:ext>
            </p:extLst>
          </p:nvPr>
        </p:nvGraphicFramePr>
        <p:xfrm>
          <a:off x="983673" y="1420100"/>
          <a:ext cx="673331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3492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3"/>
          <p:cNvSpPr>
            <a:spLocks noGrp="1"/>
          </p:cNvSpPr>
          <p:nvPr>
            <p:ph type="title"/>
          </p:nvPr>
        </p:nvSpPr>
        <p:spPr>
          <a:xfrm>
            <a:off x="539750" y="419100"/>
            <a:ext cx="8299450" cy="990600"/>
          </a:xfrm>
        </p:spPr>
        <p:txBody>
          <a:bodyPr/>
          <a:lstStyle/>
          <a:p>
            <a:r>
              <a:rPr lang="en-US" sz="4000">
                <a:ea typeface="ＭＳ Ｐゴシック" pitchFamily="106" charset="-128"/>
              </a:rPr>
              <a:t>Summary</a:t>
            </a:r>
          </a:p>
        </p:txBody>
      </p:sp>
      <p:sp>
        <p:nvSpPr>
          <p:cNvPr id="22531" name="Content Placeholder 4"/>
          <p:cNvSpPr>
            <a:spLocks/>
          </p:cNvSpPr>
          <p:nvPr/>
        </p:nvSpPr>
        <p:spPr bwMode="auto">
          <a:xfrm>
            <a:off x="539750" y="1452563"/>
            <a:ext cx="82994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3363" indent="-233363" eaLnBrk="0" hangingPunct="0">
              <a:spcBef>
                <a:spcPct val="20000"/>
              </a:spcBef>
              <a:buClr>
                <a:srgbClr val="ED6E2E"/>
              </a:buClr>
              <a:buFont typeface="Wingdings" pitchFamily="2" charset="2"/>
              <a:buChar char="§"/>
            </a:pPr>
            <a:r>
              <a:rPr lang="en-US" sz="3200"/>
              <a:t>In this presentation, the following were covered:</a:t>
            </a:r>
          </a:p>
          <a:p>
            <a:pPr marL="690563" lvl="1" indent="-233363" eaLnBrk="0" hangingPunct="0">
              <a:spcBef>
                <a:spcPct val="20000"/>
              </a:spcBef>
              <a:buClr>
                <a:srgbClr val="ED6E2E"/>
              </a:buClr>
              <a:buFont typeface="Arial" charset="0"/>
              <a:buChar char="•"/>
            </a:pPr>
            <a:r>
              <a:rPr lang="en-US" sz="2600"/>
              <a:t>Different user type and user access requirements in an organization</a:t>
            </a:r>
          </a:p>
          <a:p>
            <a:pPr marL="690563" lvl="1" indent="-233363" eaLnBrk="0" hangingPunct="0">
              <a:spcBef>
                <a:spcPct val="20000"/>
              </a:spcBef>
              <a:buClr>
                <a:srgbClr val="ED6E2E"/>
              </a:buClr>
              <a:buFont typeface="Arial" charset="0"/>
              <a:buChar char="•"/>
            </a:pPr>
            <a:r>
              <a:rPr lang="en-US" sz="2600"/>
              <a:t>AUP and PAA</a:t>
            </a:r>
          </a:p>
          <a:p>
            <a:pPr marL="690563" lvl="1" indent="-233363" eaLnBrk="0" hangingPunct="0">
              <a:spcBef>
                <a:spcPct val="20000"/>
              </a:spcBef>
              <a:buClr>
                <a:srgbClr val="ED6E2E"/>
              </a:buClr>
              <a:buFont typeface="Arial" charset="0"/>
              <a:buChar char="•"/>
            </a:pPr>
            <a:r>
              <a:rPr lang="en-US" sz="2600"/>
              <a:t>People responsible for developing user policies</a:t>
            </a:r>
          </a:p>
          <a:p>
            <a:pPr marL="690563" lvl="1" indent="-233363" eaLnBrk="0" hangingPunct="0">
              <a:spcBef>
                <a:spcPct val="20000"/>
              </a:spcBef>
              <a:buClr>
                <a:srgbClr val="ED6E2E"/>
              </a:buClr>
              <a:buFont typeface="Arial" charset="0"/>
              <a:buChar char="•"/>
            </a:pPr>
            <a:r>
              <a:rPr lang="en-US" sz="2600"/>
              <a:t>Roles and responsibilities associated with user policies</a:t>
            </a:r>
          </a:p>
          <a:p>
            <a:pPr marL="690563" lvl="1" indent="-233363" eaLnBrk="0" hangingPunct="0">
              <a:spcBef>
                <a:spcPct val="20000"/>
              </a:spcBef>
              <a:buClr>
                <a:srgbClr val="ED6E2E"/>
              </a:buClr>
              <a:buFont typeface="Arial" charset="0"/>
              <a:buChar char="•"/>
            </a:pPr>
            <a:r>
              <a:rPr lang="en-US" sz="2600"/>
              <a:t>User policies in public and private organizations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39750" y="689260"/>
            <a:ext cx="8299450" cy="990600"/>
          </a:xfrm>
        </p:spPr>
        <p:txBody>
          <a:bodyPr/>
          <a:lstStyle/>
          <a:p>
            <a:r>
              <a:rPr lang="en-US" sz="3600" dirty="0"/>
              <a:t>Discussion and Assignments</a:t>
            </a:r>
          </a:p>
        </p:txBody>
      </p:sp>
      <p:sp>
        <p:nvSpPr>
          <p:cNvPr id="3" name="Content Placeholder 2"/>
          <p:cNvSpPr>
            <a:spLocks noGrp="1"/>
          </p:cNvSpPr>
          <p:nvPr>
            <p:ph idx="1"/>
          </p:nvPr>
        </p:nvSpPr>
        <p:spPr>
          <a:xfrm>
            <a:off x="539750" y="2216726"/>
            <a:ext cx="8299450" cy="3726873"/>
          </a:xfrm>
        </p:spPr>
        <p:txBody>
          <a:bodyPr/>
          <a:lstStyle/>
          <a:p>
            <a:pPr>
              <a:defRPr/>
            </a:pPr>
            <a:r>
              <a:rPr lang="en-US" sz="2800" dirty="0"/>
              <a:t>Discussion 5: Best Practices for User Policies</a:t>
            </a:r>
          </a:p>
          <a:p>
            <a:pPr>
              <a:defRPr/>
            </a:pPr>
            <a:r>
              <a:rPr lang="en-US" sz="2800" dirty="0"/>
              <a:t> Assignment 5: Create User Policy</a:t>
            </a:r>
          </a:p>
          <a:p>
            <a:pPr marL="0" indent="0">
              <a:buNone/>
              <a:defRPr/>
            </a:pPr>
            <a:endParaRPr lang="en-US" sz="2800" dirty="0"/>
          </a:p>
          <a:p>
            <a:pPr marL="0" indent="0">
              <a:buFont typeface="Wingdings" pitchFamily="2" charset="2"/>
              <a:buNone/>
              <a:defRPr/>
            </a:pPr>
            <a:endParaRPr lang="en-US" sz="2800" dirty="0"/>
          </a:p>
          <a:p>
            <a:pPr>
              <a:defRPr/>
            </a:pPr>
            <a:endParaRPr lang="en-US" sz="2800" dirty="0"/>
          </a:p>
        </p:txBody>
      </p:sp>
    </p:spTree>
    <p:extLst>
      <p:ext uri="{BB962C8B-B14F-4D97-AF65-F5344CB8AC3E}">
        <p14:creationId xmlns:p14="http://schemas.microsoft.com/office/powerpoint/2010/main" val="3603733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9750" y="401782"/>
            <a:ext cx="8299450" cy="990600"/>
          </a:xfrm>
        </p:spPr>
        <p:txBody>
          <a:bodyPr/>
          <a:lstStyle/>
          <a:p>
            <a:r>
              <a:rPr lang="en-US" sz="3600" dirty="0"/>
              <a:t>Lab Activities</a:t>
            </a:r>
          </a:p>
        </p:txBody>
      </p:sp>
      <p:sp>
        <p:nvSpPr>
          <p:cNvPr id="3" name="Content Placeholder 2"/>
          <p:cNvSpPr>
            <a:spLocks noGrp="1"/>
          </p:cNvSpPr>
          <p:nvPr>
            <p:ph idx="1"/>
          </p:nvPr>
        </p:nvSpPr>
        <p:spPr>
          <a:xfrm>
            <a:off x="539750" y="1392383"/>
            <a:ext cx="8299450" cy="5077694"/>
          </a:xfrm>
        </p:spPr>
        <p:txBody>
          <a:bodyPr/>
          <a:lstStyle/>
          <a:p>
            <a:pPr>
              <a:defRPr/>
            </a:pPr>
            <a:r>
              <a:rPr lang="en-US" sz="2600" dirty="0"/>
              <a:t>Lab is in the lab manual on </a:t>
            </a:r>
            <a:r>
              <a:rPr lang="en-US" sz="2600" dirty="0" err="1"/>
              <a:t>cms</a:t>
            </a:r>
            <a:endParaRPr lang="en-US" sz="2600" dirty="0"/>
          </a:p>
          <a:p>
            <a:pPr>
              <a:defRPr/>
            </a:pPr>
            <a:r>
              <a:rPr lang="en-US" sz="2600" dirty="0"/>
              <a:t>Lab 5 Craft an Organization-Wide Security Awareness Policy</a:t>
            </a:r>
          </a:p>
          <a:p>
            <a:pPr>
              <a:defRPr/>
            </a:pPr>
            <a:r>
              <a:rPr lang="en-US" sz="2600" dirty="0"/>
              <a:t>Review Chapter 8</a:t>
            </a:r>
          </a:p>
          <a:p>
            <a:pPr>
              <a:defRPr/>
            </a:pPr>
            <a:r>
              <a:rPr lang="en-US" sz="2600" dirty="0"/>
              <a:t>Reading Assignment 5, Chapter 9</a:t>
            </a:r>
          </a:p>
          <a:p>
            <a:pPr>
              <a:defRPr/>
            </a:pPr>
            <a:r>
              <a:rPr lang="en-US" sz="2400" i="1" dirty="0"/>
              <a:t>Assigned Reading</a:t>
            </a:r>
            <a:r>
              <a:rPr lang="en-US" sz="2400" dirty="0"/>
              <a:t>: - Ultrasound theft results in data breach at health care company Kaiser Permanente, Second Circuit rules in favor of Microsoft, gov't can't force access to email on Irish server (SC Magazine, July 2016) and Office of Budget and Management: Federal Cybersecurity Workforce Strategy (July 2016)</a:t>
            </a:r>
          </a:p>
          <a:p>
            <a:pPr>
              <a:defRPr/>
            </a:pPr>
            <a:endParaRPr lang="en-US" sz="2600" dirty="0"/>
          </a:p>
          <a:p>
            <a:pPr>
              <a:defRPr/>
            </a:pPr>
            <a:endParaRPr lang="en-US" sz="2600" dirty="0"/>
          </a:p>
        </p:txBody>
      </p:sp>
    </p:spTree>
    <p:extLst>
      <p:ext uri="{BB962C8B-B14F-4D97-AF65-F5344CB8AC3E}">
        <p14:creationId xmlns:p14="http://schemas.microsoft.com/office/powerpoint/2010/main" val="38264381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4CA79F13-E1AA-4D61-B102-462BE4659563}">
  <ds:schemaRefs>
    <ds:schemaRef ds:uri="http://schemas.microsoft.com/sharepoint/v3/contenttype/forms"/>
  </ds:schemaRefs>
</ds:datastoreItem>
</file>

<file path=customXml/itemProps2.xml><?xml version="1.0" encoding="utf-8"?>
<ds:datastoreItem xmlns:ds="http://schemas.openxmlformats.org/officeDocument/2006/customXml" ds:itemID="{6D22D93F-0676-43D4-AA3C-029504DFC605}">
  <ds:schemaRefs>
    <ds:schemaRef ds:uri="http://schemas.microsoft.com/office/2006/documentManagement/types"/>
    <ds:schemaRef ds:uri="http://www.w3.org/XML/1998/namespace"/>
    <ds:schemaRef ds:uri="http://schemas.microsoft.com/office/2006/metadata/properties"/>
    <ds:schemaRef ds:uri="http://purl.org/dc/dcmitype/"/>
    <ds:schemaRef ds:uri="http://purl.org/dc/elements/1.1/"/>
    <ds:schemaRef ds:uri="http://purl.org/dc/terms/"/>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FC179457-D557-43E5-8F5D-F70BD37A9867}">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
  <TotalTime>22853</TotalTime>
  <Words>831</Words>
  <Application>Microsoft Office PowerPoint</Application>
  <PresentationFormat>On-screen Show (4:3)</PresentationFormat>
  <Paragraphs>124</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Times</vt:lpstr>
      <vt:lpstr>Times New Roman</vt:lpstr>
      <vt:lpstr>Wingdings</vt:lpstr>
      <vt:lpstr>Blank Presentation</vt:lpstr>
      <vt:lpstr>PowerPoint Presentation</vt:lpstr>
      <vt:lpstr>Learning Objective</vt:lpstr>
      <vt:lpstr>Key Concepts</vt:lpstr>
      <vt:lpstr> EXPLORE: CONCEPTS</vt:lpstr>
      <vt:lpstr>Discussion</vt:lpstr>
      <vt:lpstr>AUP</vt:lpstr>
      <vt:lpstr>AUP (cont’d)</vt:lpstr>
      <vt:lpstr>PAA</vt:lpstr>
      <vt:lpstr>SAP</vt:lpstr>
      <vt:lpstr> EXPLORE: PROCESS</vt:lpstr>
      <vt:lpstr>Different Types of Users Within an Organization</vt:lpstr>
      <vt:lpstr>Different User-Access Requirements</vt:lpstr>
      <vt:lpstr> EXPLORE: ROLES</vt:lpstr>
      <vt:lpstr>Who Develops User Policies</vt:lpstr>
      <vt:lpstr>Who Develops User Policies (cont’d)</vt:lpstr>
      <vt:lpstr>Who Enforces User Policies</vt:lpstr>
      <vt:lpstr>Roles and Responsibilities</vt:lpstr>
      <vt:lpstr>Roles and Responsibilities (cont’d)</vt:lpstr>
      <vt:lpstr> EXPLORE: CONTEXT</vt:lpstr>
      <vt:lpstr>Differences and Similarities in User Domain Policies</vt:lpstr>
      <vt:lpstr> EXPLORE: RATIONALE</vt:lpstr>
      <vt:lpstr>The User as the Weakest Link in the Security Chain</vt:lpstr>
      <vt:lpstr>Why Users Violate Policies</vt:lpstr>
      <vt:lpstr>Summary</vt:lpstr>
      <vt:lpstr>Discussion and Assignments</vt:lpstr>
      <vt:lpstr>Lab Activities</vt:lpstr>
    </vt:vector>
  </TitlesOfParts>
  <Company>Bersin &amp;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Josh Bersin</dc:creator>
  <cp:lastModifiedBy>Chi Nguyen Dinh</cp:lastModifiedBy>
  <cp:revision>3162</cp:revision>
  <cp:lastPrinted>2008-07-07T18:08:55Z</cp:lastPrinted>
  <dcterms:created xsi:type="dcterms:W3CDTF">1999-09-23T04:05:21Z</dcterms:created>
  <dcterms:modified xsi:type="dcterms:W3CDTF">2023-09-22T09:35:12Z</dcterms:modified>
</cp:coreProperties>
</file>