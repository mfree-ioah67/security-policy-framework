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Lst>
  <p:notesMasterIdLst>
    <p:notesMasterId r:id="rId37"/>
  </p:notesMasterIdLst>
  <p:handoutMasterIdLst>
    <p:handoutMasterId r:id="rId38"/>
  </p:handoutMasterIdLst>
  <p:sldIdLst>
    <p:sldId id="1507" r:id="rId6"/>
    <p:sldId id="1514" r:id="rId7"/>
    <p:sldId id="1541" r:id="rId8"/>
    <p:sldId id="1512" r:id="rId9"/>
    <p:sldId id="1518" r:id="rId10"/>
    <p:sldId id="1538" r:id="rId11"/>
    <p:sldId id="1544" r:id="rId12"/>
    <p:sldId id="1545" r:id="rId13"/>
    <p:sldId id="1539" r:id="rId14"/>
    <p:sldId id="1546" r:id="rId15"/>
    <p:sldId id="1540" r:id="rId16"/>
    <p:sldId id="1527" r:id="rId17"/>
    <p:sldId id="1528" r:id="rId18"/>
    <p:sldId id="1519" r:id="rId19"/>
    <p:sldId id="1529" r:id="rId20"/>
    <p:sldId id="1530" r:id="rId21"/>
    <p:sldId id="1521" r:id="rId22"/>
    <p:sldId id="1531" r:id="rId23"/>
    <p:sldId id="1532" r:id="rId24"/>
    <p:sldId id="1547" r:id="rId25"/>
    <p:sldId id="1549" r:id="rId26"/>
    <p:sldId id="1548" r:id="rId27"/>
    <p:sldId id="1523" r:id="rId28"/>
    <p:sldId id="1533" r:id="rId29"/>
    <p:sldId id="1534" r:id="rId30"/>
    <p:sldId id="1535" r:id="rId31"/>
    <p:sldId id="1536" r:id="rId32"/>
    <p:sldId id="1537" r:id="rId33"/>
    <p:sldId id="1525" r:id="rId34"/>
    <p:sldId id="1542" r:id="rId35"/>
    <p:sldId id="1543" r:id="rId36"/>
  </p:sldIdLst>
  <p:sldSz cx="9144000" cy="6858000" type="screen4x3"/>
  <p:notesSz cx="7010400" cy="9296400"/>
  <p:custDataLst>
    <p:tags r:id="rId39"/>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03" autoAdjust="0"/>
    <p:restoredTop sz="93076" autoAdjust="0"/>
  </p:normalViewPr>
  <p:slideViewPr>
    <p:cSldViewPr snapToGrid="0" snapToObjects="1">
      <p:cViewPr varScale="1">
        <p:scale>
          <a:sx n="73" d="100"/>
          <a:sy n="73" d="100"/>
        </p:scale>
        <p:origin x="1824" y="62"/>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604"/>
    </p:cViewPr>
  </p:sorterViewPr>
  <p:notesViewPr>
    <p:cSldViewPr snapToGrid="0" snapToObjects="1">
      <p:cViewPr varScale="1">
        <p:scale>
          <a:sx n="93" d="100"/>
          <a:sy n="93" d="100"/>
        </p:scale>
        <p:origin x="-2532" y="-12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gs" Target="tags/tag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59E35F-9306-4EDF-84E1-65E0E426060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2B93F64-B3C0-40E0-BCF6-1A9D6F8B4B73}">
      <dgm:prSet custT="1"/>
      <dgm:spPr/>
      <dgm:t>
        <a:bodyPr/>
        <a:lstStyle/>
        <a:p>
          <a:pPr rtl="0"/>
          <a:r>
            <a:rPr lang="en-US" sz="1800" dirty="0"/>
            <a:t>Choosing the framework that works in your organization is not easy </a:t>
          </a:r>
        </a:p>
      </dgm:t>
    </dgm:pt>
    <dgm:pt modelId="{BD612204-2336-498E-AF05-6A2CB559B3CE}" type="parTrans" cxnId="{FE06E15D-DC19-4957-8442-E742CA76FCB0}">
      <dgm:prSet/>
      <dgm:spPr/>
      <dgm:t>
        <a:bodyPr/>
        <a:lstStyle/>
        <a:p>
          <a:endParaRPr lang="en-US"/>
        </a:p>
      </dgm:t>
    </dgm:pt>
    <dgm:pt modelId="{560D7F2C-A50F-44C6-9C63-E7D054A68ECD}" type="sibTrans" cxnId="{FE06E15D-DC19-4957-8442-E742CA76FCB0}">
      <dgm:prSet/>
      <dgm:spPr/>
      <dgm:t>
        <a:bodyPr/>
        <a:lstStyle/>
        <a:p>
          <a:endParaRPr lang="en-US"/>
        </a:p>
      </dgm:t>
    </dgm:pt>
    <dgm:pt modelId="{B98AAF40-951A-4F1B-9802-26486B8BC945}">
      <dgm:prSet custT="1"/>
      <dgm:spPr/>
      <dgm:t>
        <a:bodyPr/>
        <a:lstStyle/>
        <a:p>
          <a:pPr rtl="0"/>
          <a:r>
            <a:rPr lang="en-US" sz="1800" dirty="0"/>
            <a:t>The one selected will be based on the organizational type, risk, and view from top management</a:t>
          </a:r>
        </a:p>
      </dgm:t>
    </dgm:pt>
    <dgm:pt modelId="{61644E5D-7ACB-4ACA-95AF-3B454041753C}" type="parTrans" cxnId="{D6E42231-729E-4D18-9A6B-FCAC4BAA2E30}">
      <dgm:prSet/>
      <dgm:spPr/>
      <dgm:t>
        <a:bodyPr/>
        <a:lstStyle/>
        <a:p>
          <a:endParaRPr lang="en-US"/>
        </a:p>
      </dgm:t>
    </dgm:pt>
    <dgm:pt modelId="{06F62ECB-66C8-4053-AE09-356BF14CE810}" type="sibTrans" cxnId="{D6E42231-729E-4D18-9A6B-FCAC4BAA2E30}">
      <dgm:prSet/>
      <dgm:spPr/>
      <dgm:t>
        <a:bodyPr/>
        <a:lstStyle/>
        <a:p>
          <a:endParaRPr lang="en-US"/>
        </a:p>
      </dgm:t>
    </dgm:pt>
    <dgm:pt modelId="{CA4A6D60-D76E-43B0-A845-A5A6A19DAA88}">
      <dgm:prSet custT="1"/>
      <dgm:spPr/>
      <dgm:t>
        <a:bodyPr/>
        <a:lstStyle/>
        <a:p>
          <a:pPr rtl="0"/>
          <a:r>
            <a:rPr lang="en-US" sz="1800" dirty="0"/>
            <a:t>A simplified security policy framework domain model</a:t>
          </a:r>
        </a:p>
      </dgm:t>
    </dgm:pt>
    <dgm:pt modelId="{FE9D4E98-DEEE-470E-9F46-EA454ADD67CE}" type="parTrans" cxnId="{A782D9B6-613A-4F32-9827-29734415E76F}">
      <dgm:prSet/>
      <dgm:spPr/>
      <dgm:t>
        <a:bodyPr/>
        <a:lstStyle/>
        <a:p>
          <a:endParaRPr lang="en-US"/>
        </a:p>
      </dgm:t>
    </dgm:pt>
    <dgm:pt modelId="{0359EBE0-B040-42EA-8A0A-5AB34A5DDEDD}" type="sibTrans" cxnId="{A782D9B6-613A-4F32-9827-29734415E76F}">
      <dgm:prSet/>
      <dgm:spPr/>
      <dgm:t>
        <a:bodyPr/>
        <a:lstStyle/>
        <a:p>
          <a:endParaRPr lang="en-US"/>
        </a:p>
      </dgm:t>
    </dgm:pt>
    <dgm:pt modelId="{874CBC14-924E-4EE7-87C8-8968F2E5D836}">
      <dgm:prSet custT="1"/>
      <dgm:spPr/>
      <dgm:t>
        <a:bodyPr/>
        <a:lstStyle/>
        <a:p>
          <a:pPr rtl="0"/>
          <a:r>
            <a:rPr lang="en-US" sz="1800" dirty="0"/>
            <a:t>Federal Information Security Management act of 2002 (FISMA)</a:t>
          </a:r>
        </a:p>
      </dgm:t>
    </dgm:pt>
    <dgm:pt modelId="{231BC515-CFBC-406C-AE57-E123BCB01CF1}" type="parTrans" cxnId="{EBE6A0CA-12C1-4F88-AA3E-6C179E79D9DF}">
      <dgm:prSet/>
      <dgm:spPr/>
      <dgm:t>
        <a:bodyPr/>
        <a:lstStyle/>
        <a:p>
          <a:endParaRPr lang="en-US"/>
        </a:p>
      </dgm:t>
    </dgm:pt>
    <dgm:pt modelId="{7802C448-C165-4FAA-9D06-C3F597689120}" type="sibTrans" cxnId="{EBE6A0CA-12C1-4F88-AA3E-6C179E79D9DF}">
      <dgm:prSet/>
      <dgm:spPr/>
      <dgm:t>
        <a:bodyPr/>
        <a:lstStyle/>
        <a:p>
          <a:endParaRPr lang="en-US"/>
        </a:p>
      </dgm:t>
    </dgm:pt>
    <dgm:pt modelId="{C8C73050-D4AA-43DE-943A-E7D51E93D088}">
      <dgm:prSet custT="1"/>
      <dgm:spPr/>
      <dgm:t>
        <a:bodyPr/>
        <a:lstStyle/>
        <a:p>
          <a:pPr rtl="0"/>
          <a:r>
            <a:rPr lang="en-US" sz="1800" dirty="0"/>
            <a:t>Committee of Sponsoring Organizations (COSO) </a:t>
          </a:r>
        </a:p>
      </dgm:t>
    </dgm:pt>
    <dgm:pt modelId="{B4A7DB99-3D22-4EC3-9DBF-6A9C0C6EC531}" type="parTrans" cxnId="{E23B9A98-F1AF-4BBD-8117-B4695291908B}">
      <dgm:prSet/>
      <dgm:spPr/>
      <dgm:t>
        <a:bodyPr/>
        <a:lstStyle/>
        <a:p>
          <a:endParaRPr lang="en-US"/>
        </a:p>
      </dgm:t>
    </dgm:pt>
    <dgm:pt modelId="{E805CCCC-1B2F-4E99-A08A-BFF9371A2841}" type="sibTrans" cxnId="{E23B9A98-F1AF-4BBD-8117-B4695291908B}">
      <dgm:prSet/>
      <dgm:spPr/>
      <dgm:t>
        <a:bodyPr/>
        <a:lstStyle/>
        <a:p>
          <a:endParaRPr lang="en-US"/>
        </a:p>
      </dgm:t>
    </dgm:pt>
    <dgm:pt modelId="{90960373-737D-4DAC-8522-C55935B769AF}">
      <dgm:prSet custT="1"/>
      <dgm:spPr/>
      <dgm:t>
        <a:bodyPr/>
        <a:lstStyle/>
        <a:p>
          <a:pPr rtl="0"/>
          <a:r>
            <a:rPr lang="en-US" sz="1800" dirty="0"/>
            <a:t>Control Objectives for Information and related Technology (COBIT) (public organization only as this is for SOX 404)</a:t>
          </a:r>
        </a:p>
      </dgm:t>
    </dgm:pt>
    <dgm:pt modelId="{198CD36C-0C5D-4412-A103-ADDCECAEA6CD}" type="parTrans" cxnId="{97DF02E4-5CBC-4A65-9E8A-19568DE0A036}">
      <dgm:prSet/>
      <dgm:spPr/>
      <dgm:t>
        <a:bodyPr/>
        <a:lstStyle/>
        <a:p>
          <a:endParaRPr lang="en-US"/>
        </a:p>
      </dgm:t>
    </dgm:pt>
    <dgm:pt modelId="{1E2BE277-6807-433E-91C0-05E5AFBFF91C}" type="sibTrans" cxnId="{97DF02E4-5CBC-4A65-9E8A-19568DE0A036}">
      <dgm:prSet/>
      <dgm:spPr/>
      <dgm:t>
        <a:bodyPr/>
        <a:lstStyle/>
        <a:p>
          <a:endParaRPr lang="en-US"/>
        </a:p>
      </dgm:t>
    </dgm:pt>
    <dgm:pt modelId="{0B69293D-A673-41FD-9BB3-037B8C841080}">
      <dgm:prSet custT="1"/>
      <dgm:spPr/>
      <dgm:t>
        <a:bodyPr/>
        <a:lstStyle/>
        <a:p>
          <a:pPr rtl="0"/>
          <a:r>
            <a:rPr lang="en-US" sz="1800" dirty="0"/>
            <a:t>ISO 17799 (27002), 20000 (ITIL), NIST, OCTAVE, PCI DSS (if you process payments electronically)</a:t>
          </a:r>
          <a:r>
            <a:rPr lang="en-US" sz="1600" dirty="0"/>
            <a:t> </a:t>
          </a:r>
        </a:p>
      </dgm:t>
    </dgm:pt>
    <dgm:pt modelId="{0B5203B5-EFDF-4459-86F8-FACFF4C96FA7}" type="parTrans" cxnId="{78C805BB-D04E-4E28-AC8B-620C3FC9496D}">
      <dgm:prSet/>
      <dgm:spPr/>
      <dgm:t>
        <a:bodyPr/>
        <a:lstStyle/>
        <a:p>
          <a:endParaRPr lang="en-US"/>
        </a:p>
      </dgm:t>
    </dgm:pt>
    <dgm:pt modelId="{09B25DE4-E062-47F5-9BF5-F85D635C3C74}" type="sibTrans" cxnId="{78C805BB-D04E-4E28-AC8B-620C3FC9496D}">
      <dgm:prSet/>
      <dgm:spPr/>
      <dgm:t>
        <a:bodyPr/>
        <a:lstStyle/>
        <a:p>
          <a:endParaRPr lang="en-US"/>
        </a:p>
      </dgm:t>
    </dgm:pt>
    <dgm:pt modelId="{8885AB75-8BEC-44AD-A07B-C0CC479F21C2}">
      <dgm:prSet custT="1"/>
      <dgm:spPr/>
      <dgm:t>
        <a:bodyPr/>
        <a:lstStyle/>
        <a:p>
          <a:pPr rtl="0"/>
          <a:r>
            <a:rPr lang="en-US" sz="1800" dirty="0"/>
            <a:t>Frameworks are flexible and allow an organization to adopt constructs that fit their overall governance and compliance planning requirements</a:t>
          </a:r>
        </a:p>
      </dgm:t>
    </dgm:pt>
    <dgm:pt modelId="{83ABED85-74B6-4275-8999-B6EF369CBAEC}" type="parTrans" cxnId="{E260CD5A-32D2-4C0F-A7C8-E3FE5F02E570}">
      <dgm:prSet/>
      <dgm:spPr/>
      <dgm:t>
        <a:bodyPr/>
        <a:lstStyle/>
        <a:p>
          <a:endParaRPr lang="en-US"/>
        </a:p>
      </dgm:t>
    </dgm:pt>
    <dgm:pt modelId="{9EF58B36-11CF-4769-A23E-00A334A1F9DC}" type="sibTrans" cxnId="{E260CD5A-32D2-4C0F-A7C8-E3FE5F02E570}">
      <dgm:prSet/>
      <dgm:spPr/>
      <dgm:t>
        <a:bodyPr/>
        <a:lstStyle/>
        <a:p>
          <a:endParaRPr lang="en-US"/>
        </a:p>
      </dgm:t>
    </dgm:pt>
    <dgm:pt modelId="{FE904900-8661-4638-8A3E-36C50661F9F2}" type="pres">
      <dgm:prSet presAssocID="{D259E35F-9306-4EDF-84E1-65E0E4260604}" presName="linear" presStyleCnt="0">
        <dgm:presLayoutVars>
          <dgm:animLvl val="lvl"/>
          <dgm:resizeHandles val="exact"/>
        </dgm:presLayoutVars>
      </dgm:prSet>
      <dgm:spPr/>
    </dgm:pt>
    <dgm:pt modelId="{F9D0F8C5-3A66-434F-A548-663BB461AABD}" type="pres">
      <dgm:prSet presAssocID="{52B93F64-B3C0-40E0-BCF6-1A9D6F8B4B73}" presName="parentText" presStyleLbl="node1" presStyleIdx="0" presStyleCnt="3">
        <dgm:presLayoutVars>
          <dgm:chMax val="0"/>
          <dgm:bulletEnabled val="1"/>
        </dgm:presLayoutVars>
      </dgm:prSet>
      <dgm:spPr/>
    </dgm:pt>
    <dgm:pt modelId="{5CAAE3C3-95C5-456D-8588-6650650BA479}" type="pres">
      <dgm:prSet presAssocID="{52B93F64-B3C0-40E0-BCF6-1A9D6F8B4B73}" presName="childText" presStyleLbl="revTx" presStyleIdx="0" presStyleCnt="2">
        <dgm:presLayoutVars>
          <dgm:bulletEnabled val="1"/>
        </dgm:presLayoutVars>
      </dgm:prSet>
      <dgm:spPr/>
    </dgm:pt>
    <dgm:pt modelId="{CF7ACFBD-9277-405D-8DAD-A3141EEE6A6A}" type="pres">
      <dgm:prSet presAssocID="{CA4A6D60-D76E-43B0-A845-A5A6A19DAA88}" presName="parentText" presStyleLbl="node1" presStyleIdx="1" presStyleCnt="3" custLinFactNeighborY="-6414">
        <dgm:presLayoutVars>
          <dgm:chMax val="0"/>
          <dgm:bulletEnabled val="1"/>
        </dgm:presLayoutVars>
      </dgm:prSet>
      <dgm:spPr/>
    </dgm:pt>
    <dgm:pt modelId="{8B265804-EBDE-4852-8F6F-196E90EEF8D4}" type="pres">
      <dgm:prSet presAssocID="{CA4A6D60-D76E-43B0-A845-A5A6A19DAA88}" presName="childText" presStyleLbl="revTx" presStyleIdx="1" presStyleCnt="2" custLinFactNeighborY="-15138">
        <dgm:presLayoutVars>
          <dgm:bulletEnabled val="1"/>
        </dgm:presLayoutVars>
      </dgm:prSet>
      <dgm:spPr/>
    </dgm:pt>
    <dgm:pt modelId="{263E2C2D-EB0E-4E44-9D93-2B5186BD9243}" type="pres">
      <dgm:prSet presAssocID="{8885AB75-8BEC-44AD-A07B-C0CC479F21C2}" presName="parentText" presStyleLbl="node1" presStyleIdx="2" presStyleCnt="3" custLinFactNeighborY="-7623">
        <dgm:presLayoutVars>
          <dgm:chMax val="0"/>
          <dgm:bulletEnabled val="1"/>
        </dgm:presLayoutVars>
      </dgm:prSet>
      <dgm:spPr/>
    </dgm:pt>
  </dgm:ptLst>
  <dgm:cxnLst>
    <dgm:cxn modelId="{D6E42231-729E-4D18-9A6B-FCAC4BAA2E30}" srcId="{52B93F64-B3C0-40E0-BCF6-1A9D6F8B4B73}" destId="{B98AAF40-951A-4F1B-9802-26486B8BC945}" srcOrd="0" destOrd="0" parTransId="{61644E5D-7ACB-4ACA-95AF-3B454041753C}" sibTransId="{06F62ECB-66C8-4053-AE09-356BF14CE810}"/>
    <dgm:cxn modelId="{FE06E15D-DC19-4957-8442-E742CA76FCB0}" srcId="{D259E35F-9306-4EDF-84E1-65E0E4260604}" destId="{52B93F64-B3C0-40E0-BCF6-1A9D6F8B4B73}" srcOrd="0" destOrd="0" parTransId="{BD612204-2336-498E-AF05-6A2CB559B3CE}" sibTransId="{560D7F2C-A50F-44C6-9C63-E7D054A68ECD}"/>
    <dgm:cxn modelId="{FFFA1647-24A9-429E-907B-1FCF5546577A}" type="presOf" srcId="{0B69293D-A673-41FD-9BB3-037B8C841080}" destId="{8B265804-EBDE-4852-8F6F-196E90EEF8D4}" srcOrd="0" destOrd="3" presId="urn:microsoft.com/office/officeart/2005/8/layout/vList2"/>
    <dgm:cxn modelId="{B5E1E168-4D07-4A32-9512-5C8DAF057561}" type="presOf" srcId="{874CBC14-924E-4EE7-87C8-8968F2E5D836}" destId="{8B265804-EBDE-4852-8F6F-196E90EEF8D4}" srcOrd="0" destOrd="0" presId="urn:microsoft.com/office/officeart/2005/8/layout/vList2"/>
    <dgm:cxn modelId="{D26DF44A-347B-4479-B5B6-73A8521CB7E8}" type="presOf" srcId="{D259E35F-9306-4EDF-84E1-65E0E4260604}" destId="{FE904900-8661-4638-8A3E-36C50661F9F2}" srcOrd="0" destOrd="0" presId="urn:microsoft.com/office/officeart/2005/8/layout/vList2"/>
    <dgm:cxn modelId="{4D5DF070-253F-4671-9F5E-190CE6CF3883}" type="presOf" srcId="{8885AB75-8BEC-44AD-A07B-C0CC479F21C2}" destId="{263E2C2D-EB0E-4E44-9D93-2B5186BD9243}" srcOrd="0" destOrd="0" presId="urn:microsoft.com/office/officeart/2005/8/layout/vList2"/>
    <dgm:cxn modelId="{E260CD5A-32D2-4C0F-A7C8-E3FE5F02E570}" srcId="{D259E35F-9306-4EDF-84E1-65E0E4260604}" destId="{8885AB75-8BEC-44AD-A07B-C0CC479F21C2}" srcOrd="2" destOrd="0" parTransId="{83ABED85-74B6-4275-8999-B6EF369CBAEC}" sibTransId="{9EF58B36-11CF-4769-A23E-00A334A1F9DC}"/>
    <dgm:cxn modelId="{E23B9A98-F1AF-4BBD-8117-B4695291908B}" srcId="{CA4A6D60-D76E-43B0-A845-A5A6A19DAA88}" destId="{C8C73050-D4AA-43DE-943A-E7D51E93D088}" srcOrd="1" destOrd="0" parTransId="{B4A7DB99-3D22-4EC3-9DBF-6A9C0C6EC531}" sibTransId="{E805CCCC-1B2F-4E99-A08A-BFF9371A2841}"/>
    <dgm:cxn modelId="{872872A1-E507-4483-AA93-1A311403B4A4}" type="presOf" srcId="{52B93F64-B3C0-40E0-BCF6-1A9D6F8B4B73}" destId="{F9D0F8C5-3A66-434F-A548-663BB461AABD}" srcOrd="0" destOrd="0" presId="urn:microsoft.com/office/officeart/2005/8/layout/vList2"/>
    <dgm:cxn modelId="{C6D571B5-C7FE-4CBD-9942-A0FF51A76866}" type="presOf" srcId="{90960373-737D-4DAC-8522-C55935B769AF}" destId="{8B265804-EBDE-4852-8F6F-196E90EEF8D4}" srcOrd="0" destOrd="2" presId="urn:microsoft.com/office/officeart/2005/8/layout/vList2"/>
    <dgm:cxn modelId="{A782D9B6-613A-4F32-9827-29734415E76F}" srcId="{D259E35F-9306-4EDF-84E1-65E0E4260604}" destId="{CA4A6D60-D76E-43B0-A845-A5A6A19DAA88}" srcOrd="1" destOrd="0" parTransId="{FE9D4E98-DEEE-470E-9F46-EA454ADD67CE}" sibTransId="{0359EBE0-B040-42EA-8A0A-5AB34A5DDEDD}"/>
    <dgm:cxn modelId="{78C805BB-D04E-4E28-AC8B-620C3FC9496D}" srcId="{CA4A6D60-D76E-43B0-A845-A5A6A19DAA88}" destId="{0B69293D-A673-41FD-9BB3-037B8C841080}" srcOrd="3" destOrd="0" parTransId="{0B5203B5-EFDF-4459-86F8-FACFF4C96FA7}" sibTransId="{09B25DE4-E062-47F5-9BF5-F85D635C3C74}"/>
    <dgm:cxn modelId="{95E9CEC2-237D-4E9B-BDEC-65A02021E475}" type="presOf" srcId="{C8C73050-D4AA-43DE-943A-E7D51E93D088}" destId="{8B265804-EBDE-4852-8F6F-196E90EEF8D4}" srcOrd="0" destOrd="1" presId="urn:microsoft.com/office/officeart/2005/8/layout/vList2"/>
    <dgm:cxn modelId="{EBE6A0CA-12C1-4F88-AA3E-6C179E79D9DF}" srcId="{CA4A6D60-D76E-43B0-A845-A5A6A19DAA88}" destId="{874CBC14-924E-4EE7-87C8-8968F2E5D836}" srcOrd="0" destOrd="0" parTransId="{231BC515-CFBC-406C-AE57-E123BCB01CF1}" sibTransId="{7802C448-C165-4FAA-9D06-C3F597689120}"/>
    <dgm:cxn modelId="{97DF02E4-5CBC-4A65-9E8A-19568DE0A036}" srcId="{CA4A6D60-D76E-43B0-A845-A5A6A19DAA88}" destId="{90960373-737D-4DAC-8522-C55935B769AF}" srcOrd="2" destOrd="0" parTransId="{198CD36C-0C5D-4412-A103-ADDCECAEA6CD}" sibTransId="{1E2BE277-6807-433E-91C0-05E5AFBFF91C}"/>
    <dgm:cxn modelId="{60E118E8-0431-4CF6-86B0-147623EF4054}" type="presOf" srcId="{B98AAF40-951A-4F1B-9802-26486B8BC945}" destId="{5CAAE3C3-95C5-456D-8588-6650650BA479}" srcOrd="0" destOrd="0" presId="urn:microsoft.com/office/officeart/2005/8/layout/vList2"/>
    <dgm:cxn modelId="{72506DF9-8B79-4F51-9CF1-8EAB670C6A96}" type="presOf" srcId="{CA4A6D60-D76E-43B0-A845-A5A6A19DAA88}" destId="{CF7ACFBD-9277-405D-8DAD-A3141EEE6A6A}" srcOrd="0" destOrd="0" presId="urn:microsoft.com/office/officeart/2005/8/layout/vList2"/>
    <dgm:cxn modelId="{8E5DC6C9-5784-478B-B276-D82891CFE751}" type="presParOf" srcId="{FE904900-8661-4638-8A3E-36C50661F9F2}" destId="{F9D0F8C5-3A66-434F-A548-663BB461AABD}" srcOrd="0" destOrd="0" presId="urn:microsoft.com/office/officeart/2005/8/layout/vList2"/>
    <dgm:cxn modelId="{2E8455C9-E5D5-4E3D-98BD-3AF6DF6E663D}" type="presParOf" srcId="{FE904900-8661-4638-8A3E-36C50661F9F2}" destId="{5CAAE3C3-95C5-456D-8588-6650650BA479}" srcOrd="1" destOrd="0" presId="urn:microsoft.com/office/officeart/2005/8/layout/vList2"/>
    <dgm:cxn modelId="{7C615987-F086-4018-AD39-CEACECE0536B}" type="presParOf" srcId="{FE904900-8661-4638-8A3E-36C50661F9F2}" destId="{CF7ACFBD-9277-405D-8DAD-A3141EEE6A6A}" srcOrd="2" destOrd="0" presId="urn:microsoft.com/office/officeart/2005/8/layout/vList2"/>
    <dgm:cxn modelId="{D420982D-9FC8-4C90-BDA0-D8485951B29B}" type="presParOf" srcId="{FE904900-8661-4638-8A3E-36C50661F9F2}" destId="{8B265804-EBDE-4852-8F6F-196E90EEF8D4}" srcOrd="3" destOrd="0" presId="urn:microsoft.com/office/officeart/2005/8/layout/vList2"/>
    <dgm:cxn modelId="{6D9B8F33-66FE-4DC7-A9D6-911D37E05017}" type="presParOf" srcId="{FE904900-8661-4638-8A3E-36C50661F9F2}" destId="{263E2C2D-EB0E-4E44-9D93-2B5186BD924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916854-BACA-4D55-971B-AB96E1C7303A}"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E419C291-62E3-440D-BE83-F77CF36700B8}">
      <dgm:prSet custT="1"/>
      <dgm:spPr/>
      <dgm:t>
        <a:bodyPr/>
        <a:lstStyle/>
        <a:p>
          <a:pPr rtl="0"/>
          <a:r>
            <a:rPr lang="en-US" sz="1800" dirty="0"/>
            <a:t>Governance, Risk management, and Compliance (GRC)</a:t>
          </a:r>
        </a:p>
      </dgm:t>
    </dgm:pt>
    <dgm:pt modelId="{5C46B7A1-5ECC-4449-A476-5F40C172EFD4}" type="parTrans" cxnId="{25F8296E-CB52-4BA3-925E-BA913600CEF9}">
      <dgm:prSet/>
      <dgm:spPr/>
      <dgm:t>
        <a:bodyPr/>
        <a:lstStyle/>
        <a:p>
          <a:endParaRPr lang="en-US"/>
        </a:p>
      </dgm:t>
    </dgm:pt>
    <dgm:pt modelId="{B7091407-62BF-4F9E-A425-1C74CC11743B}" type="sibTrans" cxnId="{25F8296E-CB52-4BA3-925E-BA913600CEF9}">
      <dgm:prSet/>
      <dgm:spPr/>
      <dgm:t>
        <a:bodyPr/>
        <a:lstStyle/>
        <a:p>
          <a:endParaRPr lang="en-US"/>
        </a:p>
      </dgm:t>
    </dgm:pt>
    <dgm:pt modelId="{833FB8A2-2CE3-427B-AD26-7492B64DAD34}">
      <dgm:prSet custT="1"/>
      <dgm:spPr/>
      <dgm:t>
        <a:bodyPr/>
        <a:lstStyle/>
        <a:p>
          <a:pPr rtl="0"/>
          <a:r>
            <a:rPr lang="en-US" sz="1800" dirty="0"/>
            <a:t>A discipline formally bringing together risk and compliance</a:t>
          </a:r>
        </a:p>
      </dgm:t>
    </dgm:pt>
    <dgm:pt modelId="{5208602F-3E2E-4884-9B65-AAE158E5C362}" type="parTrans" cxnId="{754F751C-A028-4E26-AED0-6C50A422A670}">
      <dgm:prSet/>
      <dgm:spPr/>
      <dgm:t>
        <a:bodyPr/>
        <a:lstStyle/>
        <a:p>
          <a:endParaRPr lang="en-US"/>
        </a:p>
      </dgm:t>
    </dgm:pt>
    <dgm:pt modelId="{44A98D84-4668-4F88-846B-855291DE1E0B}" type="sibTrans" cxnId="{754F751C-A028-4E26-AED0-6C50A422A670}">
      <dgm:prSet/>
      <dgm:spPr/>
      <dgm:t>
        <a:bodyPr/>
        <a:lstStyle/>
        <a:p>
          <a:endParaRPr lang="en-US"/>
        </a:p>
      </dgm:t>
    </dgm:pt>
    <dgm:pt modelId="{00BD873F-080C-4CB2-BF76-B7B99CBDB41C}">
      <dgm:prSet custT="1"/>
      <dgm:spPr/>
      <dgm:t>
        <a:bodyPr/>
        <a:lstStyle/>
        <a:p>
          <a:pPr rtl="0"/>
          <a:r>
            <a:rPr lang="en-US" sz="1800" dirty="0"/>
            <a:t>GRC best practices</a:t>
          </a:r>
        </a:p>
      </dgm:t>
    </dgm:pt>
    <dgm:pt modelId="{AE4D5469-D272-4BEF-AE8D-14C884461120}" type="parTrans" cxnId="{C9FA19D0-3269-4F15-912E-40DE4F597FBC}">
      <dgm:prSet/>
      <dgm:spPr/>
      <dgm:t>
        <a:bodyPr/>
        <a:lstStyle/>
        <a:p>
          <a:endParaRPr lang="en-US"/>
        </a:p>
      </dgm:t>
    </dgm:pt>
    <dgm:pt modelId="{09075CD6-AA8D-4B93-B43B-A699B99C1C25}" type="sibTrans" cxnId="{C9FA19D0-3269-4F15-912E-40DE4F597FBC}">
      <dgm:prSet/>
      <dgm:spPr/>
      <dgm:t>
        <a:bodyPr/>
        <a:lstStyle/>
        <a:p>
          <a:endParaRPr lang="en-US"/>
        </a:p>
      </dgm:t>
    </dgm:pt>
    <dgm:pt modelId="{F4BD0F63-CF02-4AC8-846B-F629CBDFF211}">
      <dgm:prSet custT="1"/>
      <dgm:spPr/>
      <dgm:t>
        <a:bodyPr/>
        <a:lstStyle/>
        <a:p>
          <a:pPr rtl="0"/>
          <a:r>
            <a:rPr lang="en-US" sz="1800" dirty="0"/>
            <a:t>ISO 27000 series</a:t>
          </a:r>
        </a:p>
      </dgm:t>
    </dgm:pt>
    <dgm:pt modelId="{4E28B72D-FC39-4067-A3B0-EE1DF246681F}" type="parTrans" cxnId="{0B532737-6D6E-4649-A1C7-C734D3D36F4E}">
      <dgm:prSet/>
      <dgm:spPr/>
      <dgm:t>
        <a:bodyPr/>
        <a:lstStyle/>
        <a:p>
          <a:endParaRPr lang="en-US"/>
        </a:p>
      </dgm:t>
    </dgm:pt>
    <dgm:pt modelId="{2D64CCB8-4539-4425-BD2A-20BFF4FAC5BA}" type="sibTrans" cxnId="{0B532737-6D6E-4649-A1C7-C734D3D36F4E}">
      <dgm:prSet/>
      <dgm:spPr/>
      <dgm:t>
        <a:bodyPr/>
        <a:lstStyle/>
        <a:p>
          <a:endParaRPr lang="en-US"/>
        </a:p>
      </dgm:t>
    </dgm:pt>
    <dgm:pt modelId="{6B24D082-FBB1-4427-AF75-683EED55FCD9}">
      <dgm:prSet custT="1"/>
      <dgm:spPr/>
      <dgm:t>
        <a:bodyPr/>
        <a:lstStyle/>
        <a:p>
          <a:pPr rtl="0"/>
          <a:r>
            <a:rPr lang="en-US" sz="1800" dirty="0"/>
            <a:t>COBIT</a:t>
          </a:r>
        </a:p>
      </dgm:t>
    </dgm:pt>
    <dgm:pt modelId="{74A19076-F4D5-4EC3-ACDB-D0DC0CE40714}" type="parTrans" cxnId="{CDDE14B0-8DF9-4A72-A2C5-746157B08FD9}">
      <dgm:prSet/>
      <dgm:spPr/>
      <dgm:t>
        <a:bodyPr/>
        <a:lstStyle/>
        <a:p>
          <a:endParaRPr lang="en-US"/>
        </a:p>
      </dgm:t>
    </dgm:pt>
    <dgm:pt modelId="{0A649E33-65DC-4DA3-BBDD-18C1159F9435}" type="sibTrans" cxnId="{CDDE14B0-8DF9-4A72-A2C5-746157B08FD9}">
      <dgm:prSet/>
      <dgm:spPr/>
      <dgm:t>
        <a:bodyPr/>
        <a:lstStyle/>
        <a:p>
          <a:endParaRPr lang="en-US"/>
        </a:p>
      </dgm:t>
    </dgm:pt>
    <dgm:pt modelId="{00818DC2-4186-4E24-9259-3D09DBF1C416}">
      <dgm:prSet custT="1"/>
      <dgm:spPr/>
      <dgm:t>
        <a:bodyPr/>
        <a:lstStyle/>
        <a:p>
          <a:pPr rtl="0"/>
          <a:r>
            <a:rPr lang="en-US" sz="1800" dirty="0"/>
            <a:t>COSO</a:t>
          </a:r>
          <a:r>
            <a:rPr lang="en-US" sz="1700" dirty="0"/>
            <a:t>				</a:t>
          </a:r>
        </a:p>
      </dgm:t>
    </dgm:pt>
    <dgm:pt modelId="{3859790D-272F-4E7A-BCFE-51E50FF54A2D}" type="parTrans" cxnId="{7942D60F-E0A5-43D0-B806-3D8F76FA8D64}">
      <dgm:prSet/>
      <dgm:spPr/>
      <dgm:t>
        <a:bodyPr/>
        <a:lstStyle/>
        <a:p>
          <a:endParaRPr lang="en-US"/>
        </a:p>
      </dgm:t>
    </dgm:pt>
    <dgm:pt modelId="{4AF967E1-C9E7-4F4A-978A-DB5714489E3D}" type="sibTrans" cxnId="{7942D60F-E0A5-43D0-B806-3D8F76FA8D64}">
      <dgm:prSet/>
      <dgm:spPr/>
      <dgm:t>
        <a:bodyPr/>
        <a:lstStyle/>
        <a:p>
          <a:endParaRPr lang="en-US"/>
        </a:p>
      </dgm:t>
    </dgm:pt>
    <dgm:pt modelId="{33C7B5AC-8DC2-4A74-B483-1E681E1DBA71}">
      <dgm:prSet custT="1"/>
      <dgm:spPr/>
      <dgm:t>
        <a:bodyPr/>
        <a:lstStyle/>
        <a:p>
          <a:pPr rtl="0"/>
          <a:r>
            <a:rPr lang="en-US" sz="1800" dirty="0"/>
            <a:t>Enterprise Risk Management (ERM)</a:t>
          </a:r>
        </a:p>
      </dgm:t>
    </dgm:pt>
    <dgm:pt modelId="{1E9033F7-F757-4A7E-A8F9-F015CEC7EDC9}" type="parTrans" cxnId="{F4F1D679-AD8F-4449-85D2-E02CF90D3437}">
      <dgm:prSet/>
      <dgm:spPr/>
      <dgm:t>
        <a:bodyPr/>
        <a:lstStyle/>
        <a:p>
          <a:endParaRPr lang="en-US"/>
        </a:p>
      </dgm:t>
    </dgm:pt>
    <dgm:pt modelId="{9E0D651C-B528-49A5-AFE6-1AFCB389E484}" type="sibTrans" cxnId="{F4F1D679-AD8F-4449-85D2-E02CF90D3437}">
      <dgm:prSet/>
      <dgm:spPr/>
      <dgm:t>
        <a:bodyPr/>
        <a:lstStyle/>
        <a:p>
          <a:endParaRPr lang="en-US"/>
        </a:p>
      </dgm:t>
    </dgm:pt>
    <dgm:pt modelId="{C987BA86-F72D-4975-A38F-775A9F61D149}">
      <dgm:prSet custT="1"/>
      <dgm:spPr/>
      <dgm:t>
        <a:bodyPr/>
        <a:lstStyle/>
        <a:p>
          <a:pPr rtl="0"/>
          <a:r>
            <a:rPr lang="en-US" sz="1800" dirty="0"/>
            <a:t>Follows common risk methodologies</a:t>
          </a:r>
        </a:p>
      </dgm:t>
    </dgm:pt>
    <dgm:pt modelId="{1D2D2EFC-B17A-446C-910E-75F833FD282D}" type="parTrans" cxnId="{8AC3D150-53A6-46B5-B7EB-1F39D1E7BABC}">
      <dgm:prSet/>
      <dgm:spPr/>
      <dgm:t>
        <a:bodyPr/>
        <a:lstStyle/>
        <a:p>
          <a:endParaRPr lang="en-US"/>
        </a:p>
      </dgm:t>
    </dgm:pt>
    <dgm:pt modelId="{2DA06337-59FA-403B-8F2B-66900B8A9B17}" type="sibTrans" cxnId="{8AC3D150-53A6-46B5-B7EB-1F39D1E7BABC}">
      <dgm:prSet/>
      <dgm:spPr/>
      <dgm:t>
        <a:bodyPr/>
        <a:lstStyle/>
        <a:p>
          <a:endParaRPr lang="en-US"/>
        </a:p>
      </dgm:t>
    </dgm:pt>
    <dgm:pt modelId="{84C0A227-D217-45B4-A625-BCDA20E97BC4}">
      <dgm:prSet/>
      <dgm:spPr/>
      <dgm:t>
        <a:bodyPr/>
        <a:lstStyle/>
        <a:p>
          <a:pPr rtl="0"/>
          <a:endParaRPr lang="en-US" sz="2800" dirty="0"/>
        </a:p>
      </dgm:t>
    </dgm:pt>
    <dgm:pt modelId="{F5215D29-F109-411C-B02D-9F549F1ABB21}" type="parTrans" cxnId="{F4D1F309-5D19-4145-8DEB-6F92541D13D1}">
      <dgm:prSet/>
      <dgm:spPr/>
      <dgm:t>
        <a:bodyPr/>
        <a:lstStyle/>
        <a:p>
          <a:endParaRPr lang="en-US"/>
        </a:p>
      </dgm:t>
    </dgm:pt>
    <dgm:pt modelId="{D6B88F5A-6A5C-4B73-A28D-C2AAE9C10E8E}" type="sibTrans" cxnId="{F4D1F309-5D19-4145-8DEB-6F92541D13D1}">
      <dgm:prSet/>
      <dgm:spPr/>
      <dgm:t>
        <a:bodyPr/>
        <a:lstStyle/>
        <a:p>
          <a:endParaRPr lang="en-US"/>
        </a:p>
      </dgm:t>
    </dgm:pt>
    <dgm:pt modelId="{24AB1DFD-271C-4E46-9ACC-DF13E25C85DA}" type="pres">
      <dgm:prSet presAssocID="{72916854-BACA-4D55-971B-AB96E1C7303A}" presName="Name0" presStyleCnt="0">
        <dgm:presLayoutVars>
          <dgm:dir/>
          <dgm:resizeHandles val="exact"/>
        </dgm:presLayoutVars>
      </dgm:prSet>
      <dgm:spPr/>
    </dgm:pt>
    <dgm:pt modelId="{615EA433-1A84-4E93-A440-668622FD5B3A}" type="pres">
      <dgm:prSet presAssocID="{E419C291-62E3-440D-BE83-F77CF36700B8}" presName="node" presStyleLbl="node1" presStyleIdx="0" presStyleCnt="2">
        <dgm:presLayoutVars>
          <dgm:bulletEnabled val="1"/>
        </dgm:presLayoutVars>
      </dgm:prSet>
      <dgm:spPr/>
    </dgm:pt>
    <dgm:pt modelId="{777F78F8-73F3-459F-BEB5-7ED546F4AC07}" type="pres">
      <dgm:prSet presAssocID="{B7091407-62BF-4F9E-A425-1C74CC11743B}" presName="sibTrans" presStyleCnt="0"/>
      <dgm:spPr/>
    </dgm:pt>
    <dgm:pt modelId="{605C898F-AB6F-4CB1-B27F-F3519DB750FF}" type="pres">
      <dgm:prSet presAssocID="{33C7B5AC-8DC2-4A74-B483-1E681E1DBA71}" presName="node" presStyleLbl="node1" presStyleIdx="1" presStyleCnt="2">
        <dgm:presLayoutVars>
          <dgm:bulletEnabled val="1"/>
        </dgm:presLayoutVars>
      </dgm:prSet>
      <dgm:spPr/>
    </dgm:pt>
  </dgm:ptLst>
  <dgm:cxnLst>
    <dgm:cxn modelId="{F4D1F309-5D19-4145-8DEB-6F92541D13D1}" srcId="{33C7B5AC-8DC2-4A74-B483-1E681E1DBA71}" destId="{84C0A227-D217-45B4-A625-BCDA20E97BC4}" srcOrd="1" destOrd="0" parTransId="{F5215D29-F109-411C-B02D-9F549F1ABB21}" sibTransId="{D6B88F5A-6A5C-4B73-A28D-C2AAE9C10E8E}"/>
    <dgm:cxn modelId="{BED2630F-5F23-42C6-B80C-A532375A0904}" type="presOf" srcId="{33C7B5AC-8DC2-4A74-B483-1E681E1DBA71}" destId="{605C898F-AB6F-4CB1-B27F-F3519DB750FF}" srcOrd="0" destOrd="0" presId="urn:microsoft.com/office/officeart/2005/8/layout/hList6"/>
    <dgm:cxn modelId="{7942D60F-E0A5-43D0-B806-3D8F76FA8D64}" srcId="{00BD873F-080C-4CB2-BF76-B7B99CBDB41C}" destId="{00818DC2-4186-4E24-9259-3D09DBF1C416}" srcOrd="2" destOrd="0" parTransId="{3859790D-272F-4E7A-BCFE-51E50FF54A2D}" sibTransId="{4AF967E1-C9E7-4F4A-978A-DB5714489E3D}"/>
    <dgm:cxn modelId="{754F751C-A028-4E26-AED0-6C50A422A670}" srcId="{E419C291-62E3-440D-BE83-F77CF36700B8}" destId="{833FB8A2-2CE3-427B-AD26-7492B64DAD34}" srcOrd="0" destOrd="0" parTransId="{5208602F-3E2E-4884-9B65-AAE158E5C362}" sibTransId="{44A98D84-4668-4F88-846B-855291DE1E0B}"/>
    <dgm:cxn modelId="{A75D9A2F-D9DA-4B4D-8DFE-39A13641EAA8}" type="presOf" srcId="{00BD873F-080C-4CB2-BF76-B7B99CBDB41C}" destId="{615EA433-1A84-4E93-A440-668622FD5B3A}" srcOrd="0" destOrd="2" presId="urn:microsoft.com/office/officeart/2005/8/layout/hList6"/>
    <dgm:cxn modelId="{0B532737-6D6E-4649-A1C7-C734D3D36F4E}" srcId="{00BD873F-080C-4CB2-BF76-B7B99CBDB41C}" destId="{F4BD0F63-CF02-4AC8-846B-F629CBDFF211}" srcOrd="0" destOrd="0" parTransId="{4E28B72D-FC39-4067-A3B0-EE1DF246681F}" sibTransId="{2D64CCB8-4539-4425-BD2A-20BFF4FAC5BA}"/>
    <dgm:cxn modelId="{25F8296E-CB52-4BA3-925E-BA913600CEF9}" srcId="{72916854-BACA-4D55-971B-AB96E1C7303A}" destId="{E419C291-62E3-440D-BE83-F77CF36700B8}" srcOrd="0" destOrd="0" parTransId="{5C46B7A1-5ECC-4449-A476-5F40C172EFD4}" sibTransId="{B7091407-62BF-4F9E-A425-1C74CC11743B}"/>
    <dgm:cxn modelId="{22C8ED4E-C219-4924-86F3-19114BAC6F85}" type="presOf" srcId="{F4BD0F63-CF02-4AC8-846B-F629CBDFF211}" destId="{615EA433-1A84-4E93-A440-668622FD5B3A}" srcOrd="0" destOrd="3" presId="urn:microsoft.com/office/officeart/2005/8/layout/hList6"/>
    <dgm:cxn modelId="{01258270-57A5-4FEB-A86C-D25FF8A44041}" type="presOf" srcId="{72916854-BACA-4D55-971B-AB96E1C7303A}" destId="{24AB1DFD-271C-4E46-9ACC-DF13E25C85DA}" srcOrd="0" destOrd="0" presId="urn:microsoft.com/office/officeart/2005/8/layout/hList6"/>
    <dgm:cxn modelId="{8AC3D150-53A6-46B5-B7EB-1F39D1E7BABC}" srcId="{33C7B5AC-8DC2-4A74-B483-1E681E1DBA71}" destId="{C987BA86-F72D-4975-A38F-775A9F61D149}" srcOrd="0" destOrd="0" parTransId="{1D2D2EFC-B17A-446C-910E-75F833FD282D}" sibTransId="{2DA06337-59FA-403B-8F2B-66900B8A9B17}"/>
    <dgm:cxn modelId="{F4F1D679-AD8F-4449-85D2-E02CF90D3437}" srcId="{72916854-BACA-4D55-971B-AB96E1C7303A}" destId="{33C7B5AC-8DC2-4A74-B483-1E681E1DBA71}" srcOrd="1" destOrd="0" parTransId="{1E9033F7-F757-4A7E-A8F9-F015CEC7EDC9}" sibTransId="{9E0D651C-B528-49A5-AFE6-1AFCB389E484}"/>
    <dgm:cxn modelId="{D3821BA0-5A79-4F92-BBA9-2D11CB539949}" type="presOf" srcId="{84C0A227-D217-45B4-A625-BCDA20E97BC4}" destId="{605C898F-AB6F-4CB1-B27F-F3519DB750FF}" srcOrd="0" destOrd="2" presId="urn:microsoft.com/office/officeart/2005/8/layout/hList6"/>
    <dgm:cxn modelId="{61A9D8AB-372E-4E8E-B583-02313A458C58}" type="presOf" srcId="{00818DC2-4186-4E24-9259-3D09DBF1C416}" destId="{615EA433-1A84-4E93-A440-668622FD5B3A}" srcOrd="0" destOrd="5" presId="urn:microsoft.com/office/officeart/2005/8/layout/hList6"/>
    <dgm:cxn modelId="{CDDE14B0-8DF9-4A72-A2C5-746157B08FD9}" srcId="{00BD873F-080C-4CB2-BF76-B7B99CBDB41C}" destId="{6B24D082-FBB1-4427-AF75-683EED55FCD9}" srcOrd="1" destOrd="0" parTransId="{74A19076-F4D5-4EC3-ACDB-D0DC0CE40714}" sibTransId="{0A649E33-65DC-4DA3-BBDD-18C1159F9435}"/>
    <dgm:cxn modelId="{E3CC3BBC-6538-46B3-8A57-FC98F35ABEC7}" type="presOf" srcId="{E419C291-62E3-440D-BE83-F77CF36700B8}" destId="{615EA433-1A84-4E93-A440-668622FD5B3A}" srcOrd="0" destOrd="0" presId="urn:microsoft.com/office/officeart/2005/8/layout/hList6"/>
    <dgm:cxn modelId="{533846C4-965F-4990-B8A9-92DD2CD7591B}" type="presOf" srcId="{C987BA86-F72D-4975-A38F-775A9F61D149}" destId="{605C898F-AB6F-4CB1-B27F-F3519DB750FF}" srcOrd="0" destOrd="1" presId="urn:microsoft.com/office/officeart/2005/8/layout/hList6"/>
    <dgm:cxn modelId="{C9FA19D0-3269-4F15-912E-40DE4F597FBC}" srcId="{E419C291-62E3-440D-BE83-F77CF36700B8}" destId="{00BD873F-080C-4CB2-BF76-B7B99CBDB41C}" srcOrd="1" destOrd="0" parTransId="{AE4D5469-D272-4BEF-AE8D-14C884461120}" sibTransId="{09075CD6-AA8D-4B93-B43B-A699B99C1C25}"/>
    <dgm:cxn modelId="{66598AD6-51DA-4491-896B-26C74F330412}" type="presOf" srcId="{833FB8A2-2CE3-427B-AD26-7492B64DAD34}" destId="{615EA433-1A84-4E93-A440-668622FD5B3A}" srcOrd="0" destOrd="1" presId="urn:microsoft.com/office/officeart/2005/8/layout/hList6"/>
    <dgm:cxn modelId="{F40346EC-D340-40FA-A8E0-100F38209B27}" type="presOf" srcId="{6B24D082-FBB1-4427-AF75-683EED55FCD9}" destId="{615EA433-1A84-4E93-A440-668622FD5B3A}" srcOrd="0" destOrd="4" presId="urn:microsoft.com/office/officeart/2005/8/layout/hList6"/>
    <dgm:cxn modelId="{25810D8E-10E7-4CF6-9993-6A81845DF240}" type="presParOf" srcId="{24AB1DFD-271C-4E46-9ACC-DF13E25C85DA}" destId="{615EA433-1A84-4E93-A440-668622FD5B3A}" srcOrd="0" destOrd="0" presId="urn:microsoft.com/office/officeart/2005/8/layout/hList6"/>
    <dgm:cxn modelId="{67E39958-0398-4F9D-B576-5EEF14AD6C55}" type="presParOf" srcId="{24AB1DFD-271C-4E46-9ACC-DF13E25C85DA}" destId="{777F78F8-73F3-459F-BEB5-7ED546F4AC07}" srcOrd="1" destOrd="0" presId="urn:microsoft.com/office/officeart/2005/8/layout/hList6"/>
    <dgm:cxn modelId="{A0919895-F64F-4C0D-8971-2D50CF617FB6}" type="presParOf" srcId="{24AB1DFD-271C-4E46-9ACC-DF13E25C85DA}" destId="{605C898F-AB6F-4CB1-B27F-F3519DB750FF}"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A5896F-2096-44CB-8514-9B1234D81A0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B0F5E44C-DB71-4477-9114-DDDB109998D3}">
      <dgm:prSet custT="1"/>
      <dgm:spPr/>
      <dgm:t>
        <a:bodyPr/>
        <a:lstStyle/>
        <a:p>
          <a:pPr rtl="0"/>
          <a:r>
            <a:rPr lang="en-US" sz="1800" dirty="0"/>
            <a:t>Main Similarities</a:t>
          </a:r>
        </a:p>
      </dgm:t>
    </dgm:pt>
    <dgm:pt modelId="{954EC295-B30F-4B7C-B0AF-EA0C93D832F2}" type="parTrans" cxnId="{DC8FB462-F979-49A5-9BA1-289B01257BEC}">
      <dgm:prSet/>
      <dgm:spPr/>
      <dgm:t>
        <a:bodyPr/>
        <a:lstStyle/>
        <a:p>
          <a:endParaRPr lang="en-US"/>
        </a:p>
      </dgm:t>
    </dgm:pt>
    <dgm:pt modelId="{710376AC-06AA-4C92-BC17-D26D87A713E5}" type="sibTrans" cxnId="{DC8FB462-F979-49A5-9BA1-289B01257BEC}">
      <dgm:prSet/>
      <dgm:spPr/>
      <dgm:t>
        <a:bodyPr/>
        <a:lstStyle/>
        <a:p>
          <a:endParaRPr lang="en-US"/>
        </a:p>
      </dgm:t>
    </dgm:pt>
    <dgm:pt modelId="{66FE5642-F897-40B9-A9B6-7744F1325D0A}">
      <dgm:prSet custT="1"/>
      <dgm:spPr/>
      <dgm:t>
        <a:bodyPr/>
        <a:lstStyle/>
        <a:p>
          <a:pPr rtl="0"/>
          <a:r>
            <a:rPr lang="en-US" sz="1800" dirty="0"/>
            <a:t>Defines risk in terms of business threats</a:t>
          </a:r>
        </a:p>
      </dgm:t>
    </dgm:pt>
    <dgm:pt modelId="{F24B452A-BADE-4EC3-9EA9-548C77AF5848}" type="parTrans" cxnId="{E57668EF-7F7F-457E-9A32-BEB34BC2CA82}">
      <dgm:prSet/>
      <dgm:spPr/>
      <dgm:t>
        <a:bodyPr/>
        <a:lstStyle/>
        <a:p>
          <a:endParaRPr lang="en-US"/>
        </a:p>
      </dgm:t>
    </dgm:pt>
    <dgm:pt modelId="{2528EFE7-3113-4819-90DA-72574060B2FF}" type="sibTrans" cxnId="{E57668EF-7F7F-457E-9A32-BEB34BC2CA82}">
      <dgm:prSet/>
      <dgm:spPr/>
      <dgm:t>
        <a:bodyPr/>
        <a:lstStyle/>
        <a:p>
          <a:endParaRPr lang="en-US"/>
        </a:p>
      </dgm:t>
    </dgm:pt>
    <dgm:pt modelId="{20BF686D-6E7B-4FB7-8FFA-F80360CF6BDF}">
      <dgm:prSet custT="1"/>
      <dgm:spPr/>
      <dgm:t>
        <a:bodyPr/>
        <a:lstStyle/>
        <a:p>
          <a:pPr rtl="0"/>
          <a:r>
            <a:rPr lang="en-US" sz="1800" dirty="0"/>
            <a:t>Applies flexible frameworks to satisfy multiple compliance regulations</a:t>
          </a:r>
        </a:p>
      </dgm:t>
    </dgm:pt>
    <dgm:pt modelId="{F77C8E1D-F335-43D4-8889-99E203DB2A36}" type="parTrans" cxnId="{C00C82C7-7BCE-4FF4-99EA-D6E1EBFF9A9C}">
      <dgm:prSet/>
      <dgm:spPr/>
      <dgm:t>
        <a:bodyPr/>
        <a:lstStyle/>
        <a:p>
          <a:endParaRPr lang="en-US"/>
        </a:p>
      </dgm:t>
    </dgm:pt>
    <dgm:pt modelId="{B83CBDD1-CF68-4CEC-A253-4954D39AAFED}" type="sibTrans" cxnId="{C00C82C7-7BCE-4FF4-99EA-D6E1EBFF9A9C}">
      <dgm:prSet/>
      <dgm:spPr/>
      <dgm:t>
        <a:bodyPr/>
        <a:lstStyle/>
        <a:p>
          <a:endParaRPr lang="en-US"/>
        </a:p>
      </dgm:t>
    </dgm:pt>
    <dgm:pt modelId="{1CCD0CCE-9ECD-4DA9-866D-174FC89EFBF3}">
      <dgm:prSet custT="1"/>
      <dgm:spPr/>
      <dgm:t>
        <a:bodyPr/>
        <a:lstStyle/>
        <a:p>
          <a:pPr rtl="0"/>
          <a:r>
            <a:rPr lang="en-US" sz="1800" dirty="0"/>
            <a:t>Eliminates redundant controls, policies, and efforts</a:t>
          </a:r>
        </a:p>
      </dgm:t>
    </dgm:pt>
    <dgm:pt modelId="{48CDD4D8-F1D2-45B4-A0EE-D4E38A49DFF9}" type="parTrans" cxnId="{30EDA80E-B7C4-432E-8E8F-6F61D19B5147}">
      <dgm:prSet/>
      <dgm:spPr/>
      <dgm:t>
        <a:bodyPr/>
        <a:lstStyle/>
        <a:p>
          <a:endParaRPr lang="en-US"/>
        </a:p>
      </dgm:t>
    </dgm:pt>
    <dgm:pt modelId="{DA746522-AF53-49EA-8967-FF9237F296E3}" type="sibTrans" cxnId="{30EDA80E-B7C4-432E-8E8F-6F61D19B5147}">
      <dgm:prSet/>
      <dgm:spPr/>
      <dgm:t>
        <a:bodyPr/>
        <a:lstStyle/>
        <a:p>
          <a:endParaRPr lang="en-US"/>
        </a:p>
      </dgm:t>
    </dgm:pt>
    <dgm:pt modelId="{F6103E33-ED19-4030-9E8F-D96E8C448632}">
      <dgm:prSet custT="1"/>
      <dgm:spPr/>
      <dgm:t>
        <a:bodyPr/>
        <a:lstStyle/>
        <a:p>
          <a:pPr rtl="0"/>
          <a:r>
            <a:rPr lang="en-US" sz="1800" dirty="0"/>
            <a:t>Proactively enforces policy</a:t>
          </a:r>
        </a:p>
      </dgm:t>
    </dgm:pt>
    <dgm:pt modelId="{21959D46-4F90-474E-8CA4-B37912E319EC}" type="parTrans" cxnId="{22656A5C-D5CD-44BA-917A-6723F2504052}">
      <dgm:prSet/>
      <dgm:spPr/>
      <dgm:t>
        <a:bodyPr/>
        <a:lstStyle/>
        <a:p>
          <a:endParaRPr lang="en-US"/>
        </a:p>
      </dgm:t>
    </dgm:pt>
    <dgm:pt modelId="{88F0D2C0-1519-4F78-963B-51391329A803}" type="sibTrans" cxnId="{22656A5C-D5CD-44BA-917A-6723F2504052}">
      <dgm:prSet/>
      <dgm:spPr/>
      <dgm:t>
        <a:bodyPr/>
        <a:lstStyle/>
        <a:p>
          <a:endParaRPr lang="en-US"/>
        </a:p>
      </dgm:t>
    </dgm:pt>
    <dgm:pt modelId="{AEDB802F-84F6-4203-A13D-3B1EA48EC337}">
      <dgm:prSet custT="1"/>
      <dgm:spPr/>
      <dgm:t>
        <a:bodyPr/>
        <a:lstStyle/>
        <a:p>
          <a:pPr rtl="0"/>
          <a:r>
            <a:rPr lang="en-US" sz="1800" dirty="0"/>
            <a:t>Main Differences</a:t>
          </a:r>
        </a:p>
      </dgm:t>
    </dgm:pt>
    <dgm:pt modelId="{14F3568B-3E36-4738-94F7-8822D6BDD83D}" type="parTrans" cxnId="{788ED6AA-3D26-4413-A005-A3077CB6F94A}">
      <dgm:prSet/>
      <dgm:spPr/>
      <dgm:t>
        <a:bodyPr/>
        <a:lstStyle/>
        <a:p>
          <a:endParaRPr lang="en-US"/>
        </a:p>
      </dgm:t>
    </dgm:pt>
    <dgm:pt modelId="{AF856BC3-505B-4549-B8D5-46201003FBB1}" type="sibTrans" cxnId="{788ED6AA-3D26-4413-A005-A3077CB6F94A}">
      <dgm:prSet/>
      <dgm:spPr/>
      <dgm:t>
        <a:bodyPr/>
        <a:lstStyle/>
        <a:p>
          <a:endParaRPr lang="en-US"/>
        </a:p>
      </dgm:t>
    </dgm:pt>
    <dgm:pt modelId="{04DDEFD8-A1E3-4D9D-87AE-03B900B7B277}">
      <dgm:prSet custT="1"/>
      <dgm:spPr/>
      <dgm:t>
        <a:bodyPr/>
        <a:lstStyle/>
        <a:p>
          <a:pPr rtl="0"/>
          <a:r>
            <a:rPr lang="en-US" sz="1800" dirty="0"/>
            <a:t>GRC focuses on technology, a series of tools and centralized policies</a:t>
          </a:r>
        </a:p>
      </dgm:t>
    </dgm:pt>
    <dgm:pt modelId="{3C2276AF-AB41-42FB-828F-A2ADB9E21EEC}" type="parTrans" cxnId="{32387247-27F2-4877-AC71-CDBDD54BF724}">
      <dgm:prSet/>
      <dgm:spPr/>
      <dgm:t>
        <a:bodyPr/>
        <a:lstStyle/>
        <a:p>
          <a:endParaRPr lang="en-US"/>
        </a:p>
      </dgm:t>
    </dgm:pt>
    <dgm:pt modelId="{438ED5AC-2E70-4D13-863E-F4E515AE7D29}" type="sibTrans" cxnId="{32387247-27F2-4877-AC71-CDBDD54BF724}">
      <dgm:prSet/>
      <dgm:spPr/>
      <dgm:t>
        <a:bodyPr/>
        <a:lstStyle/>
        <a:p>
          <a:endParaRPr lang="en-US"/>
        </a:p>
      </dgm:t>
    </dgm:pt>
    <dgm:pt modelId="{7E1F1B1B-72EB-43B8-A4E1-1C5A8533360D}">
      <dgm:prSet custT="1"/>
      <dgm:spPr/>
      <dgm:t>
        <a:bodyPr/>
        <a:lstStyle/>
        <a:p>
          <a:pPr rtl="0"/>
          <a:r>
            <a:rPr lang="en-US" sz="1800" dirty="0"/>
            <a:t>ERM focuses on value delivery, takes a broad look at risk based on the adoption driven by the organizations leadership, and shifts the discussion from what the organization should spend to how the organization spends money, in mitigating risk.</a:t>
          </a:r>
        </a:p>
      </dgm:t>
    </dgm:pt>
    <dgm:pt modelId="{937086CB-63FC-4077-BCA6-E6E2DAF7EE65}" type="sibTrans" cxnId="{D1B0A4BC-9197-4E67-ACC6-F42374D22159}">
      <dgm:prSet/>
      <dgm:spPr/>
      <dgm:t>
        <a:bodyPr/>
        <a:lstStyle/>
        <a:p>
          <a:endParaRPr lang="en-US"/>
        </a:p>
      </dgm:t>
    </dgm:pt>
    <dgm:pt modelId="{26291F5A-95C2-4384-BEBC-2158FA76B15D}" type="parTrans" cxnId="{D1B0A4BC-9197-4E67-ACC6-F42374D22159}">
      <dgm:prSet/>
      <dgm:spPr/>
      <dgm:t>
        <a:bodyPr/>
        <a:lstStyle/>
        <a:p>
          <a:endParaRPr lang="en-US"/>
        </a:p>
      </dgm:t>
    </dgm:pt>
    <dgm:pt modelId="{4A6E114A-7D54-4349-A3FD-7D070816DB3A}">
      <dgm:prSet custT="1"/>
      <dgm:spPr/>
      <dgm:t>
        <a:bodyPr/>
        <a:lstStyle/>
        <a:p>
          <a:pPr rtl="0"/>
          <a:r>
            <a:rPr lang="en-US" sz="1800" dirty="0"/>
            <a:t>Seeks line of sight into the entire population of risks</a:t>
          </a:r>
        </a:p>
      </dgm:t>
    </dgm:pt>
    <dgm:pt modelId="{CDC4F8B4-5F9A-412E-A0D8-C9072B05C7E8}" type="parTrans" cxnId="{54E9C3A9-2A46-497E-9C28-916FF7E89586}">
      <dgm:prSet/>
      <dgm:spPr/>
      <dgm:t>
        <a:bodyPr/>
        <a:lstStyle/>
        <a:p>
          <a:endParaRPr lang="en-US"/>
        </a:p>
      </dgm:t>
    </dgm:pt>
    <dgm:pt modelId="{0B946073-373F-41F2-A53F-072D4D59BCFC}" type="sibTrans" cxnId="{54E9C3A9-2A46-497E-9C28-916FF7E89586}">
      <dgm:prSet/>
      <dgm:spPr/>
      <dgm:t>
        <a:bodyPr/>
        <a:lstStyle/>
        <a:p>
          <a:endParaRPr lang="en-US"/>
        </a:p>
      </dgm:t>
    </dgm:pt>
    <dgm:pt modelId="{09A416DA-8CC8-42BA-AE8A-035A63615BCB}" type="pres">
      <dgm:prSet presAssocID="{CFA5896F-2096-44CB-8514-9B1234D81A0C}" presName="linear" presStyleCnt="0">
        <dgm:presLayoutVars>
          <dgm:dir/>
          <dgm:animLvl val="lvl"/>
          <dgm:resizeHandles val="exact"/>
        </dgm:presLayoutVars>
      </dgm:prSet>
      <dgm:spPr/>
    </dgm:pt>
    <dgm:pt modelId="{961433D3-DAA9-43EB-BF32-601812273D0E}" type="pres">
      <dgm:prSet presAssocID="{B0F5E44C-DB71-4477-9114-DDDB109998D3}" presName="parentLin" presStyleCnt="0"/>
      <dgm:spPr/>
    </dgm:pt>
    <dgm:pt modelId="{985653E6-F39F-4FAF-8B98-2C98772FF3C2}" type="pres">
      <dgm:prSet presAssocID="{B0F5E44C-DB71-4477-9114-DDDB109998D3}" presName="parentLeftMargin" presStyleLbl="node1" presStyleIdx="0" presStyleCnt="2"/>
      <dgm:spPr/>
    </dgm:pt>
    <dgm:pt modelId="{FE707274-03CC-4A60-A6C7-AFF59EC98CF4}" type="pres">
      <dgm:prSet presAssocID="{B0F5E44C-DB71-4477-9114-DDDB109998D3}" presName="parentText" presStyleLbl="node1" presStyleIdx="0" presStyleCnt="2">
        <dgm:presLayoutVars>
          <dgm:chMax val="0"/>
          <dgm:bulletEnabled val="1"/>
        </dgm:presLayoutVars>
      </dgm:prSet>
      <dgm:spPr/>
    </dgm:pt>
    <dgm:pt modelId="{1CD6FB20-EC16-4BFD-AE0D-3334B5763813}" type="pres">
      <dgm:prSet presAssocID="{B0F5E44C-DB71-4477-9114-DDDB109998D3}" presName="negativeSpace" presStyleCnt="0"/>
      <dgm:spPr/>
    </dgm:pt>
    <dgm:pt modelId="{EA430A52-8A05-4CE0-86BD-2C42B34BEF5D}" type="pres">
      <dgm:prSet presAssocID="{B0F5E44C-DB71-4477-9114-DDDB109998D3}" presName="childText" presStyleLbl="conFgAcc1" presStyleIdx="0" presStyleCnt="2">
        <dgm:presLayoutVars>
          <dgm:bulletEnabled val="1"/>
        </dgm:presLayoutVars>
      </dgm:prSet>
      <dgm:spPr/>
    </dgm:pt>
    <dgm:pt modelId="{8EC86A07-5E95-48F8-A974-BDF492FCCCA3}" type="pres">
      <dgm:prSet presAssocID="{710376AC-06AA-4C92-BC17-D26D87A713E5}" presName="spaceBetweenRectangles" presStyleCnt="0"/>
      <dgm:spPr/>
    </dgm:pt>
    <dgm:pt modelId="{0C591E5F-DD4C-4CDA-9CCC-FA8445B571F9}" type="pres">
      <dgm:prSet presAssocID="{AEDB802F-84F6-4203-A13D-3B1EA48EC337}" presName="parentLin" presStyleCnt="0"/>
      <dgm:spPr/>
    </dgm:pt>
    <dgm:pt modelId="{09D45BDB-91C3-495E-AD5D-A705EEBF86C7}" type="pres">
      <dgm:prSet presAssocID="{AEDB802F-84F6-4203-A13D-3B1EA48EC337}" presName="parentLeftMargin" presStyleLbl="node1" presStyleIdx="0" presStyleCnt="2"/>
      <dgm:spPr/>
    </dgm:pt>
    <dgm:pt modelId="{971C7C32-4BE6-4D10-AA1F-A5810E133896}" type="pres">
      <dgm:prSet presAssocID="{AEDB802F-84F6-4203-A13D-3B1EA48EC337}" presName="parentText" presStyleLbl="node1" presStyleIdx="1" presStyleCnt="2">
        <dgm:presLayoutVars>
          <dgm:chMax val="0"/>
          <dgm:bulletEnabled val="1"/>
        </dgm:presLayoutVars>
      </dgm:prSet>
      <dgm:spPr/>
    </dgm:pt>
    <dgm:pt modelId="{0F00A0FB-FC1F-4CDE-BC37-87AC86B3742C}" type="pres">
      <dgm:prSet presAssocID="{AEDB802F-84F6-4203-A13D-3B1EA48EC337}" presName="negativeSpace" presStyleCnt="0"/>
      <dgm:spPr/>
    </dgm:pt>
    <dgm:pt modelId="{090866E9-87D4-4CA7-8E0F-0550F4B8B8D2}" type="pres">
      <dgm:prSet presAssocID="{AEDB802F-84F6-4203-A13D-3B1EA48EC337}" presName="childText" presStyleLbl="conFgAcc1" presStyleIdx="1" presStyleCnt="2">
        <dgm:presLayoutVars>
          <dgm:bulletEnabled val="1"/>
        </dgm:presLayoutVars>
      </dgm:prSet>
      <dgm:spPr/>
    </dgm:pt>
  </dgm:ptLst>
  <dgm:cxnLst>
    <dgm:cxn modelId="{30EDA80E-B7C4-432E-8E8F-6F61D19B5147}" srcId="{B0F5E44C-DB71-4477-9114-DDDB109998D3}" destId="{1CCD0CCE-9ECD-4DA9-866D-174FC89EFBF3}" srcOrd="2" destOrd="0" parTransId="{48CDD4D8-F1D2-45B4-A0EE-D4E38A49DFF9}" sibTransId="{DA746522-AF53-49EA-8967-FF9237F296E3}"/>
    <dgm:cxn modelId="{1AD5842D-6B09-4B7C-8209-0331AF082898}" type="presOf" srcId="{AEDB802F-84F6-4203-A13D-3B1EA48EC337}" destId="{971C7C32-4BE6-4D10-AA1F-A5810E133896}" srcOrd="1" destOrd="0" presId="urn:microsoft.com/office/officeart/2005/8/layout/list1"/>
    <dgm:cxn modelId="{22656A5C-D5CD-44BA-917A-6723F2504052}" srcId="{B0F5E44C-DB71-4477-9114-DDDB109998D3}" destId="{F6103E33-ED19-4030-9E8F-D96E8C448632}" srcOrd="3" destOrd="0" parTransId="{21959D46-4F90-474E-8CA4-B37912E319EC}" sibTransId="{88F0D2C0-1519-4F78-963B-51391329A803}"/>
    <dgm:cxn modelId="{DC8FB462-F979-49A5-9BA1-289B01257BEC}" srcId="{CFA5896F-2096-44CB-8514-9B1234D81A0C}" destId="{B0F5E44C-DB71-4477-9114-DDDB109998D3}" srcOrd="0" destOrd="0" parTransId="{954EC295-B30F-4B7C-B0AF-EA0C93D832F2}" sibTransId="{710376AC-06AA-4C92-BC17-D26D87A713E5}"/>
    <dgm:cxn modelId="{32387247-27F2-4877-AC71-CDBDD54BF724}" srcId="{AEDB802F-84F6-4203-A13D-3B1EA48EC337}" destId="{04DDEFD8-A1E3-4D9D-87AE-03B900B7B277}" srcOrd="0" destOrd="0" parTransId="{3C2276AF-AB41-42FB-828F-A2ADB9E21EEC}" sibTransId="{438ED5AC-2E70-4D13-863E-F4E515AE7D29}"/>
    <dgm:cxn modelId="{21EB6E69-9D02-4866-8579-BA3BF92D3F08}" type="presOf" srcId="{7E1F1B1B-72EB-43B8-A4E1-1C5A8533360D}" destId="{090866E9-87D4-4CA7-8E0F-0550F4B8B8D2}" srcOrd="0" destOrd="1" presId="urn:microsoft.com/office/officeart/2005/8/layout/list1"/>
    <dgm:cxn modelId="{1F0E8C4C-AD52-48CB-9329-0DA6964DB2C2}" type="presOf" srcId="{20BF686D-6E7B-4FB7-8FFA-F80360CF6BDF}" destId="{EA430A52-8A05-4CE0-86BD-2C42B34BEF5D}" srcOrd="0" destOrd="1" presId="urn:microsoft.com/office/officeart/2005/8/layout/list1"/>
    <dgm:cxn modelId="{95C59C50-9DDE-4811-BB59-23275D4D6240}" type="presOf" srcId="{B0F5E44C-DB71-4477-9114-DDDB109998D3}" destId="{985653E6-F39F-4FAF-8B98-2C98772FF3C2}" srcOrd="0" destOrd="0" presId="urn:microsoft.com/office/officeart/2005/8/layout/list1"/>
    <dgm:cxn modelId="{BEC1A078-95AA-4072-A63D-E3C52735CA92}" type="presOf" srcId="{66FE5642-F897-40B9-A9B6-7744F1325D0A}" destId="{EA430A52-8A05-4CE0-86BD-2C42B34BEF5D}" srcOrd="0" destOrd="0" presId="urn:microsoft.com/office/officeart/2005/8/layout/list1"/>
    <dgm:cxn modelId="{E8739292-36F8-4A80-B2B6-69E0426FD587}" type="presOf" srcId="{AEDB802F-84F6-4203-A13D-3B1EA48EC337}" destId="{09D45BDB-91C3-495E-AD5D-A705EEBF86C7}" srcOrd="0" destOrd="0" presId="urn:microsoft.com/office/officeart/2005/8/layout/list1"/>
    <dgm:cxn modelId="{25EE829C-526E-45D6-8385-5E68AC656252}" type="presOf" srcId="{04DDEFD8-A1E3-4D9D-87AE-03B900B7B277}" destId="{090866E9-87D4-4CA7-8E0F-0550F4B8B8D2}" srcOrd="0" destOrd="0" presId="urn:microsoft.com/office/officeart/2005/8/layout/list1"/>
    <dgm:cxn modelId="{54E9C3A9-2A46-497E-9C28-916FF7E89586}" srcId="{B0F5E44C-DB71-4477-9114-DDDB109998D3}" destId="{4A6E114A-7D54-4349-A3FD-7D070816DB3A}" srcOrd="4" destOrd="0" parTransId="{CDC4F8B4-5F9A-412E-A0D8-C9072B05C7E8}" sibTransId="{0B946073-373F-41F2-A53F-072D4D59BCFC}"/>
    <dgm:cxn modelId="{788ED6AA-3D26-4413-A005-A3077CB6F94A}" srcId="{CFA5896F-2096-44CB-8514-9B1234D81A0C}" destId="{AEDB802F-84F6-4203-A13D-3B1EA48EC337}" srcOrd="1" destOrd="0" parTransId="{14F3568B-3E36-4738-94F7-8822D6BDD83D}" sibTransId="{AF856BC3-505B-4549-B8D5-46201003FBB1}"/>
    <dgm:cxn modelId="{7CA3B3B8-0B78-494D-8745-CEA801A398CB}" type="presOf" srcId="{F6103E33-ED19-4030-9E8F-D96E8C448632}" destId="{EA430A52-8A05-4CE0-86BD-2C42B34BEF5D}" srcOrd="0" destOrd="3" presId="urn:microsoft.com/office/officeart/2005/8/layout/list1"/>
    <dgm:cxn modelId="{D1B0A4BC-9197-4E67-ACC6-F42374D22159}" srcId="{AEDB802F-84F6-4203-A13D-3B1EA48EC337}" destId="{7E1F1B1B-72EB-43B8-A4E1-1C5A8533360D}" srcOrd="1" destOrd="0" parTransId="{26291F5A-95C2-4384-BEBC-2158FA76B15D}" sibTransId="{937086CB-63FC-4077-BCA6-E6E2DAF7EE65}"/>
    <dgm:cxn modelId="{801E12C0-A461-419C-ACCE-C08B4CF53D54}" type="presOf" srcId="{B0F5E44C-DB71-4477-9114-DDDB109998D3}" destId="{FE707274-03CC-4A60-A6C7-AFF59EC98CF4}" srcOrd="1" destOrd="0" presId="urn:microsoft.com/office/officeart/2005/8/layout/list1"/>
    <dgm:cxn modelId="{C00C82C7-7BCE-4FF4-99EA-D6E1EBFF9A9C}" srcId="{B0F5E44C-DB71-4477-9114-DDDB109998D3}" destId="{20BF686D-6E7B-4FB7-8FFA-F80360CF6BDF}" srcOrd="1" destOrd="0" parTransId="{F77C8E1D-F335-43D4-8889-99E203DB2A36}" sibTransId="{B83CBDD1-CF68-4CEC-A253-4954D39AAFED}"/>
    <dgm:cxn modelId="{120313DD-597D-44AD-8BF9-93E27D41A0EE}" type="presOf" srcId="{1CCD0CCE-9ECD-4DA9-866D-174FC89EFBF3}" destId="{EA430A52-8A05-4CE0-86BD-2C42B34BEF5D}" srcOrd="0" destOrd="2" presId="urn:microsoft.com/office/officeart/2005/8/layout/list1"/>
    <dgm:cxn modelId="{08FDA0E2-8B84-42C3-80FD-B80D1A0C5E5D}" type="presOf" srcId="{4A6E114A-7D54-4349-A3FD-7D070816DB3A}" destId="{EA430A52-8A05-4CE0-86BD-2C42B34BEF5D}" srcOrd="0" destOrd="4" presId="urn:microsoft.com/office/officeart/2005/8/layout/list1"/>
    <dgm:cxn modelId="{E57668EF-7F7F-457E-9A32-BEB34BC2CA82}" srcId="{B0F5E44C-DB71-4477-9114-DDDB109998D3}" destId="{66FE5642-F897-40B9-A9B6-7744F1325D0A}" srcOrd="0" destOrd="0" parTransId="{F24B452A-BADE-4EC3-9EA9-548C77AF5848}" sibTransId="{2528EFE7-3113-4819-90DA-72574060B2FF}"/>
    <dgm:cxn modelId="{4F563BFA-1D97-4AA9-9DA9-7491F13F25E4}" type="presOf" srcId="{CFA5896F-2096-44CB-8514-9B1234D81A0C}" destId="{09A416DA-8CC8-42BA-AE8A-035A63615BCB}" srcOrd="0" destOrd="0" presId="urn:microsoft.com/office/officeart/2005/8/layout/list1"/>
    <dgm:cxn modelId="{313F3D97-8710-4E41-BE49-700B9590B5F9}" type="presParOf" srcId="{09A416DA-8CC8-42BA-AE8A-035A63615BCB}" destId="{961433D3-DAA9-43EB-BF32-601812273D0E}" srcOrd="0" destOrd="0" presId="urn:microsoft.com/office/officeart/2005/8/layout/list1"/>
    <dgm:cxn modelId="{250D8BED-A677-4AA2-828D-CE57542FF7FB}" type="presParOf" srcId="{961433D3-DAA9-43EB-BF32-601812273D0E}" destId="{985653E6-F39F-4FAF-8B98-2C98772FF3C2}" srcOrd="0" destOrd="0" presId="urn:microsoft.com/office/officeart/2005/8/layout/list1"/>
    <dgm:cxn modelId="{6FBE6015-C31A-4E80-AE48-900502A0518D}" type="presParOf" srcId="{961433D3-DAA9-43EB-BF32-601812273D0E}" destId="{FE707274-03CC-4A60-A6C7-AFF59EC98CF4}" srcOrd="1" destOrd="0" presId="urn:microsoft.com/office/officeart/2005/8/layout/list1"/>
    <dgm:cxn modelId="{BE1493C9-C9E1-4A23-9DAA-2F7C2C7BCD87}" type="presParOf" srcId="{09A416DA-8CC8-42BA-AE8A-035A63615BCB}" destId="{1CD6FB20-EC16-4BFD-AE0D-3334B5763813}" srcOrd="1" destOrd="0" presId="urn:microsoft.com/office/officeart/2005/8/layout/list1"/>
    <dgm:cxn modelId="{E86A24E7-FD4B-44A1-87A4-6787390B86C8}" type="presParOf" srcId="{09A416DA-8CC8-42BA-AE8A-035A63615BCB}" destId="{EA430A52-8A05-4CE0-86BD-2C42B34BEF5D}" srcOrd="2" destOrd="0" presId="urn:microsoft.com/office/officeart/2005/8/layout/list1"/>
    <dgm:cxn modelId="{FE8CCB56-F201-4507-9489-4F434A025022}" type="presParOf" srcId="{09A416DA-8CC8-42BA-AE8A-035A63615BCB}" destId="{8EC86A07-5E95-48F8-A974-BDF492FCCCA3}" srcOrd="3" destOrd="0" presId="urn:microsoft.com/office/officeart/2005/8/layout/list1"/>
    <dgm:cxn modelId="{294460B7-CF8A-4EBA-8B47-E362C0293ED4}" type="presParOf" srcId="{09A416DA-8CC8-42BA-AE8A-035A63615BCB}" destId="{0C591E5F-DD4C-4CDA-9CCC-FA8445B571F9}" srcOrd="4" destOrd="0" presId="urn:microsoft.com/office/officeart/2005/8/layout/list1"/>
    <dgm:cxn modelId="{C95ED52C-9175-41D4-87E2-AB0627F34248}" type="presParOf" srcId="{0C591E5F-DD4C-4CDA-9CCC-FA8445B571F9}" destId="{09D45BDB-91C3-495E-AD5D-A705EEBF86C7}" srcOrd="0" destOrd="0" presId="urn:microsoft.com/office/officeart/2005/8/layout/list1"/>
    <dgm:cxn modelId="{5432F6EC-AB50-4F4D-8BFC-7560D9151701}" type="presParOf" srcId="{0C591E5F-DD4C-4CDA-9CCC-FA8445B571F9}" destId="{971C7C32-4BE6-4D10-AA1F-A5810E133896}" srcOrd="1" destOrd="0" presId="urn:microsoft.com/office/officeart/2005/8/layout/list1"/>
    <dgm:cxn modelId="{BB34AD18-F186-4BCF-BF9A-B21507A11773}" type="presParOf" srcId="{09A416DA-8CC8-42BA-AE8A-035A63615BCB}" destId="{0F00A0FB-FC1F-4CDE-BC37-87AC86B3742C}" srcOrd="5" destOrd="0" presId="urn:microsoft.com/office/officeart/2005/8/layout/list1"/>
    <dgm:cxn modelId="{2603222B-BFDC-47BD-863D-1BF0BE2FAE5E}" type="presParOf" srcId="{09A416DA-8CC8-42BA-AE8A-035A63615BCB}" destId="{090866E9-87D4-4CA7-8E0F-0550F4B8B8D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0F8C5-3A66-434F-A548-663BB461AABD}">
      <dsp:nvSpPr>
        <dsp:cNvPr id="0" name=""/>
        <dsp:cNvSpPr/>
      </dsp:nvSpPr>
      <dsp:spPr>
        <a:xfrm>
          <a:off x="0" y="32434"/>
          <a:ext cx="8027987" cy="78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Choosing the framework that works in your organization is not easy </a:t>
          </a:r>
        </a:p>
      </dsp:txBody>
      <dsp:txXfrm>
        <a:off x="38381" y="70815"/>
        <a:ext cx="7951225" cy="709478"/>
      </dsp:txXfrm>
    </dsp:sp>
    <dsp:sp modelId="{5CAAE3C3-95C5-456D-8588-6650650BA479}">
      <dsp:nvSpPr>
        <dsp:cNvPr id="0" name=""/>
        <dsp:cNvSpPr/>
      </dsp:nvSpPr>
      <dsp:spPr>
        <a:xfrm>
          <a:off x="0" y="818674"/>
          <a:ext cx="8027987"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889" tIns="22860" rIns="128016" bIns="22860" numCol="1" spcCol="1270" anchor="t" anchorCtr="0">
          <a:noAutofit/>
        </a:bodyPr>
        <a:lstStyle/>
        <a:p>
          <a:pPr marL="171450" lvl="1" indent="-171450" algn="l" defTabSz="800100" rtl="0">
            <a:lnSpc>
              <a:spcPct val="90000"/>
            </a:lnSpc>
            <a:spcBef>
              <a:spcPct val="0"/>
            </a:spcBef>
            <a:spcAft>
              <a:spcPct val="20000"/>
            </a:spcAft>
            <a:buChar char="•"/>
          </a:pPr>
          <a:r>
            <a:rPr lang="en-US" sz="1800" kern="1200" dirty="0"/>
            <a:t>The one selected will be based on the organizational type, risk, and view from top management</a:t>
          </a:r>
        </a:p>
      </dsp:txBody>
      <dsp:txXfrm>
        <a:off x="0" y="818674"/>
        <a:ext cx="8027987" cy="695520"/>
      </dsp:txXfrm>
    </dsp:sp>
    <dsp:sp modelId="{CF7ACFBD-9277-405D-8DAD-A3141EEE6A6A}">
      <dsp:nvSpPr>
        <dsp:cNvPr id="0" name=""/>
        <dsp:cNvSpPr/>
      </dsp:nvSpPr>
      <dsp:spPr>
        <a:xfrm>
          <a:off x="0" y="1408243"/>
          <a:ext cx="8027987" cy="78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A simplified security policy framework domain model</a:t>
          </a:r>
        </a:p>
      </dsp:txBody>
      <dsp:txXfrm>
        <a:off x="38381" y="1446624"/>
        <a:ext cx="7951225" cy="709478"/>
      </dsp:txXfrm>
    </dsp:sp>
    <dsp:sp modelId="{8B265804-EBDE-4852-8F6F-196E90EEF8D4}">
      <dsp:nvSpPr>
        <dsp:cNvPr id="0" name=""/>
        <dsp:cNvSpPr/>
      </dsp:nvSpPr>
      <dsp:spPr>
        <a:xfrm>
          <a:off x="0" y="2181412"/>
          <a:ext cx="8027987" cy="1651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889" tIns="22860" rIns="128016" bIns="22860" numCol="1" spcCol="1270" anchor="t" anchorCtr="0">
          <a:noAutofit/>
        </a:bodyPr>
        <a:lstStyle/>
        <a:p>
          <a:pPr marL="171450" lvl="1" indent="-171450" algn="l" defTabSz="800100" rtl="0">
            <a:lnSpc>
              <a:spcPct val="90000"/>
            </a:lnSpc>
            <a:spcBef>
              <a:spcPct val="0"/>
            </a:spcBef>
            <a:spcAft>
              <a:spcPct val="20000"/>
            </a:spcAft>
            <a:buChar char="•"/>
          </a:pPr>
          <a:r>
            <a:rPr lang="en-US" sz="1800" kern="1200" dirty="0"/>
            <a:t>Federal Information Security Management act of 2002 (FISMA)</a:t>
          </a:r>
        </a:p>
        <a:p>
          <a:pPr marL="171450" lvl="1" indent="-171450" algn="l" defTabSz="800100" rtl="0">
            <a:lnSpc>
              <a:spcPct val="90000"/>
            </a:lnSpc>
            <a:spcBef>
              <a:spcPct val="0"/>
            </a:spcBef>
            <a:spcAft>
              <a:spcPct val="20000"/>
            </a:spcAft>
            <a:buChar char="•"/>
          </a:pPr>
          <a:r>
            <a:rPr lang="en-US" sz="1800" kern="1200" dirty="0"/>
            <a:t>Committee of Sponsoring Organizations (COSO) </a:t>
          </a:r>
        </a:p>
        <a:p>
          <a:pPr marL="171450" lvl="1" indent="-171450" algn="l" defTabSz="800100" rtl="0">
            <a:lnSpc>
              <a:spcPct val="90000"/>
            </a:lnSpc>
            <a:spcBef>
              <a:spcPct val="0"/>
            </a:spcBef>
            <a:spcAft>
              <a:spcPct val="20000"/>
            </a:spcAft>
            <a:buChar char="•"/>
          </a:pPr>
          <a:r>
            <a:rPr lang="en-US" sz="1800" kern="1200" dirty="0"/>
            <a:t>Control Objectives for Information and related Technology (COBIT) (public organization only as this is for SOX 404)</a:t>
          </a:r>
        </a:p>
        <a:p>
          <a:pPr marL="171450" lvl="1" indent="-171450" algn="l" defTabSz="800100" rtl="0">
            <a:lnSpc>
              <a:spcPct val="90000"/>
            </a:lnSpc>
            <a:spcBef>
              <a:spcPct val="0"/>
            </a:spcBef>
            <a:spcAft>
              <a:spcPct val="20000"/>
            </a:spcAft>
            <a:buChar char="•"/>
          </a:pPr>
          <a:r>
            <a:rPr lang="en-US" sz="1800" kern="1200" dirty="0"/>
            <a:t>ISO 17799 (27002), 20000 (ITIL), NIST, OCTAVE, PCI DSS (if you process payments electronically)</a:t>
          </a:r>
          <a:r>
            <a:rPr lang="en-US" sz="1600" kern="1200" dirty="0"/>
            <a:t> </a:t>
          </a:r>
        </a:p>
      </dsp:txBody>
      <dsp:txXfrm>
        <a:off x="0" y="2181412"/>
        <a:ext cx="8027987" cy="1651860"/>
      </dsp:txXfrm>
    </dsp:sp>
    <dsp:sp modelId="{263E2C2D-EB0E-4E44-9D93-2B5186BD9243}">
      <dsp:nvSpPr>
        <dsp:cNvPr id="0" name=""/>
        <dsp:cNvSpPr/>
      </dsp:nvSpPr>
      <dsp:spPr>
        <a:xfrm>
          <a:off x="0" y="3826372"/>
          <a:ext cx="8027987" cy="78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Frameworks are flexible and allow an organization to adopt constructs that fit their overall governance and compliance planning requirements</a:t>
          </a:r>
        </a:p>
      </dsp:txBody>
      <dsp:txXfrm>
        <a:off x="38381" y="3864753"/>
        <a:ext cx="7951225" cy="7094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5EA433-1A84-4E93-A440-668622FD5B3A}">
      <dsp:nvSpPr>
        <dsp:cNvPr id="0" name=""/>
        <dsp:cNvSpPr/>
      </dsp:nvSpPr>
      <dsp:spPr>
        <a:xfrm rot="16200000">
          <a:off x="-352040" y="355982"/>
          <a:ext cx="4503906" cy="3791941"/>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rtl="0">
            <a:lnSpc>
              <a:spcPct val="90000"/>
            </a:lnSpc>
            <a:spcBef>
              <a:spcPct val="0"/>
            </a:spcBef>
            <a:spcAft>
              <a:spcPct val="35000"/>
            </a:spcAft>
            <a:buNone/>
          </a:pPr>
          <a:r>
            <a:rPr lang="en-US" sz="1800" kern="1200" dirty="0"/>
            <a:t>Governance, Risk management, and Compliance (GRC)</a:t>
          </a:r>
        </a:p>
        <a:p>
          <a:pPr marL="171450" lvl="1" indent="-171450" algn="l" defTabSz="800100" rtl="0">
            <a:lnSpc>
              <a:spcPct val="90000"/>
            </a:lnSpc>
            <a:spcBef>
              <a:spcPct val="0"/>
            </a:spcBef>
            <a:spcAft>
              <a:spcPct val="15000"/>
            </a:spcAft>
            <a:buChar char="•"/>
          </a:pPr>
          <a:r>
            <a:rPr lang="en-US" sz="1800" kern="1200" dirty="0"/>
            <a:t>A discipline formally bringing together risk and compliance</a:t>
          </a:r>
        </a:p>
        <a:p>
          <a:pPr marL="171450" lvl="1" indent="-171450" algn="l" defTabSz="800100" rtl="0">
            <a:lnSpc>
              <a:spcPct val="90000"/>
            </a:lnSpc>
            <a:spcBef>
              <a:spcPct val="0"/>
            </a:spcBef>
            <a:spcAft>
              <a:spcPct val="15000"/>
            </a:spcAft>
            <a:buChar char="•"/>
          </a:pPr>
          <a:r>
            <a:rPr lang="en-US" sz="1800" kern="1200" dirty="0"/>
            <a:t>GRC best practices</a:t>
          </a:r>
        </a:p>
        <a:p>
          <a:pPr marL="342900" lvl="2" indent="-171450" algn="l" defTabSz="800100" rtl="0">
            <a:lnSpc>
              <a:spcPct val="90000"/>
            </a:lnSpc>
            <a:spcBef>
              <a:spcPct val="0"/>
            </a:spcBef>
            <a:spcAft>
              <a:spcPct val="15000"/>
            </a:spcAft>
            <a:buChar char="•"/>
          </a:pPr>
          <a:r>
            <a:rPr lang="en-US" sz="1800" kern="1200" dirty="0"/>
            <a:t>ISO 27000 series</a:t>
          </a:r>
        </a:p>
        <a:p>
          <a:pPr marL="342900" lvl="2" indent="-171450" algn="l" defTabSz="800100" rtl="0">
            <a:lnSpc>
              <a:spcPct val="90000"/>
            </a:lnSpc>
            <a:spcBef>
              <a:spcPct val="0"/>
            </a:spcBef>
            <a:spcAft>
              <a:spcPct val="15000"/>
            </a:spcAft>
            <a:buChar char="•"/>
          </a:pPr>
          <a:r>
            <a:rPr lang="en-US" sz="1800" kern="1200" dirty="0"/>
            <a:t>COBIT</a:t>
          </a:r>
        </a:p>
        <a:p>
          <a:pPr marL="342900" lvl="2" indent="-171450" algn="l" defTabSz="800100" rtl="0">
            <a:lnSpc>
              <a:spcPct val="90000"/>
            </a:lnSpc>
            <a:spcBef>
              <a:spcPct val="0"/>
            </a:spcBef>
            <a:spcAft>
              <a:spcPct val="15000"/>
            </a:spcAft>
            <a:buChar char="•"/>
          </a:pPr>
          <a:r>
            <a:rPr lang="en-US" sz="1800" kern="1200" dirty="0"/>
            <a:t>COSO</a:t>
          </a:r>
          <a:r>
            <a:rPr lang="en-US" sz="1700" kern="1200" dirty="0"/>
            <a:t>				</a:t>
          </a:r>
        </a:p>
      </dsp:txBody>
      <dsp:txXfrm rot="5400000">
        <a:off x="3943" y="900780"/>
        <a:ext cx="3791941" cy="2702344"/>
      </dsp:txXfrm>
    </dsp:sp>
    <dsp:sp modelId="{605C898F-AB6F-4CB1-B27F-F3519DB750FF}">
      <dsp:nvSpPr>
        <dsp:cNvPr id="0" name=""/>
        <dsp:cNvSpPr/>
      </dsp:nvSpPr>
      <dsp:spPr>
        <a:xfrm rot="16200000">
          <a:off x="3724296" y="355982"/>
          <a:ext cx="4503906" cy="3791941"/>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rtl="0">
            <a:lnSpc>
              <a:spcPct val="90000"/>
            </a:lnSpc>
            <a:spcBef>
              <a:spcPct val="0"/>
            </a:spcBef>
            <a:spcAft>
              <a:spcPct val="35000"/>
            </a:spcAft>
            <a:buNone/>
          </a:pPr>
          <a:r>
            <a:rPr lang="en-US" sz="1800" kern="1200" dirty="0"/>
            <a:t>Enterprise Risk Management (ERM)</a:t>
          </a:r>
        </a:p>
        <a:p>
          <a:pPr marL="171450" lvl="1" indent="-171450" algn="l" defTabSz="800100" rtl="0">
            <a:lnSpc>
              <a:spcPct val="90000"/>
            </a:lnSpc>
            <a:spcBef>
              <a:spcPct val="0"/>
            </a:spcBef>
            <a:spcAft>
              <a:spcPct val="15000"/>
            </a:spcAft>
            <a:buChar char="•"/>
          </a:pPr>
          <a:r>
            <a:rPr lang="en-US" sz="1800" kern="1200" dirty="0"/>
            <a:t>Follows common risk methodologies</a:t>
          </a:r>
        </a:p>
        <a:p>
          <a:pPr marL="285750" lvl="1" indent="-285750" algn="l" defTabSz="1244600" rtl="0">
            <a:lnSpc>
              <a:spcPct val="90000"/>
            </a:lnSpc>
            <a:spcBef>
              <a:spcPct val="0"/>
            </a:spcBef>
            <a:spcAft>
              <a:spcPct val="15000"/>
            </a:spcAft>
            <a:buChar char="•"/>
          </a:pPr>
          <a:endParaRPr lang="en-US" sz="2800" kern="1200" dirty="0"/>
        </a:p>
      </dsp:txBody>
      <dsp:txXfrm rot="5400000">
        <a:off x="4080279" y="900780"/>
        <a:ext cx="3791941" cy="2702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430A52-8A05-4CE0-86BD-2C42B34BEF5D}">
      <dsp:nvSpPr>
        <dsp:cNvPr id="0" name=""/>
        <dsp:cNvSpPr/>
      </dsp:nvSpPr>
      <dsp:spPr>
        <a:xfrm>
          <a:off x="0" y="222652"/>
          <a:ext cx="8299450" cy="20065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130" tIns="270764" rIns="644130"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Defines risk in terms of business threats</a:t>
          </a:r>
        </a:p>
        <a:p>
          <a:pPr marL="171450" lvl="1" indent="-171450" algn="l" defTabSz="800100" rtl="0">
            <a:lnSpc>
              <a:spcPct val="90000"/>
            </a:lnSpc>
            <a:spcBef>
              <a:spcPct val="0"/>
            </a:spcBef>
            <a:spcAft>
              <a:spcPct val="15000"/>
            </a:spcAft>
            <a:buChar char="•"/>
          </a:pPr>
          <a:r>
            <a:rPr lang="en-US" sz="1800" kern="1200" dirty="0"/>
            <a:t>Applies flexible frameworks to satisfy multiple compliance regulations</a:t>
          </a:r>
        </a:p>
        <a:p>
          <a:pPr marL="171450" lvl="1" indent="-171450" algn="l" defTabSz="800100" rtl="0">
            <a:lnSpc>
              <a:spcPct val="90000"/>
            </a:lnSpc>
            <a:spcBef>
              <a:spcPct val="0"/>
            </a:spcBef>
            <a:spcAft>
              <a:spcPct val="15000"/>
            </a:spcAft>
            <a:buChar char="•"/>
          </a:pPr>
          <a:r>
            <a:rPr lang="en-US" sz="1800" kern="1200" dirty="0"/>
            <a:t>Eliminates redundant controls, policies, and efforts</a:t>
          </a:r>
        </a:p>
        <a:p>
          <a:pPr marL="171450" lvl="1" indent="-171450" algn="l" defTabSz="800100" rtl="0">
            <a:lnSpc>
              <a:spcPct val="90000"/>
            </a:lnSpc>
            <a:spcBef>
              <a:spcPct val="0"/>
            </a:spcBef>
            <a:spcAft>
              <a:spcPct val="15000"/>
            </a:spcAft>
            <a:buChar char="•"/>
          </a:pPr>
          <a:r>
            <a:rPr lang="en-US" sz="1800" kern="1200" dirty="0"/>
            <a:t>Proactively enforces policy</a:t>
          </a:r>
        </a:p>
        <a:p>
          <a:pPr marL="171450" lvl="1" indent="-171450" algn="l" defTabSz="800100" rtl="0">
            <a:lnSpc>
              <a:spcPct val="90000"/>
            </a:lnSpc>
            <a:spcBef>
              <a:spcPct val="0"/>
            </a:spcBef>
            <a:spcAft>
              <a:spcPct val="15000"/>
            </a:spcAft>
            <a:buChar char="•"/>
          </a:pPr>
          <a:r>
            <a:rPr lang="en-US" sz="1800" kern="1200" dirty="0"/>
            <a:t>Seeks line of sight into the entire population of risks</a:t>
          </a:r>
        </a:p>
      </dsp:txBody>
      <dsp:txXfrm>
        <a:off x="0" y="222652"/>
        <a:ext cx="8299450" cy="2006550"/>
      </dsp:txXfrm>
    </dsp:sp>
    <dsp:sp modelId="{FE707274-03CC-4A60-A6C7-AFF59EC98CF4}">
      <dsp:nvSpPr>
        <dsp:cNvPr id="0" name=""/>
        <dsp:cNvSpPr/>
      </dsp:nvSpPr>
      <dsp:spPr>
        <a:xfrm>
          <a:off x="414972" y="30772"/>
          <a:ext cx="5809615" cy="3837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00100" rtl="0">
            <a:lnSpc>
              <a:spcPct val="90000"/>
            </a:lnSpc>
            <a:spcBef>
              <a:spcPct val="0"/>
            </a:spcBef>
            <a:spcAft>
              <a:spcPct val="35000"/>
            </a:spcAft>
            <a:buNone/>
          </a:pPr>
          <a:r>
            <a:rPr lang="en-US" sz="1800" kern="1200" dirty="0"/>
            <a:t>Main Similarities</a:t>
          </a:r>
        </a:p>
      </dsp:txBody>
      <dsp:txXfrm>
        <a:off x="433706" y="49506"/>
        <a:ext cx="5772147" cy="346292"/>
      </dsp:txXfrm>
    </dsp:sp>
    <dsp:sp modelId="{090866E9-87D4-4CA7-8E0F-0550F4B8B8D2}">
      <dsp:nvSpPr>
        <dsp:cNvPr id="0" name=""/>
        <dsp:cNvSpPr/>
      </dsp:nvSpPr>
      <dsp:spPr>
        <a:xfrm>
          <a:off x="0" y="2491282"/>
          <a:ext cx="8299450" cy="1883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130" tIns="270764" rIns="644130"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GRC focuses on technology, a series of tools and centralized policies</a:t>
          </a:r>
        </a:p>
        <a:p>
          <a:pPr marL="171450" lvl="1" indent="-171450" algn="l" defTabSz="800100" rtl="0">
            <a:lnSpc>
              <a:spcPct val="90000"/>
            </a:lnSpc>
            <a:spcBef>
              <a:spcPct val="0"/>
            </a:spcBef>
            <a:spcAft>
              <a:spcPct val="15000"/>
            </a:spcAft>
            <a:buChar char="•"/>
          </a:pPr>
          <a:r>
            <a:rPr lang="en-US" sz="1800" kern="1200" dirty="0"/>
            <a:t>ERM focuses on value delivery, takes a broad look at risk based on the adoption driven by the organizations leadership, and shifts the discussion from what the organization should spend to how the organization spends money, in mitigating risk.</a:t>
          </a:r>
        </a:p>
      </dsp:txBody>
      <dsp:txXfrm>
        <a:off x="0" y="2491282"/>
        <a:ext cx="8299450" cy="1883700"/>
      </dsp:txXfrm>
    </dsp:sp>
    <dsp:sp modelId="{971C7C32-4BE6-4D10-AA1F-A5810E133896}">
      <dsp:nvSpPr>
        <dsp:cNvPr id="0" name=""/>
        <dsp:cNvSpPr/>
      </dsp:nvSpPr>
      <dsp:spPr>
        <a:xfrm>
          <a:off x="414972" y="2299402"/>
          <a:ext cx="5809615" cy="3837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00100" rtl="0">
            <a:lnSpc>
              <a:spcPct val="90000"/>
            </a:lnSpc>
            <a:spcBef>
              <a:spcPct val="0"/>
            </a:spcBef>
            <a:spcAft>
              <a:spcPct val="35000"/>
            </a:spcAft>
            <a:buNone/>
          </a:pPr>
          <a:r>
            <a:rPr lang="en-US" sz="1800" kern="1200" dirty="0"/>
            <a:t>Main Differences</a:t>
          </a:r>
        </a:p>
      </dsp:txBody>
      <dsp:txXfrm>
        <a:off x="433706" y="2318136"/>
        <a:ext cx="5772147"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99C750E7-7B86-45A4-8A55-742EF8A6628F}" type="datetime1">
              <a:rPr lang="en-US"/>
              <a:pPr>
                <a:defRPr/>
              </a:pPr>
              <a:t>9/22/2023</a:t>
            </a:fld>
            <a:endParaRPr lang="en-US" dirty="0"/>
          </a:p>
        </p:txBody>
      </p:sp>
      <p:sp>
        <p:nvSpPr>
          <p:cNvPr id="50180" name="Rectangle 4"/>
          <p:cNvSpPr>
            <a:spLocks noGrp="1" noChangeArrowheads="1"/>
          </p:cNvSpPr>
          <p:nvPr>
            <p:ph type="ftr" sz="quarter" idx="2"/>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a:t>(c) ITT Educational Services, Inc.</a:t>
            </a:r>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23856931-85EC-41C3-ABE3-EE63BED4C3BB}" type="slidenum">
              <a:rPr lang="en-US"/>
              <a:pPr>
                <a:defRPr/>
              </a:pPr>
              <a:t>‹#›</a:t>
            </a:fld>
            <a:endParaRPr lang="en-US" dirty="0"/>
          </a:p>
        </p:txBody>
      </p:sp>
    </p:spTree>
    <p:extLst>
      <p:ext uri="{BB962C8B-B14F-4D97-AF65-F5344CB8AC3E}">
        <p14:creationId xmlns:p14="http://schemas.microsoft.com/office/powerpoint/2010/main" val="124254219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A02DF3A8-3DA7-4B37-92E2-C8ABCCFB9FF8}" type="datetime1">
              <a:rPr lang="en-US"/>
              <a:pPr>
                <a:defRPr/>
              </a:pPr>
              <a:t>9/22/2023</a:t>
            </a:fld>
            <a:endParaRPr lang="en-US" dirty="0"/>
          </a:p>
        </p:txBody>
      </p:sp>
      <p:sp>
        <p:nvSpPr>
          <p:cNvPr id="26628"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a:t>(c) ITT Educational Services, Inc.</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F0E0F14A-39CE-4D66-A80F-E4A9906D2396}" type="slidenum">
              <a:rPr lang="en-US"/>
              <a:pPr>
                <a:defRPr/>
              </a:pPr>
              <a:t>‹#›</a:t>
            </a:fld>
            <a:endParaRPr lang="en-US" dirty="0"/>
          </a:p>
        </p:txBody>
      </p:sp>
    </p:spTree>
    <p:extLst>
      <p:ext uri="{BB962C8B-B14F-4D97-AF65-F5344CB8AC3E}">
        <p14:creationId xmlns:p14="http://schemas.microsoft.com/office/powerpoint/2010/main" val="1498480397"/>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Arial" charset="0"/>
              </a:defRPr>
            </a:lvl1pPr>
            <a:lvl2pPr marL="742950" indent="-285750" defTabSz="931863" eaLnBrk="0" hangingPunct="0">
              <a:defRPr>
                <a:solidFill>
                  <a:schemeClr val="tx1"/>
                </a:solidFill>
                <a:latin typeface="Arial" charset="0"/>
              </a:defRPr>
            </a:lvl2pPr>
            <a:lvl3pPr marL="1143000" indent="-228600" defTabSz="931863" eaLnBrk="0" hangingPunct="0">
              <a:defRPr>
                <a:solidFill>
                  <a:schemeClr val="tx1"/>
                </a:solidFill>
                <a:latin typeface="Arial" charset="0"/>
              </a:defRPr>
            </a:lvl3pPr>
            <a:lvl4pPr marL="1600200" indent="-228600" defTabSz="931863" eaLnBrk="0" hangingPunct="0">
              <a:defRPr>
                <a:solidFill>
                  <a:schemeClr val="tx1"/>
                </a:solidFill>
                <a:latin typeface="Arial" charset="0"/>
              </a:defRPr>
            </a:lvl4pPr>
            <a:lvl5pPr marL="2057400" indent="-228600" defTabSz="931863" eaLnBrk="0" hangingPunct="0">
              <a:defRPr>
                <a:solidFill>
                  <a:schemeClr val="tx1"/>
                </a:solidFill>
                <a:latin typeface="Arial" charset="0"/>
              </a:defRPr>
            </a:lvl5pPr>
            <a:lvl6pPr marL="2514600" indent="-228600" defTabSz="931863" eaLnBrk="0" fontAlgn="base" hangingPunct="0">
              <a:spcBef>
                <a:spcPct val="0"/>
              </a:spcBef>
              <a:spcAft>
                <a:spcPct val="0"/>
              </a:spcAft>
              <a:defRPr>
                <a:solidFill>
                  <a:schemeClr val="tx1"/>
                </a:solidFill>
                <a:latin typeface="Arial" charset="0"/>
              </a:defRPr>
            </a:lvl6pPr>
            <a:lvl7pPr marL="2971800" indent="-228600" defTabSz="931863" eaLnBrk="0" fontAlgn="base" hangingPunct="0">
              <a:spcBef>
                <a:spcPct val="0"/>
              </a:spcBef>
              <a:spcAft>
                <a:spcPct val="0"/>
              </a:spcAft>
              <a:defRPr>
                <a:solidFill>
                  <a:schemeClr val="tx1"/>
                </a:solidFill>
                <a:latin typeface="Arial" charset="0"/>
              </a:defRPr>
            </a:lvl7pPr>
            <a:lvl8pPr marL="3429000" indent="-228600" defTabSz="931863" eaLnBrk="0" fontAlgn="base" hangingPunct="0">
              <a:spcBef>
                <a:spcPct val="0"/>
              </a:spcBef>
              <a:spcAft>
                <a:spcPct val="0"/>
              </a:spcAft>
              <a:defRPr>
                <a:solidFill>
                  <a:schemeClr val="tx1"/>
                </a:solidFill>
                <a:latin typeface="Arial" charset="0"/>
              </a:defRPr>
            </a:lvl8pPr>
            <a:lvl9pPr marL="3886200" indent="-228600" defTabSz="931863" eaLnBrk="0" fontAlgn="base" hangingPunct="0">
              <a:spcBef>
                <a:spcPct val="0"/>
              </a:spcBef>
              <a:spcAft>
                <a:spcPct val="0"/>
              </a:spcAft>
              <a:defRPr>
                <a:solidFill>
                  <a:schemeClr val="tx1"/>
                </a:solidFill>
                <a:latin typeface="Arial" charset="0"/>
              </a:defRPr>
            </a:lvl9pPr>
          </a:lstStyle>
          <a:p>
            <a:pPr eaLnBrk="1" hangingPunct="1"/>
            <a:fld id="{750157F7-EF6F-4E50-9022-D37DEF319EDB}" type="slidenum">
              <a:rPr lang="en-US" smtClean="0">
                <a:latin typeface="Times New Roman" pitchFamily="18" charset="0"/>
              </a:rPr>
              <a:pPr eaLnBrk="1" hangingPunct="1"/>
              <a:t>1</a:t>
            </a:fld>
            <a:endParaRPr lang="en-US">
              <a:latin typeface="Times New Roman"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231089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Arial" charset="0"/>
              </a:defRPr>
            </a:lvl1pPr>
            <a:lvl2pPr marL="742950" indent="-285750" defTabSz="931863" eaLnBrk="0" hangingPunct="0">
              <a:defRPr>
                <a:solidFill>
                  <a:schemeClr val="tx1"/>
                </a:solidFill>
                <a:latin typeface="Arial" charset="0"/>
              </a:defRPr>
            </a:lvl2pPr>
            <a:lvl3pPr marL="1143000" indent="-228600" defTabSz="931863" eaLnBrk="0" hangingPunct="0">
              <a:defRPr>
                <a:solidFill>
                  <a:schemeClr val="tx1"/>
                </a:solidFill>
                <a:latin typeface="Arial" charset="0"/>
              </a:defRPr>
            </a:lvl3pPr>
            <a:lvl4pPr marL="1600200" indent="-228600" defTabSz="931863" eaLnBrk="0" hangingPunct="0">
              <a:defRPr>
                <a:solidFill>
                  <a:schemeClr val="tx1"/>
                </a:solidFill>
                <a:latin typeface="Arial" charset="0"/>
              </a:defRPr>
            </a:lvl4pPr>
            <a:lvl5pPr marL="2057400" indent="-228600" defTabSz="931863" eaLnBrk="0" hangingPunct="0">
              <a:defRPr>
                <a:solidFill>
                  <a:schemeClr val="tx1"/>
                </a:solidFill>
                <a:latin typeface="Arial" charset="0"/>
              </a:defRPr>
            </a:lvl5pPr>
            <a:lvl6pPr marL="2514600" indent="-228600" defTabSz="931863" eaLnBrk="0" fontAlgn="base" hangingPunct="0">
              <a:spcBef>
                <a:spcPct val="0"/>
              </a:spcBef>
              <a:spcAft>
                <a:spcPct val="0"/>
              </a:spcAft>
              <a:defRPr>
                <a:solidFill>
                  <a:schemeClr val="tx1"/>
                </a:solidFill>
                <a:latin typeface="Arial" charset="0"/>
              </a:defRPr>
            </a:lvl6pPr>
            <a:lvl7pPr marL="2971800" indent="-228600" defTabSz="931863" eaLnBrk="0" fontAlgn="base" hangingPunct="0">
              <a:spcBef>
                <a:spcPct val="0"/>
              </a:spcBef>
              <a:spcAft>
                <a:spcPct val="0"/>
              </a:spcAft>
              <a:defRPr>
                <a:solidFill>
                  <a:schemeClr val="tx1"/>
                </a:solidFill>
                <a:latin typeface="Arial" charset="0"/>
              </a:defRPr>
            </a:lvl7pPr>
            <a:lvl8pPr marL="3429000" indent="-228600" defTabSz="931863" eaLnBrk="0" fontAlgn="base" hangingPunct="0">
              <a:spcBef>
                <a:spcPct val="0"/>
              </a:spcBef>
              <a:spcAft>
                <a:spcPct val="0"/>
              </a:spcAft>
              <a:defRPr>
                <a:solidFill>
                  <a:schemeClr val="tx1"/>
                </a:solidFill>
                <a:latin typeface="Arial" charset="0"/>
              </a:defRPr>
            </a:lvl8pPr>
            <a:lvl9pPr marL="3886200" indent="-228600" defTabSz="931863" eaLnBrk="0" fontAlgn="base" hangingPunct="0">
              <a:spcBef>
                <a:spcPct val="0"/>
              </a:spcBef>
              <a:spcAft>
                <a:spcPct val="0"/>
              </a:spcAft>
              <a:defRPr>
                <a:solidFill>
                  <a:schemeClr val="tx1"/>
                </a:solidFill>
                <a:latin typeface="Arial" charset="0"/>
              </a:defRPr>
            </a:lvl9pPr>
          </a:lstStyle>
          <a:p>
            <a:pPr eaLnBrk="1" hangingPunct="1"/>
            <a:fld id="{6B4BD9CE-684B-4D92-90EC-7FB334CA6A70}" type="slidenum">
              <a:rPr lang="en-US" smtClean="0"/>
              <a:pPr eaLnBrk="1" hangingPunct="1"/>
              <a:t>2</a:t>
            </a:fld>
            <a:endParaRPr lang="en-US"/>
          </a:p>
        </p:txBody>
      </p:sp>
    </p:spTree>
    <p:extLst>
      <p:ext uri="{BB962C8B-B14F-4D97-AF65-F5344CB8AC3E}">
        <p14:creationId xmlns:p14="http://schemas.microsoft.com/office/powerpoint/2010/main" val="37073379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75" y="0"/>
            <a:ext cx="91376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Tree>
    <p:extLst>
      <p:ext uri="{BB962C8B-B14F-4D97-AF65-F5344CB8AC3E}">
        <p14:creationId xmlns:p14="http://schemas.microsoft.com/office/powerpoint/2010/main" val="1440328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4256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41183419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6297613"/>
            <a:ext cx="91440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539750" y="304800"/>
            <a:ext cx="82994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80966" name="Text Box 6"/>
          <p:cNvSpPr txBox="1">
            <a:spLocks noChangeArrowheads="1"/>
          </p:cNvSpPr>
          <p:nvPr/>
        </p:nvSpPr>
        <p:spPr bwMode="auto">
          <a:xfrm>
            <a:off x="8382000" y="6496050"/>
            <a:ext cx="581025" cy="215900"/>
          </a:xfrm>
          <a:prstGeom prst="rect">
            <a:avLst/>
          </a:prstGeom>
          <a:noFill/>
          <a:ln w="9525">
            <a:noFill/>
            <a:miter lim="800000"/>
            <a:headEnd/>
            <a:tailEnd/>
          </a:ln>
          <a:effectLst/>
        </p:spPr>
        <p:txBody>
          <a:bodyPr wrap="none">
            <a:spAutoFit/>
          </a:bodyPr>
          <a:lstStyle/>
          <a:p>
            <a:pPr eaLnBrk="0" hangingPunct="0">
              <a:defRPr/>
            </a:pPr>
            <a:r>
              <a:rPr lang="en-US" sz="800" dirty="0">
                <a:solidFill>
                  <a:schemeClr val="bg1"/>
                </a:solidFill>
              </a:rPr>
              <a:t>Page </a:t>
            </a:r>
            <a:fld id="{C7B5CB5D-10AB-48AB-905E-D709D3382AFC}" type="slidenum">
              <a:rPr lang="en-US" sz="800">
                <a:solidFill>
                  <a:schemeClr val="bg1"/>
                </a:solidFill>
              </a:rPr>
              <a:pPr eaLnBrk="0" hangingPunct="0">
                <a:defRPr/>
              </a:pPr>
              <a:t>‹#›</a:t>
            </a:fld>
            <a:endParaRPr lang="en-US" sz="8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4050" r:id="rId1"/>
    <p:sldLayoutId id="2147484048" r:id="rId2"/>
    <p:sldLayoutId id="2147484049"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pitchFamily="18" charset="0"/>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subTitle" idx="1"/>
          </p:nvPr>
        </p:nvSpPr>
        <p:spPr>
          <a:xfrm>
            <a:off x="401638" y="2133600"/>
            <a:ext cx="8348662" cy="3465564"/>
          </a:xfrm>
        </p:spPr>
        <p:txBody>
          <a:bodyPr/>
          <a:lstStyle/>
          <a:p>
            <a:pPr algn="ctr"/>
            <a:r>
              <a:rPr lang="en-US" sz="3600" b="1" dirty="0"/>
              <a:t>IAP301 Policy Development in Information Assurance</a:t>
            </a:r>
          </a:p>
          <a:p>
            <a:pPr algn="ctr"/>
            <a:endParaRPr lang="en-US" dirty="0"/>
          </a:p>
          <a:p>
            <a:pPr algn="ctr"/>
            <a:endParaRPr lang="en-US" dirty="0"/>
          </a:p>
          <a:p>
            <a:pPr algn="ctr"/>
            <a:r>
              <a:rPr lang="en-US" b="1" dirty="0"/>
              <a:t>Lecture 4. Information Systems Security Policy Framework</a:t>
            </a:r>
          </a:p>
        </p:txBody>
      </p:sp>
      <p:pic>
        <p:nvPicPr>
          <p:cNvPr id="2" name="Picture 1">
            <a:extLst>
              <a:ext uri="{FF2B5EF4-FFF2-40B4-BE49-F238E27FC236}">
                <a16:creationId xmlns:a16="http://schemas.microsoft.com/office/drawing/2014/main" id="{41B01F3B-0CBE-5E12-C972-96235D2D38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6268370"/>
            <a:ext cx="1429406" cy="58963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sz="4000"/>
              <a:t>Learning Objective</a:t>
            </a:r>
          </a:p>
        </p:txBody>
      </p:sp>
      <p:sp>
        <p:nvSpPr>
          <p:cNvPr id="4099" name="Content Placeholder 2"/>
          <p:cNvSpPr>
            <a:spLocks noGrp="1"/>
          </p:cNvSpPr>
          <p:nvPr>
            <p:ph idx="1"/>
          </p:nvPr>
        </p:nvSpPr>
        <p:spPr>
          <a:xfrm>
            <a:off x="539750" y="1524000"/>
            <a:ext cx="8299450" cy="4419600"/>
          </a:xfrm>
        </p:spPr>
        <p:txBody>
          <a:bodyPr/>
          <a:lstStyle/>
          <a:p>
            <a:r>
              <a:rPr lang="en-US" sz="3200"/>
              <a:t>Describe the different methods, roles, responsibilities, and accountabilities of personnel, along with the governance and compliance of security policy framework.</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z="4000"/>
              <a:t>Key Concepts</a:t>
            </a:r>
          </a:p>
        </p:txBody>
      </p:sp>
      <p:sp>
        <p:nvSpPr>
          <p:cNvPr id="5123" name="Content Placeholder 2"/>
          <p:cNvSpPr>
            <a:spLocks noGrp="1"/>
          </p:cNvSpPr>
          <p:nvPr>
            <p:ph idx="1"/>
          </p:nvPr>
        </p:nvSpPr>
        <p:spPr/>
        <p:txBody>
          <a:bodyPr/>
          <a:lstStyle/>
          <a:p>
            <a:r>
              <a:rPr lang="en-US" sz="3200"/>
              <a:t>Different methods and best practices for approaching a security policy framework</a:t>
            </a:r>
          </a:p>
          <a:p>
            <a:r>
              <a:rPr lang="en-US" sz="3200"/>
              <a:t>Importance of defining roles, responsibilities, and accountability for personnel</a:t>
            </a:r>
          </a:p>
          <a:p>
            <a:r>
              <a:rPr lang="en-US" sz="3200"/>
              <a:t>Separation of duties (SOD)</a:t>
            </a:r>
          </a:p>
          <a:p>
            <a:r>
              <a:rPr lang="en-US" sz="3200"/>
              <a:t>Importance of governance and compliance</a:t>
            </a: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CONCEPTS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539750" y="304800"/>
            <a:ext cx="8299450" cy="476250"/>
          </a:xfrm>
        </p:spPr>
        <p:txBody>
          <a:bodyPr/>
          <a:lstStyle/>
          <a:p>
            <a:r>
              <a:rPr lang="en-US" sz="4000"/>
              <a:t>Information Systems Security Policy Frameworks</a:t>
            </a:r>
            <a:endParaRPr lang="en-US" sz="4000">
              <a:solidFill>
                <a:schemeClr val="tx2"/>
              </a:solidFill>
            </a:endParaRPr>
          </a:p>
        </p:txBody>
      </p:sp>
      <p:graphicFrame>
        <p:nvGraphicFramePr>
          <p:cNvPr id="5" name="Content Placeholder 4"/>
          <p:cNvGraphicFramePr>
            <a:graphicFrameLocks noGrp="1"/>
          </p:cNvGraphicFramePr>
          <p:nvPr>
            <p:ph idx="1"/>
          </p:nvPr>
        </p:nvGraphicFramePr>
        <p:xfrm>
          <a:off x="684749" y="1602134"/>
          <a:ext cx="8027987" cy="4770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221085" y="304799"/>
            <a:ext cx="2923886" cy="5860474"/>
          </a:xfrm>
        </p:spPr>
        <p:txBody>
          <a:bodyPr anchor="ctr"/>
          <a:lstStyle/>
          <a:p>
            <a:r>
              <a:rPr lang="en-US" sz="3200" dirty="0"/>
              <a:t>The Three-Domain Model</a:t>
            </a:r>
            <a:endParaRPr lang="en-US" sz="3200" dirty="0">
              <a:solidFill>
                <a:schemeClr val="tx2"/>
              </a:solidFill>
            </a:endParaRPr>
          </a:p>
        </p:txBody>
      </p:sp>
      <p:pic>
        <p:nvPicPr>
          <p:cNvPr id="5" name="Picture 4" descr="The Risk IT framework process model is built on three domains."/>
          <p:cNvPicPr/>
          <p:nvPr/>
        </p:nvPicPr>
        <p:blipFill>
          <a:blip r:embed="rId2">
            <a:extLst>
              <a:ext uri="{28A0092B-C50C-407E-A947-70E740481C1C}">
                <a14:useLocalDpi xmlns:a14="http://schemas.microsoft.com/office/drawing/2010/main" val="0"/>
              </a:ext>
            </a:extLst>
          </a:blip>
          <a:srcRect/>
          <a:stretch>
            <a:fillRect/>
          </a:stretch>
        </p:blipFill>
        <p:spPr bwMode="auto">
          <a:xfrm>
            <a:off x="2646218" y="304799"/>
            <a:ext cx="6206837" cy="58604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678873"/>
          </a:xfrm>
        </p:spPr>
        <p:txBody>
          <a:bodyPr/>
          <a:lstStyle/>
          <a:p>
            <a:r>
              <a:rPr lang="en-US" sz="3200" dirty="0"/>
              <a:t>The Seven-Domain Model</a:t>
            </a:r>
            <a:endParaRPr lang="en-US" sz="3200" dirty="0">
              <a:solidFill>
                <a:schemeClr val="tx2"/>
              </a:solidFill>
            </a:endParaRPr>
          </a:p>
        </p:txBody>
      </p:sp>
      <p:pic>
        <p:nvPicPr>
          <p:cNvPr id="5" name="Picture 4" descr="Simplified IT security policy framework domain model."/>
          <p:cNvPicPr/>
          <p:nvPr/>
        </p:nvPicPr>
        <p:blipFill>
          <a:blip r:embed="rId2">
            <a:extLst>
              <a:ext uri="{28A0092B-C50C-407E-A947-70E740481C1C}">
                <a14:useLocalDpi xmlns:a14="http://schemas.microsoft.com/office/drawing/2010/main" val="0"/>
              </a:ext>
            </a:extLst>
          </a:blip>
          <a:srcRect/>
          <a:stretch>
            <a:fillRect/>
          </a:stretch>
        </p:blipFill>
        <p:spPr bwMode="auto">
          <a:xfrm>
            <a:off x="692727" y="1191491"/>
            <a:ext cx="7938655" cy="4987636"/>
          </a:xfrm>
          <a:prstGeom prst="rect">
            <a:avLst/>
          </a:prstGeom>
          <a:noFill/>
          <a:ln>
            <a:noFill/>
          </a:ln>
        </p:spPr>
      </p:pic>
    </p:spTree>
    <p:extLst>
      <p:ext uri="{BB962C8B-B14F-4D97-AF65-F5344CB8AC3E}">
        <p14:creationId xmlns:p14="http://schemas.microsoft.com/office/powerpoint/2010/main" val="1406821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1330036"/>
          </a:xfrm>
        </p:spPr>
        <p:txBody>
          <a:bodyPr/>
          <a:lstStyle/>
          <a:p>
            <a:r>
              <a:rPr lang="en-US" sz="4000" dirty="0"/>
              <a:t>Information Technology (IT) Security Controls</a:t>
            </a:r>
            <a:endParaRPr lang="en-US" sz="4000" dirty="0">
              <a:solidFill>
                <a:schemeClr val="tx2"/>
              </a:solidFill>
            </a:endParaRPr>
          </a:p>
        </p:txBody>
      </p:sp>
      <p:sp>
        <p:nvSpPr>
          <p:cNvPr id="8195" name="Content Placeholder 2"/>
          <p:cNvSpPr>
            <a:spLocks noGrp="1"/>
          </p:cNvSpPr>
          <p:nvPr>
            <p:ph idx="1"/>
          </p:nvPr>
        </p:nvSpPr>
        <p:spPr>
          <a:xfrm>
            <a:off x="539750" y="1776549"/>
            <a:ext cx="8299450" cy="4499560"/>
          </a:xfrm>
        </p:spPr>
        <p:txBody>
          <a:bodyPr/>
          <a:lstStyle/>
          <a:p>
            <a:r>
              <a:rPr lang="en-US" sz="2800" dirty="0"/>
              <a:t>IT security controls are a function of IT infrastructure that an organization has in its control and the regulatory and business objectives that need to be controlled</a:t>
            </a:r>
          </a:p>
          <a:p>
            <a:pPr lvl="1"/>
            <a:r>
              <a:rPr lang="en-US" sz="2400" dirty="0"/>
              <a:t>You can have too many IT security controls, impeding the organization from operating at optimal capacity, thus reducing its revenue potential</a:t>
            </a:r>
          </a:p>
          <a:p>
            <a:r>
              <a:rPr lang="en-US" sz="2600" dirty="0"/>
              <a:t>Organizations often combine elements of different</a:t>
            </a:r>
          </a:p>
          <a:p>
            <a:pPr marL="455613" lvl="1" indent="0">
              <a:buNone/>
            </a:pPr>
            <a:r>
              <a:rPr lang="en-US" sz="2600" dirty="0"/>
              <a:t>frameworks in order to ensure that selected controls</a:t>
            </a:r>
          </a:p>
          <a:p>
            <a:pPr marL="455613" lvl="1" indent="0">
              <a:buNone/>
            </a:pPr>
            <a:r>
              <a:rPr lang="en-US" sz="2600" dirty="0"/>
              <a:t>offer maximum benefit.</a:t>
            </a:r>
          </a:p>
        </p:txBody>
      </p:sp>
    </p:spTree>
    <p:extLst>
      <p:ext uri="{BB962C8B-B14F-4D97-AF65-F5344CB8AC3E}">
        <p14:creationId xmlns:p14="http://schemas.microsoft.com/office/powerpoint/2010/main" val="2443127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581892"/>
          </a:xfrm>
        </p:spPr>
        <p:txBody>
          <a:bodyPr/>
          <a:lstStyle/>
          <a:p>
            <a:r>
              <a:rPr lang="en-US" sz="3200" dirty="0"/>
              <a:t>Three-lines-of-defense model</a:t>
            </a:r>
            <a:endParaRPr lang="en-US" sz="3200" dirty="0">
              <a:solidFill>
                <a:schemeClr val="tx2"/>
              </a:solidFill>
            </a:endParaRPr>
          </a:p>
        </p:txBody>
      </p:sp>
      <p:pic>
        <p:nvPicPr>
          <p:cNvPr id="5" name="Picture 4" descr="Three-lines-of-defense model."/>
          <p:cNvPicPr/>
          <p:nvPr/>
        </p:nvPicPr>
        <p:blipFill>
          <a:blip r:embed="rId2">
            <a:extLst>
              <a:ext uri="{28A0092B-C50C-407E-A947-70E740481C1C}">
                <a14:useLocalDpi xmlns:a14="http://schemas.microsoft.com/office/drawing/2010/main" val="0"/>
              </a:ext>
            </a:extLst>
          </a:blip>
          <a:srcRect/>
          <a:stretch>
            <a:fillRect/>
          </a:stretch>
        </p:blipFill>
        <p:spPr bwMode="auto">
          <a:xfrm>
            <a:off x="539750" y="1025237"/>
            <a:ext cx="8202468" cy="508461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t>Information Technology (IT) Security Controls (cont’d)</a:t>
            </a:r>
            <a:endParaRPr lang="en-US" sz="4000" dirty="0">
              <a:solidFill>
                <a:schemeClr val="tx2"/>
              </a:solidFill>
            </a:endParaRPr>
          </a:p>
        </p:txBody>
      </p:sp>
      <p:sp>
        <p:nvSpPr>
          <p:cNvPr id="9219" name="Content Placeholder 2"/>
          <p:cNvSpPr>
            <a:spLocks noGrp="1"/>
          </p:cNvSpPr>
          <p:nvPr>
            <p:ph idx="1"/>
          </p:nvPr>
        </p:nvSpPr>
        <p:spPr>
          <a:xfrm>
            <a:off x="539750" y="2147455"/>
            <a:ext cx="8299450" cy="4027920"/>
          </a:xfrm>
        </p:spPr>
        <p:txBody>
          <a:bodyPr/>
          <a:lstStyle/>
          <a:p>
            <a:r>
              <a:rPr lang="en-US" sz="3200" dirty="0"/>
              <a:t>Generic IT security controls as a function of a business model</a:t>
            </a:r>
          </a:p>
          <a:p>
            <a:pPr lvl="1"/>
            <a:r>
              <a:rPr lang="en-US" sz="2400" dirty="0"/>
              <a:t>Deploy a layered security approach</a:t>
            </a:r>
          </a:p>
          <a:p>
            <a:pPr lvl="1"/>
            <a:r>
              <a:rPr lang="en-US" sz="2400" dirty="0"/>
              <a:t>Use SOD approach</a:t>
            </a:r>
          </a:p>
          <a:p>
            <a:pPr lvl="2"/>
            <a:r>
              <a:rPr lang="en-US" sz="2400" dirty="0"/>
              <a:t>This applies to transactions within the domain of responsibility</a:t>
            </a:r>
          </a:p>
          <a:p>
            <a:pPr lvl="1"/>
            <a:r>
              <a:rPr lang="en-US" sz="2400" dirty="0"/>
              <a:t>Conduct security awareness training annually</a:t>
            </a:r>
          </a:p>
          <a:p>
            <a:pPr lvl="1"/>
            <a:endParaRPr lang="en-US" sz="2800" dirty="0"/>
          </a:p>
          <a:p>
            <a:pPr lvl="1"/>
            <a:endParaRPr lang="en-US" sz="2800" dirty="0"/>
          </a:p>
          <a:p>
            <a:pPr lvl="1"/>
            <a:endParaRPr lang="en-US" sz="2800" dirty="0"/>
          </a:p>
        </p:txBody>
      </p:sp>
    </p:spTree>
    <p:extLst>
      <p:ext uri="{BB962C8B-B14F-4D97-AF65-F5344CB8AC3E}">
        <p14:creationId xmlns:p14="http://schemas.microsoft.com/office/powerpoint/2010/main" val="540095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1413164"/>
          </a:xfrm>
        </p:spPr>
        <p:txBody>
          <a:bodyPr/>
          <a:lstStyle/>
          <a:p>
            <a:r>
              <a:rPr lang="en-US" sz="4000" dirty="0"/>
              <a:t>Information Technology (IT) Security Controls (cont’d)</a:t>
            </a:r>
            <a:endParaRPr lang="en-US" sz="4000" dirty="0">
              <a:solidFill>
                <a:schemeClr val="tx2"/>
              </a:solidFill>
            </a:endParaRPr>
          </a:p>
        </p:txBody>
      </p:sp>
      <p:sp>
        <p:nvSpPr>
          <p:cNvPr id="10243" name="Content Placeholder 2"/>
          <p:cNvSpPr>
            <a:spLocks noGrp="1"/>
          </p:cNvSpPr>
          <p:nvPr>
            <p:ph idx="1"/>
          </p:nvPr>
        </p:nvSpPr>
        <p:spPr>
          <a:xfrm>
            <a:off x="539750" y="2202873"/>
            <a:ext cx="8299450" cy="3972502"/>
          </a:xfrm>
        </p:spPr>
        <p:txBody>
          <a:bodyPr/>
          <a:lstStyle/>
          <a:p>
            <a:r>
              <a:rPr lang="en-US" sz="3200" dirty="0"/>
              <a:t>Apply the 3 lines of defense model</a:t>
            </a:r>
          </a:p>
          <a:p>
            <a:pPr lvl="1"/>
            <a:r>
              <a:rPr lang="en-US" sz="2800" dirty="0"/>
              <a:t>First line: The business unit</a:t>
            </a:r>
          </a:p>
          <a:p>
            <a:pPr lvl="1"/>
            <a:r>
              <a:rPr lang="en-US" sz="2800" dirty="0"/>
              <a:t>Second line: The risk management team</a:t>
            </a:r>
          </a:p>
          <a:p>
            <a:pPr lvl="1"/>
            <a:r>
              <a:rPr lang="en-US" sz="2800" dirty="0"/>
              <a:t>Third line: Use independent auditors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t>GRC &amp; ERM</a:t>
            </a:r>
            <a:endParaRPr lang="en-US" sz="4000">
              <a:solidFill>
                <a:schemeClr val="tx2"/>
              </a:solidFill>
            </a:endParaRPr>
          </a:p>
        </p:txBody>
      </p:sp>
      <p:graphicFrame>
        <p:nvGraphicFramePr>
          <p:cNvPr id="5" name="Content Placeholder 3"/>
          <p:cNvGraphicFramePr>
            <a:graphicFrameLocks noGrp="1"/>
          </p:cNvGraphicFramePr>
          <p:nvPr>
            <p:ph idx="1"/>
          </p:nvPr>
        </p:nvGraphicFramePr>
        <p:xfrm>
          <a:off x="963038" y="1605954"/>
          <a:ext cx="7876162" cy="45039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476250"/>
          </a:xfrm>
        </p:spPr>
        <p:txBody>
          <a:bodyPr/>
          <a:lstStyle/>
          <a:p>
            <a:r>
              <a:rPr lang="en-US" sz="4000"/>
              <a:t>Similarities and Differences between GRC and ERM</a:t>
            </a:r>
            <a:endParaRPr lang="en-US" sz="4000">
              <a:solidFill>
                <a:schemeClr val="tx2"/>
              </a:solidFill>
            </a:endParaRPr>
          </a:p>
        </p:txBody>
      </p:sp>
      <p:graphicFrame>
        <p:nvGraphicFramePr>
          <p:cNvPr id="6" name="Content Placeholder 3"/>
          <p:cNvGraphicFramePr>
            <a:graphicFrameLocks noGrp="1"/>
          </p:cNvGraphicFramePr>
          <p:nvPr>
            <p:ph idx="1"/>
          </p:nvPr>
        </p:nvGraphicFramePr>
        <p:xfrm>
          <a:off x="539750" y="1801089"/>
          <a:ext cx="8299450" cy="4405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PROCESS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9750" y="304800"/>
            <a:ext cx="8299450" cy="476250"/>
          </a:xfrm>
        </p:spPr>
        <p:txBody>
          <a:bodyPr/>
          <a:lstStyle/>
          <a:p>
            <a:r>
              <a:rPr lang="en-US" sz="4000">
                <a:solidFill>
                  <a:schemeClr val="tx2"/>
                </a:solidFill>
              </a:rPr>
              <a:t>Best Practices-Security Policy Framework </a:t>
            </a:r>
          </a:p>
        </p:txBody>
      </p:sp>
      <p:sp>
        <p:nvSpPr>
          <p:cNvPr id="14339" name="Content Placeholder 2"/>
          <p:cNvSpPr>
            <a:spLocks noGrp="1"/>
          </p:cNvSpPr>
          <p:nvPr>
            <p:ph idx="1"/>
          </p:nvPr>
        </p:nvSpPr>
        <p:spPr>
          <a:xfrm>
            <a:off x="539750" y="1527175"/>
            <a:ext cx="8299450" cy="4648200"/>
          </a:xfrm>
        </p:spPr>
        <p:txBody>
          <a:bodyPr/>
          <a:lstStyle/>
          <a:p>
            <a:r>
              <a:rPr lang="en-US" sz="3200"/>
              <a:t>Using a risk management approach to framework implementation reducing the highest risk to the organization</a:t>
            </a:r>
          </a:p>
          <a:p>
            <a:pPr lvl="1"/>
            <a:r>
              <a:rPr lang="en-US" sz="2400"/>
              <a:t>The ISACA COBIT framework for SOX 404 requirements for publically traded organizations</a:t>
            </a:r>
          </a:p>
          <a:p>
            <a:r>
              <a:rPr lang="en-US" sz="3200"/>
              <a:t>Aligning the organization’s security policy with business objectives and regulatory requirements</a:t>
            </a:r>
          </a:p>
          <a:p>
            <a:pPr>
              <a:buFont typeface="Wingdings" pitchFamily="2" charset="2"/>
              <a:buNone/>
            </a:pP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357745"/>
          </a:xfrm>
        </p:spPr>
        <p:txBody>
          <a:bodyPr/>
          <a:lstStyle/>
          <a:p>
            <a:r>
              <a:rPr lang="en-US" sz="4000" dirty="0">
                <a:solidFill>
                  <a:schemeClr val="tx2"/>
                </a:solidFill>
              </a:rPr>
              <a:t>Best Practices-Security Policy Framework (cont’d)</a:t>
            </a:r>
          </a:p>
        </p:txBody>
      </p:sp>
      <p:sp>
        <p:nvSpPr>
          <p:cNvPr id="15363" name="Content Placeholder 2"/>
          <p:cNvSpPr>
            <a:spLocks noGrp="1"/>
          </p:cNvSpPr>
          <p:nvPr>
            <p:ph idx="1"/>
          </p:nvPr>
        </p:nvSpPr>
        <p:spPr>
          <a:xfrm>
            <a:off x="539750" y="2299855"/>
            <a:ext cx="8299450" cy="3875520"/>
          </a:xfrm>
        </p:spPr>
        <p:txBody>
          <a:bodyPr/>
          <a:lstStyle/>
          <a:p>
            <a:r>
              <a:rPr lang="en-US" sz="3200" dirty="0"/>
              <a:t>The use of a best practice methodology will best be answered based on organizational requirements and governmental regulations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ROLES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539750" y="304800"/>
            <a:ext cx="8299450" cy="476250"/>
          </a:xfrm>
        </p:spPr>
        <p:txBody>
          <a:bodyPr/>
          <a:lstStyle/>
          <a:p>
            <a:r>
              <a:rPr lang="en-US" sz="4000"/>
              <a:t>Roles and Responsibilities</a:t>
            </a:r>
            <a:r>
              <a:rPr lang="en-US" sz="4000">
                <a:solidFill>
                  <a:schemeClr val="tx2"/>
                </a:solidFill>
              </a:rPr>
              <a:t> </a:t>
            </a:r>
          </a:p>
        </p:txBody>
      </p:sp>
      <p:sp>
        <p:nvSpPr>
          <p:cNvPr id="17411" name="Content Placeholder 2"/>
          <p:cNvSpPr>
            <a:spLocks noGrp="1"/>
          </p:cNvSpPr>
          <p:nvPr>
            <p:ph idx="1"/>
          </p:nvPr>
        </p:nvSpPr>
        <p:spPr>
          <a:xfrm>
            <a:off x="539750" y="1069975"/>
            <a:ext cx="8299450" cy="4648200"/>
          </a:xfrm>
        </p:spPr>
        <p:txBody>
          <a:bodyPr/>
          <a:lstStyle/>
          <a:p>
            <a:r>
              <a:rPr lang="en-US" sz="3200"/>
              <a:t>Executive Management</a:t>
            </a:r>
          </a:p>
          <a:p>
            <a:pPr lvl="1"/>
            <a:r>
              <a:rPr lang="en-US" sz="2400"/>
              <a:t>Responsible for governance and compliance requirements, funding, and policy support</a:t>
            </a:r>
          </a:p>
          <a:p>
            <a:r>
              <a:rPr lang="en-US" sz="3200"/>
              <a:t>Chief Information Officer (CIO)/Chief Security Officer (CSO)</a:t>
            </a:r>
          </a:p>
          <a:p>
            <a:pPr lvl="1"/>
            <a:r>
              <a:rPr lang="en-US" sz="2400"/>
              <a:t>Responsible for policy creation, reporting, funding, and support</a:t>
            </a:r>
          </a:p>
          <a:p>
            <a:r>
              <a:rPr lang="en-US" sz="3200"/>
              <a:t>Chief Financial Officer (CFO)/Chief Operating Officer (COO)</a:t>
            </a:r>
          </a:p>
          <a:p>
            <a:pPr lvl="1"/>
            <a:r>
              <a:rPr lang="en-US" sz="2400"/>
              <a:t>Responsible for data stewardship, owners of the data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39750" y="415639"/>
            <a:ext cx="8299450" cy="762001"/>
          </a:xfrm>
        </p:spPr>
        <p:txBody>
          <a:bodyPr/>
          <a:lstStyle/>
          <a:p>
            <a:r>
              <a:rPr lang="en-US" sz="3600" dirty="0"/>
              <a:t>Roles and Responsibilities (cont’d)</a:t>
            </a:r>
            <a:r>
              <a:rPr lang="en-US" sz="3600" dirty="0">
                <a:solidFill>
                  <a:schemeClr val="tx2"/>
                </a:solidFill>
              </a:rPr>
              <a:t> </a:t>
            </a:r>
          </a:p>
        </p:txBody>
      </p:sp>
      <p:sp>
        <p:nvSpPr>
          <p:cNvPr id="18435" name="Content Placeholder 2"/>
          <p:cNvSpPr>
            <a:spLocks noGrp="1"/>
          </p:cNvSpPr>
          <p:nvPr>
            <p:ph idx="1"/>
          </p:nvPr>
        </p:nvSpPr>
        <p:spPr>
          <a:xfrm>
            <a:off x="539750" y="1527175"/>
            <a:ext cx="8299450" cy="4648200"/>
          </a:xfrm>
        </p:spPr>
        <p:txBody>
          <a:bodyPr/>
          <a:lstStyle/>
          <a:p>
            <a:r>
              <a:rPr lang="en-US" sz="2800" dirty="0"/>
              <a:t>System Administrators/Application Administrators</a:t>
            </a:r>
          </a:p>
          <a:p>
            <a:pPr lvl="1"/>
            <a:r>
              <a:rPr lang="en-US" sz="2400" dirty="0"/>
              <a:t>Responsible for custodianship of the data, maintaining the quality of the data, and executing the policies and procedures pertaining to the data, like backup, versioning, updating, downloading, and database administration</a:t>
            </a:r>
          </a:p>
          <a:p>
            <a:r>
              <a:rPr lang="en-US" sz="2800" dirty="0"/>
              <a:t>Security Administrator</a:t>
            </a:r>
          </a:p>
          <a:p>
            <a:pPr lvl="1"/>
            <a:r>
              <a:rPr lang="en-US" sz="2400" dirty="0"/>
              <a:t>Responsible for granting access and assess threats to the data, IA program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39750" y="304799"/>
            <a:ext cx="8299450" cy="762001"/>
          </a:xfrm>
        </p:spPr>
        <p:txBody>
          <a:bodyPr/>
          <a:lstStyle/>
          <a:p>
            <a:pPr algn="ctr"/>
            <a:r>
              <a:rPr lang="en-US" sz="3200" dirty="0"/>
              <a:t>Security Organizational Structure</a:t>
            </a:r>
            <a:endParaRPr lang="en-US" sz="3200" dirty="0">
              <a:solidFill>
                <a:schemeClr val="tx2"/>
              </a:solidFill>
            </a:endParaRPr>
          </a:p>
        </p:txBody>
      </p:sp>
      <p:pic>
        <p:nvPicPr>
          <p:cNvPr id="6" name="Picture 5" descr="Information security organizational structure."/>
          <p:cNvPicPr/>
          <p:nvPr/>
        </p:nvPicPr>
        <p:blipFill>
          <a:blip r:embed="rId2">
            <a:extLst>
              <a:ext uri="{28A0092B-C50C-407E-A947-70E740481C1C}">
                <a14:useLocalDpi xmlns:a14="http://schemas.microsoft.com/office/drawing/2010/main" val="0"/>
              </a:ext>
            </a:extLst>
          </a:blip>
          <a:srcRect/>
          <a:stretch>
            <a:fillRect/>
          </a:stretch>
        </p:blipFill>
        <p:spPr bwMode="auto">
          <a:xfrm>
            <a:off x="235528" y="1039091"/>
            <a:ext cx="8603672" cy="5126182"/>
          </a:xfrm>
          <a:prstGeom prst="rect">
            <a:avLst/>
          </a:prstGeom>
          <a:noFill/>
          <a:ln>
            <a:noFill/>
          </a:ln>
        </p:spPr>
      </p:pic>
    </p:spTree>
    <p:extLst>
      <p:ext uri="{BB962C8B-B14F-4D97-AF65-F5344CB8AC3E}">
        <p14:creationId xmlns:p14="http://schemas.microsoft.com/office/powerpoint/2010/main" val="3027208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39750" y="415639"/>
            <a:ext cx="8299450" cy="762001"/>
          </a:xfrm>
        </p:spPr>
        <p:txBody>
          <a:bodyPr/>
          <a:lstStyle/>
          <a:p>
            <a:pPr algn="ctr"/>
            <a:r>
              <a:rPr lang="en-US" sz="3200" dirty="0"/>
              <a:t>CISO reporting directly to CFO</a:t>
            </a:r>
            <a:endParaRPr lang="en-US" sz="3200" dirty="0">
              <a:solidFill>
                <a:schemeClr val="tx2"/>
              </a:solidFill>
            </a:endParaRPr>
          </a:p>
        </p:txBody>
      </p:sp>
      <p:pic>
        <p:nvPicPr>
          <p:cNvPr id="5" name="Picture 4" descr="CISO reporting directly to CFO."/>
          <p:cNvPicPr/>
          <p:nvPr/>
        </p:nvPicPr>
        <p:blipFill>
          <a:blip r:embed="rId2">
            <a:extLst>
              <a:ext uri="{28A0092B-C50C-407E-A947-70E740481C1C}">
                <a14:useLocalDpi xmlns:a14="http://schemas.microsoft.com/office/drawing/2010/main" val="0"/>
              </a:ext>
            </a:extLst>
          </a:blip>
          <a:srcRect/>
          <a:stretch>
            <a:fillRect/>
          </a:stretch>
        </p:blipFill>
        <p:spPr bwMode="auto">
          <a:xfrm>
            <a:off x="332509" y="1177641"/>
            <a:ext cx="8506691" cy="4932214"/>
          </a:xfrm>
          <a:prstGeom prst="rect">
            <a:avLst/>
          </a:prstGeom>
          <a:noFill/>
          <a:ln>
            <a:noFill/>
          </a:ln>
        </p:spPr>
      </p:pic>
    </p:spTree>
    <p:extLst>
      <p:ext uri="{BB962C8B-B14F-4D97-AF65-F5344CB8AC3E}">
        <p14:creationId xmlns:p14="http://schemas.microsoft.com/office/powerpoint/2010/main" val="2487528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39750" y="207819"/>
            <a:ext cx="8299450" cy="969822"/>
          </a:xfrm>
        </p:spPr>
        <p:txBody>
          <a:bodyPr/>
          <a:lstStyle/>
          <a:p>
            <a:pPr algn="ctr"/>
            <a:r>
              <a:rPr lang="en-US" sz="2600" dirty="0"/>
              <a:t>CISO organizational chart - CISO role appears several layers deep</a:t>
            </a:r>
            <a:endParaRPr lang="en-US" sz="2600" dirty="0">
              <a:solidFill>
                <a:schemeClr val="tx2"/>
              </a:solidFill>
            </a:endParaRPr>
          </a:p>
        </p:txBody>
      </p:sp>
      <p:pic>
        <p:nvPicPr>
          <p:cNvPr id="4" name="Picture 3" descr="CISO organizational chart—CISO role appears several layers deep."/>
          <p:cNvPicPr/>
          <p:nvPr/>
        </p:nvPicPr>
        <p:blipFill>
          <a:blip r:embed="rId2">
            <a:extLst>
              <a:ext uri="{28A0092B-C50C-407E-A947-70E740481C1C}">
                <a14:useLocalDpi xmlns:a14="http://schemas.microsoft.com/office/drawing/2010/main" val="0"/>
              </a:ext>
            </a:extLst>
          </a:blip>
          <a:srcRect/>
          <a:stretch>
            <a:fillRect/>
          </a:stretch>
        </p:blipFill>
        <p:spPr bwMode="auto">
          <a:xfrm>
            <a:off x="360218" y="1177642"/>
            <a:ext cx="8478981" cy="4946068"/>
          </a:xfrm>
          <a:prstGeom prst="rect">
            <a:avLst/>
          </a:prstGeom>
          <a:noFill/>
          <a:ln>
            <a:noFill/>
          </a:ln>
        </p:spPr>
      </p:pic>
    </p:spTree>
    <p:extLst>
      <p:ext uri="{BB962C8B-B14F-4D97-AF65-F5344CB8AC3E}">
        <p14:creationId xmlns:p14="http://schemas.microsoft.com/office/powerpoint/2010/main" val="3196469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CONTEXT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539750" y="304800"/>
            <a:ext cx="8299450" cy="476250"/>
          </a:xfrm>
        </p:spPr>
        <p:txBody>
          <a:bodyPr/>
          <a:lstStyle/>
          <a:p>
            <a:r>
              <a:rPr lang="en-US" sz="4000"/>
              <a:t>Importance of Governance and Compliance</a:t>
            </a:r>
            <a:r>
              <a:rPr lang="en-US" sz="4000">
                <a:solidFill>
                  <a:schemeClr val="tx2"/>
                </a:solidFill>
              </a:rPr>
              <a:t> </a:t>
            </a:r>
          </a:p>
        </p:txBody>
      </p:sp>
      <p:sp>
        <p:nvSpPr>
          <p:cNvPr id="20483" name="Content Placeholder 2"/>
          <p:cNvSpPr>
            <a:spLocks noGrp="1"/>
          </p:cNvSpPr>
          <p:nvPr>
            <p:ph idx="1"/>
          </p:nvPr>
        </p:nvSpPr>
        <p:spPr>
          <a:xfrm>
            <a:off x="539750" y="1527175"/>
            <a:ext cx="8299450" cy="4648200"/>
          </a:xfrm>
        </p:spPr>
        <p:txBody>
          <a:bodyPr/>
          <a:lstStyle/>
          <a:p>
            <a:r>
              <a:rPr lang="en-US" sz="3200"/>
              <a:t>Implementing a governance framework can allow the organization to identify and mitigate risks in an orderly fashion</a:t>
            </a:r>
          </a:p>
          <a:p>
            <a:pPr lvl="1"/>
            <a:r>
              <a:rPr lang="en-US" sz="2400"/>
              <a:t>This can be a cost reduction move for organizations as they can easily respond to audit requests</a:t>
            </a:r>
          </a:p>
          <a:p>
            <a:r>
              <a:rPr lang="en-US" sz="3200"/>
              <a:t>A well-defined governance and compliance framework provides a structured approach</a:t>
            </a:r>
          </a:p>
          <a:p>
            <a:r>
              <a:rPr lang="en-US" sz="3200"/>
              <a:t>It can provide a common language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39750" y="304799"/>
            <a:ext cx="8299450" cy="1222375"/>
          </a:xfrm>
        </p:spPr>
        <p:txBody>
          <a:bodyPr/>
          <a:lstStyle/>
          <a:p>
            <a:r>
              <a:rPr lang="en-US" sz="4000" dirty="0"/>
              <a:t>Importance of Governance and Compliance</a:t>
            </a:r>
            <a:r>
              <a:rPr lang="en-US" sz="4000" dirty="0">
                <a:solidFill>
                  <a:schemeClr val="tx2"/>
                </a:solidFill>
              </a:rPr>
              <a:t> (cont’d)</a:t>
            </a:r>
          </a:p>
        </p:txBody>
      </p:sp>
      <p:sp>
        <p:nvSpPr>
          <p:cNvPr id="21507" name="Content Placeholder 2"/>
          <p:cNvSpPr>
            <a:spLocks noGrp="1"/>
          </p:cNvSpPr>
          <p:nvPr>
            <p:ph idx="1"/>
          </p:nvPr>
        </p:nvSpPr>
        <p:spPr>
          <a:xfrm>
            <a:off x="539750" y="1527175"/>
            <a:ext cx="8299450" cy="4648200"/>
          </a:xfrm>
        </p:spPr>
        <p:txBody>
          <a:bodyPr/>
          <a:lstStyle/>
          <a:p>
            <a:r>
              <a:rPr lang="en-US" sz="3200"/>
              <a:t>It is also a best-practice model for organizations of all shapes and sizes</a:t>
            </a:r>
          </a:p>
          <a:p>
            <a:r>
              <a:rPr lang="en-US" sz="3200"/>
              <a:t>Controls and risks become measurable with a framework. Thus, organizations that have a governance and compliance framework can operate more efficiently</a:t>
            </a:r>
          </a:p>
          <a:p>
            <a:r>
              <a:rPr lang="en-US" sz="3200"/>
              <a:t>If you can measure the organization against a fixed set of standards and controls you have won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39750" y="304800"/>
            <a:ext cx="8299450" cy="476250"/>
          </a:xfrm>
        </p:spPr>
        <p:txBody>
          <a:bodyPr/>
          <a:lstStyle/>
          <a:p>
            <a:r>
              <a:rPr lang="en-US" sz="4000"/>
              <a:t>Security Policy Framework-Business Risks</a:t>
            </a:r>
            <a:endParaRPr lang="en-US" sz="4000">
              <a:solidFill>
                <a:schemeClr val="tx2"/>
              </a:solidFill>
            </a:endParaRPr>
          </a:p>
        </p:txBody>
      </p:sp>
      <p:grpSp>
        <p:nvGrpSpPr>
          <p:cNvPr id="22531" name="Group 13"/>
          <p:cNvGrpSpPr>
            <a:grpSpLocks/>
          </p:cNvGrpSpPr>
          <p:nvPr/>
        </p:nvGrpSpPr>
        <p:grpSpPr bwMode="auto">
          <a:xfrm>
            <a:off x="1098550" y="2106613"/>
            <a:ext cx="6777038" cy="4102100"/>
            <a:chOff x="339634" y="1953860"/>
            <a:chExt cx="8499566" cy="3989741"/>
          </a:xfrm>
        </p:grpSpPr>
        <p:sp>
          <p:nvSpPr>
            <p:cNvPr id="6" name="Freeform 5"/>
            <p:cNvSpPr/>
            <p:nvPr/>
          </p:nvSpPr>
          <p:spPr>
            <a:xfrm>
              <a:off x="3283955" y="1953860"/>
              <a:ext cx="2578170" cy="1105691"/>
            </a:xfrm>
            <a:custGeom>
              <a:avLst/>
              <a:gdLst>
                <a:gd name="connsiteX0" fmla="*/ 0 w 1699913"/>
                <a:gd name="connsiteY0" fmla="*/ 962660 h 962660"/>
                <a:gd name="connsiteX1" fmla="*/ 849957 w 1699913"/>
                <a:gd name="connsiteY1" fmla="*/ 0 h 962660"/>
                <a:gd name="connsiteX2" fmla="*/ 849957 w 1699913"/>
                <a:gd name="connsiteY2" fmla="*/ 0 h 962660"/>
                <a:gd name="connsiteX3" fmla="*/ 1699913 w 1699913"/>
                <a:gd name="connsiteY3" fmla="*/ 962660 h 962660"/>
                <a:gd name="connsiteX4" fmla="*/ 0 w 1699913"/>
                <a:gd name="connsiteY4" fmla="*/ 962660 h 962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913" h="962660">
                  <a:moveTo>
                    <a:pt x="0" y="962660"/>
                  </a:moveTo>
                  <a:lnTo>
                    <a:pt x="849957" y="0"/>
                  </a:lnTo>
                  <a:lnTo>
                    <a:pt x="849957" y="0"/>
                  </a:lnTo>
                  <a:lnTo>
                    <a:pt x="1699913" y="962660"/>
                  </a:lnTo>
                  <a:lnTo>
                    <a:pt x="0" y="96266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lIns="15240" tIns="15240" rIns="15240" bIns="15240" spcCol="1270" anchor="ctr"/>
            <a:lstStyle/>
            <a:p>
              <a:pPr algn="ctr" defTabSz="533400">
                <a:lnSpc>
                  <a:spcPct val="90000"/>
                </a:lnSpc>
                <a:spcAft>
                  <a:spcPct val="35000"/>
                </a:spcAft>
                <a:defRPr/>
              </a:pPr>
              <a:endParaRPr lang="en-US" sz="1100" b="1" dirty="0"/>
            </a:p>
            <a:p>
              <a:pPr algn="ctr" defTabSz="533400">
                <a:lnSpc>
                  <a:spcPct val="90000"/>
                </a:lnSpc>
                <a:spcAft>
                  <a:spcPct val="35000"/>
                </a:spcAft>
                <a:defRPr/>
              </a:pPr>
              <a:endParaRPr lang="en-US" sz="1100" b="1" dirty="0"/>
            </a:p>
            <a:p>
              <a:pPr algn="ctr" defTabSz="533400">
                <a:lnSpc>
                  <a:spcPct val="90000"/>
                </a:lnSpc>
                <a:spcAft>
                  <a:spcPct val="35000"/>
                </a:spcAft>
                <a:defRPr/>
              </a:pPr>
              <a:r>
                <a:rPr lang="en-US" b="1" dirty="0"/>
                <a:t>Strategic </a:t>
              </a:r>
            </a:p>
            <a:p>
              <a:pPr algn="ctr" defTabSz="533400">
                <a:lnSpc>
                  <a:spcPct val="90000"/>
                </a:lnSpc>
                <a:spcAft>
                  <a:spcPct val="35000"/>
                </a:spcAft>
                <a:defRPr/>
              </a:pPr>
              <a:r>
                <a:rPr lang="en-US" b="1" dirty="0"/>
                <a:t>risks</a:t>
              </a:r>
            </a:p>
          </p:txBody>
        </p:sp>
        <p:sp>
          <p:nvSpPr>
            <p:cNvPr id="7" name="Freeform 6"/>
            <p:cNvSpPr/>
            <p:nvPr/>
          </p:nvSpPr>
          <p:spPr>
            <a:xfrm>
              <a:off x="2873266" y="3077498"/>
              <a:ext cx="3438633" cy="611361"/>
            </a:xfrm>
            <a:custGeom>
              <a:avLst/>
              <a:gdLst>
                <a:gd name="connsiteX0" fmla="*/ 0 w 3399826"/>
                <a:gd name="connsiteY0" fmla="*/ 962660 h 962660"/>
                <a:gd name="connsiteX1" fmla="*/ 849961 w 3399826"/>
                <a:gd name="connsiteY1" fmla="*/ 0 h 962660"/>
                <a:gd name="connsiteX2" fmla="*/ 2549865 w 3399826"/>
                <a:gd name="connsiteY2" fmla="*/ 0 h 962660"/>
                <a:gd name="connsiteX3" fmla="*/ 3399826 w 3399826"/>
                <a:gd name="connsiteY3" fmla="*/ 962660 h 962660"/>
                <a:gd name="connsiteX4" fmla="*/ 0 w 3399826"/>
                <a:gd name="connsiteY4" fmla="*/ 962660 h 962660"/>
                <a:gd name="connsiteX0" fmla="*/ 0 w 3126085"/>
                <a:gd name="connsiteY0" fmla="*/ 962660 h 962660"/>
                <a:gd name="connsiteX1" fmla="*/ 576220 w 3126085"/>
                <a:gd name="connsiteY1" fmla="*/ 0 h 962660"/>
                <a:gd name="connsiteX2" fmla="*/ 2276124 w 3126085"/>
                <a:gd name="connsiteY2" fmla="*/ 0 h 962660"/>
                <a:gd name="connsiteX3" fmla="*/ 3126085 w 3126085"/>
                <a:gd name="connsiteY3" fmla="*/ 962660 h 962660"/>
                <a:gd name="connsiteX4" fmla="*/ 0 w 3126085"/>
                <a:gd name="connsiteY4" fmla="*/ 962660 h 962660"/>
                <a:gd name="connsiteX0" fmla="*/ 0 w 2835627"/>
                <a:gd name="connsiteY0" fmla="*/ 962660 h 962660"/>
                <a:gd name="connsiteX1" fmla="*/ 576220 w 2835627"/>
                <a:gd name="connsiteY1" fmla="*/ 0 h 962660"/>
                <a:gd name="connsiteX2" fmla="*/ 2276124 w 2835627"/>
                <a:gd name="connsiteY2" fmla="*/ 0 h 962660"/>
                <a:gd name="connsiteX3" fmla="*/ 2835627 w 2835627"/>
                <a:gd name="connsiteY3" fmla="*/ 962660 h 962660"/>
                <a:gd name="connsiteX4" fmla="*/ 0 w 2835627"/>
                <a:gd name="connsiteY4" fmla="*/ 962660 h 962660"/>
                <a:gd name="connsiteX0" fmla="*/ 0 w 2835627"/>
                <a:gd name="connsiteY0" fmla="*/ 962660 h 962660"/>
                <a:gd name="connsiteX1" fmla="*/ 576220 w 2835627"/>
                <a:gd name="connsiteY1" fmla="*/ 0 h 962660"/>
                <a:gd name="connsiteX2" fmla="*/ 2577706 w 2835627"/>
                <a:gd name="connsiteY2" fmla="*/ 0 h 962660"/>
                <a:gd name="connsiteX3" fmla="*/ 2835627 w 2835627"/>
                <a:gd name="connsiteY3" fmla="*/ 962660 h 962660"/>
                <a:gd name="connsiteX4" fmla="*/ 0 w 2835627"/>
                <a:gd name="connsiteY4" fmla="*/ 962660 h 962660"/>
                <a:gd name="connsiteX0" fmla="*/ 0 w 2835627"/>
                <a:gd name="connsiteY0" fmla="*/ 962660 h 962660"/>
                <a:gd name="connsiteX1" fmla="*/ 352999 w 2835627"/>
                <a:gd name="connsiteY1" fmla="*/ 0 h 962660"/>
                <a:gd name="connsiteX2" fmla="*/ 2577706 w 2835627"/>
                <a:gd name="connsiteY2" fmla="*/ 0 h 962660"/>
                <a:gd name="connsiteX3" fmla="*/ 2835627 w 2835627"/>
                <a:gd name="connsiteY3" fmla="*/ 962660 h 962660"/>
                <a:gd name="connsiteX4" fmla="*/ 0 w 2835627"/>
                <a:gd name="connsiteY4" fmla="*/ 962660 h 962660"/>
                <a:gd name="connsiteX0" fmla="*/ 0 w 2835627"/>
                <a:gd name="connsiteY0" fmla="*/ 962660 h 962660"/>
                <a:gd name="connsiteX1" fmla="*/ 352999 w 2835627"/>
                <a:gd name="connsiteY1" fmla="*/ 0 h 962660"/>
                <a:gd name="connsiteX2" fmla="*/ 2464726 w 2835627"/>
                <a:gd name="connsiteY2" fmla="*/ 0 h 962660"/>
                <a:gd name="connsiteX3" fmla="*/ 2835627 w 2835627"/>
                <a:gd name="connsiteY3" fmla="*/ 962660 h 962660"/>
                <a:gd name="connsiteX4" fmla="*/ 0 w 2835627"/>
                <a:gd name="connsiteY4" fmla="*/ 962660 h 962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5627" h="962660">
                  <a:moveTo>
                    <a:pt x="0" y="962660"/>
                  </a:moveTo>
                  <a:lnTo>
                    <a:pt x="352999" y="0"/>
                  </a:lnTo>
                  <a:lnTo>
                    <a:pt x="2464726" y="0"/>
                  </a:lnTo>
                  <a:lnTo>
                    <a:pt x="2835627" y="962660"/>
                  </a:lnTo>
                  <a:lnTo>
                    <a:pt x="0" y="96266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lIns="610210" tIns="15240" rIns="610209" bIns="15240" spcCol="1270" anchor="ctr"/>
            <a:lstStyle/>
            <a:p>
              <a:pPr algn="ctr" defTabSz="533400">
                <a:lnSpc>
                  <a:spcPct val="90000"/>
                </a:lnSpc>
                <a:spcAft>
                  <a:spcPct val="35000"/>
                </a:spcAft>
                <a:defRPr/>
              </a:pPr>
              <a:r>
                <a:rPr lang="en-US" b="1" dirty="0"/>
                <a:t>Compliance risks</a:t>
              </a:r>
              <a:endParaRPr lang="en-US" dirty="0"/>
            </a:p>
          </p:txBody>
        </p:sp>
        <p:sp>
          <p:nvSpPr>
            <p:cNvPr id="8" name="Freeform 7"/>
            <p:cNvSpPr/>
            <p:nvPr/>
          </p:nvSpPr>
          <p:spPr>
            <a:xfrm>
              <a:off x="2039546" y="3707267"/>
              <a:ext cx="5099739" cy="647842"/>
            </a:xfrm>
            <a:custGeom>
              <a:avLst/>
              <a:gdLst>
                <a:gd name="connsiteX0" fmla="*/ 0 w 5099739"/>
                <a:gd name="connsiteY0" fmla="*/ 962660 h 962660"/>
                <a:gd name="connsiteX1" fmla="*/ 849961 w 5099739"/>
                <a:gd name="connsiteY1" fmla="*/ 0 h 962660"/>
                <a:gd name="connsiteX2" fmla="*/ 4249778 w 5099739"/>
                <a:gd name="connsiteY2" fmla="*/ 0 h 962660"/>
                <a:gd name="connsiteX3" fmla="*/ 5099739 w 5099739"/>
                <a:gd name="connsiteY3" fmla="*/ 962660 h 962660"/>
                <a:gd name="connsiteX4" fmla="*/ 0 w 5099739"/>
                <a:gd name="connsiteY4" fmla="*/ 962660 h 962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39" h="962660">
                  <a:moveTo>
                    <a:pt x="0" y="962660"/>
                  </a:moveTo>
                  <a:lnTo>
                    <a:pt x="849961" y="0"/>
                  </a:lnTo>
                  <a:lnTo>
                    <a:pt x="4249778" y="0"/>
                  </a:lnTo>
                  <a:lnTo>
                    <a:pt x="5099739" y="962660"/>
                  </a:lnTo>
                  <a:lnTo>
                    <a:pt x="0" y="96266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lIns="907694" tIns="15240" rIns="907695" bIns="15240" spcCol="1270" anchor="ctr"/>
            <a:lstStyle/>
            <a:p>
              <a:pPr algn="ctr" defTabSz="533400">
                <a:lnSpc>
                  <a:spcPct val="90000"/>
                </a:lnSpc>
                <a:spcAft>
                  <a:spcPct val="35000"/>
                </a:spcAft>
                <a:defRPr/>
              </a:pPr>
              <a:r>
                <a:rPr lang="en-US" b="1" dirty="0"/>
                <a:t>Financial risks</a:t>
              </a:r>
              <a:endParaRPr lang="en-US" dirty="0"/>
            </a:p>
          </p:txBody>
        </p:sp>
        <p:sp>
          <p:nvSpPr>
            <p:cNvPr id="9" name="Freeform 8"/>
            <p:cNvSpPr/>
            <p:nvPr/>
          </p:nvSpPr>
          <p:spPr>
            <a:xfrm>
              <a:off x="1189590" y="4381323"/>
              <a:ext cx="6799652" cy="774768"/>
            </a:xfrm>
            <a:custGeom>
              <a:avLst/>
              <a:gdLst>
                <a:gd name="connsiteX0" fmla="*/ 0 w 6799652"/>
                <a:gd name="connsiteY0" fmla="*/ 962660 h 962660"/>
                <a:gd name="connsiteX1" fmla="*/ 849961 w 6799652"/>
                <a:gd name="connsiteY1" fmla="*/ 0 h 962660"/>
                <a:gd name="connsiteX2" fmla="*/ 5949691 w 6799652"/>
                <a:gd name="connsiteY2" fmla="*/ 0 h 962660"/>
                <a:gd name="connsiteX3" fmla="*/ 6799652 w 6799652"/>
                <a:gd name="connsiteY3" fmla="*/ 962660 h 962660"/>
                <a:gd name="connsiteX4" fmla="*/ 0 w 6799652"/>
                <a:gd name="connsiteY4" fmla="*/ 962660 h 962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99652" h="962660">
                  <a:moveTo>
                    <a:pt x="0" y="962660"/>
                  </a:moveTo>
                  <a:lnTo>
                    <a:pt x="849961" y="0"/>
                  </a:lnTo>
                  <a:lnTo>
                    <a:pt x="5949691" y="0"/>
                  </a:lnTo>
                  <a:lnTo>
                    <a:pt x="6799652" y="962660"/>
                  </a:lnTo>
                  <a:lnTo>
                    <a:pt x="0" y="96266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lIns="1205179" tIns="15240" rIns="1205179" bIns="15240" spcCol="1270" anchor="ctr"/>
            <a:lstStyle/>
            <a:p>
              <a:pPr algn="ctr" defTabSz="533400">
                <a:lnSpc>
                  <a:spcPct val="90000"/>
                </a:lnSpc>
                <a:spcAft>
                  <a:spcPct val="35000"/>
                </a:spcAft>
                <a:defRPr/>
              </a:pPr>
              <a:r>
                <a:rPr lang="en-US" b="1" dirty="0"/>
                <a:t>Operational risks</a:t>
              </a:r>
              <a:endParaRPr lang="en-US" dirty="0"/>
            </a:p>
          </p:txBody>
        </p:sp>
        <p:sp>
          <p:nvSpPr>
            <p:cNvPr id="10" name="Freeform 9"/>
            <p:cNvSpPr/>
            <p:nvPr/>
          </p:nvSpPr>
          <p:spPr>
            <a:xfrm>
              <a:off x="339634" y="5176356"/>
              <a:ext cx="8499566" cy="767245"/>
            </a:xfrm>
            <a:custGeom>
              <a:avLst/>
              <a:gdLst>
                <a:gd name="connsiteX0" fmla="*/ 0 w 8499566"/>
                <a:gd name="connsiteY0" fmla="*/ 962660 h 962660"/>
                <a:gd name="connsiteX1" fmla="*/ 849961 w 8499566"/>
                <a:gd name="connsiteY1" fmla="*/ 0 h 962660"/>
                <a:gd name="connsiteX2" fmla="*/ 7649605 w 8499566"/>
                <a:gd name="connsiteY2" fmla="*/ 0 h 962660"/>
                <a:gd name="connsiteX3" fmla="*/ 8499566 w 8499566"/>
                <a:gd name="connsiteY3" fmla="*/ 962660 h 962660"/>
                <a:gd name="connsiteX4" fmla="*/ 0 w 8499566"/>
                <a:gd name="connsiteY4" fmla="*/ 962660 h 962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99566" h="962660">
                  <a:moveTo>
                    <a:pt x="0" y="962660"/>
                  </a:moveTo>
                  <a:lnTo>
                    <a:pt x="849961" y="0"/>
                  </a:lnTo>
                  <a:lnTo>
                    <a:pt x="7649605" y="0"/>
                  </a:lnTo>
                  <a:lnTo>
                    <a:pt x="8499566" y="962660"/>
                  </a:lnTo>
                  <a:lnTo>
                    <a:pt x="0" y="96266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lIns="1502664" tIns="15240" rIns="1502665" bIns="15240" spcCol="1270" anchor="ctr"/>
            <a:lstStyle/>
            <a:p>
              <a:pPr algn="ctr" defTabSz="533400">
                <a:lnSpc>
                  <a:spcPct val="90000"/>
                </a:lnSpc>
                <a:spcAft>
                  <a:spcPct val="35000"/>
                </a:spcAft>
                <a:defRPr/>
              </a:pPr>
              <a:r>
                <a:rPr lang="en-US" b="1" dirty="0"/>
                <a:t>Other risks</a:t>
              </a:r>
              <a:endParaRPr lang="en-US" dirty="0"/>
            </a:p>
          </p:txBody>
        </p:sp>
      </p:grpSp>
      <p:sp>
        <p:nvSpPr>
          <p:cNvPr id="22532" name="TextBox 4"/>
          <p:cNvSpPr txBox="1">
            <a:spLocks noChangeArrowheads="1"/>
          </p:cNvSpPr>
          <p:nvPr/>
        </p:nvSpPr>
        <p:spPr bwMode="auto">
          <a:xfrm>
            <a:off x="5011738" y="1600200"/>
            <a:ext cx="3440112"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b="1"/>
              <a:t>Strategic risks </a:t>
            </a:r>
            <a:r>
              <a:rPr lang="en-US"/>
              <a:t>is a broad category focused on an event that may change how the organization operates</a:t>
            </a:r>
          </a:p>
          <a:p>
            <a:pPr eaLnBrk="1" hangingPunct="1"/>
            <a:endParaRPr lang="en-US"/>
          </a:p>
        </p:txBody>
      </p:sp>
      <p:sp>
        <p:nvSpPr>
          <p:cNvPr id="22533" name="TextBox 5"/>
          <p:cNvSpPr txBox="1">
            <a:spLocks noChangeArrowheads="1"/>
          </p:cNvSpPr>
          <p:nvPr/>
        </p:nvSpPr>
        <p:spPr bwMode="auto">
          <a:xfrm>
            <a:off x="606425" y="2271713"/>
            <a:ext cx="30670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b="1"/>
              <a:t>Compliance risks</a:t>
            </a:r>
            <a:r>
              <a:rPr lang="en-US"/>
              <a:t> relate to the impact of the business failing to comply with legal obligations</a:t>
            </a:r>
          </a:p>
          <a:p>
            <a:pPr eaLnBrk="1" hangingPunct="1"/>
            <a:endParaRPr lang="en-US"/>
          </a:p>
        </p:txBody>
      </p:sp>
      <p:sp>
        <p:nvSpPr>
          <p:cNvPr id="22534" name="TextBox 6"/>
          <p:cNvSpPr txBox="1">
            <a:spLocks noChangeArrowheads="1"/>
          </p:cNvSpPr>
          <p:nvPr/>
        </p:nvSpPr>
        <p:spPr bwMode="auto">
          <a:xfrm>
            <a:off x="6473825" y="2892425"/>
            <a:ext cx="2684463"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b="1"/>
              <a:t>Financial risks</a:t>
            </a:r>
            <a:r>
              <a:rPr lang="en-US"/>
              <a:t> is the potential impact when the business fails to have adequate liquidity to meet its obligations</a:t>
            </a:r>
          </a:p>
          <a:p>
            <a:pPr eaLnBrk="1" hangingPunct="1"/>
            <a:endParaRPr lang="en-US"/>
          </a:p>
        </p:txBody>
      </p:sp>
      <p:sp>
        <p:nvSpPr>
          <p:cNvPr id="22535" name="TextBox 7"/>
          <p:cNvSpPr txBox="1">
            <a:spLocks noChangeArrowheads="1"/>
          </p:cNvSpPr>
          <p:nvPr/>
        </p:nvSpPr>
        <p:spPr bwMode="auto">
          <a:xfrm>
            <a:off x="-12700" y="3278188"/>
            <a:ext cx="1617663"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b="1"/>
              <a:t>Operational risks</a:t>
            </a:r>
            <a:r>
              <a:rPr lang="en-US"/>
              <a:t> is a broad category that describes any event that disrupts the organization’s daily </a:t>
            </a:r>
          </a:p>
          <a:p>
            <a:pPr algn="ctr" eaLnBrk="1" hangingPunct="1"/>
            <a:r>
              <a:rPr lang="en-US"/>
              <a:t>activities</a:t>
            </a:r>
          </a:p>
          <a:p>
            <a:pPr eaLnBrk="1" hangingPunct="1"/>
            <a:endParaRPr lang="en-US"/>
          </a:p>
        </p:txBody>
      </p:sp>
      <p:sp>
        <p:nvSpPr>
          <p:cNvPr id="22536" name="TextBox 8"/>
          <p:cNvSpPr txBox="1">
            <a:spLocks noChangeArrowheads="1"/>
          </p:cNvSpPr>
          <p:nvPr/>
        </p:nvSpPr>
        <p:spPr bwMode="auto">
          <a:xfrm>
            <a:off x="7504113" y="4318000"/>
            <a:ext cx="1654175"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b="1"/>
              <a:t>Other risks</a:t>
            </a:r>
            <a:r>
              <a:rPr lang="en-US"/>
              <a:t> is a broad category that relates to all other non-IT specific events</a:t>
            </a:r>
          </a:p>
          <a:p>
            <a:pPr eaLnBrk="1" hangingPunct="1"/>
            <a:endParaRPr lang="en-US" sz="1200"/>
          </a:p>
        </p:txBody>
      </p:sp>
      <p:cxnSp>
        <p:nvCxnSpPr>
          <p:cNvPr id="22537" name="Straight Arrow Connector 24"/>
          <p:cNvCxnSpPr>
            <a:cxnSpLocks noChangeShapeType="1"/>
          </p:cNvCxnSpPr>
          <p:nvPr/>
        </p:nvCxnSpPr>
        <p:spPr bwMode="auto">
          <a:xfrm>
            <a:off x="4938713" y="2433638"/>
            <a:ext cx="341312" cy="158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2538" name="Straight Arrow Connector 25"/>
          <p:cNvCxnSpPr>
            <a:cxnSpLocks noChangeShapeType="1"/>
          </p:cNvCxnSpPr>
          <p:nvPr/>
        </p:nvCxnSpPr>
        <p:spPr bwMode="auto">
          <a:xfrm>
            <a:off x="6183313" y="4089400"/>
            <a:ext cx="339725" cy="1588"/>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2539" name="Straight Arrow Connector 30"/>
          <p:cNvCxnSpPr>
            <a:cxnSpLocks noChangeShapeType="1"/>
          </p:cNvCxnSpPr>
          <p:nvPr/>
        </p:nvCxnSpPr>
        <p:spPr bwMode="auto">
          <a:xfrm>
            <a:off x="7372350" y="5484813"/>
            <a:ext cx="247650" cy="4762"/>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2540" name="Straight Arrow Connector 32"/>
          <p:cNvCxnSpPr>
            <a:cxnSpLocks noChangeShapeType="1"/>
          </p:cNvCxnSpPr>
          <p:nvPr/>
        </p:nvCxnSpPr>
        <p:spPr bwMode="auto">
          <a:xfrm rot="10800000">
            <a:off x="2906713" y="3260725"/>
            <a:ext cx="341312" cy="1588"/>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2541" name="Straight Arrow Connector 38"/>
          <p:cNvCxnSpPr>
            <a:cxnSpLocks noChangeShapeType="1"/>
          </p:cNvCxnSpPr>
          <p:nvPr/>
        </p:nvCxnSpPr>
        <p:spPr bwMode="auto">
          <a:xfrm rot="10800000">
            <a:off x="1604963" y="4926013"/>
            <a:ext cx="461962" cy="158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RATIONALE</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539750" y="304799"/>
            <a:ext cx="8299450" cy="765175"/>
          </a:xfrm>
        </p:spPr>
        <p:txBody>
          <a:bodyPr/>
          <a:lstStyle/>
          <a:p>
            <a:r>
              <a:rPr lang="en-US" sz="4000" dirty="0"/>
              <a:t>Separation of Duties (SOD)</a:t>
            </a:r>
            <a:endParaRPr lang="en-US" sz="4000" dirty="0">
              <a:solidFill>
                <a:schemeClr val="tx2"/>
              </a:solidFill>
            </a:endParaRPr>
          </a:p>
        </p:txBody>
      </p:sp>
      <p:sp>
        <p:nvSpPr>
          <p:cNvPr id="24579" name="Content Placeholder 2"/>
          <p:cNvSpPr>
            <a:spLocks noGrp="1"/>
          </p:cNvSpPr>
          <p:nvPr>
            <p:ph idx="1"/>
          </p:nvPr>
        </p:nvSpPr>
        <p:spPr>
          <a:xfrm>
            <a:off x="539750" y="1371599"/>
            <a:ext cx="8299450" cy="4876801"/>
          </a:xfrm>
        </p:spPr>
        <p:txBody>
          <a:bodyPr/>
          <a:lstStyle/>
          <a:p>
            <a:r>
              <a:rPr lang="en-US" sz="2800" dirty="0"/>
              <a:t>Layered security approach</a:t>
            </a:r>
          </a:p>
          <a:p>
            <a:pPr lvl="1"/>
            <a:r>
              <a:rPr lang="en-US" sz="2400" dirty="0"/>
              <a:t>Using layered security provides redundancy of layers, so if one fails to catch the risk, another layer should. Thus, the more layers the better the chance that a risk will be mitigated. However, one must remember that cost and restrictions are also present with each layer deployed</a:t>
            </a:r>
          </a:p>
          <a:p>
            <a:r>
              <a:rPr lang="en-US" sz="2800" dirty="0"/>
              <a:t>Domain of responsibility and accountability</a:t>
            </a:r>
          </a:p>
          <a:p>
            <a:pPr lvl="1"/>
            <a:r>
              <a:rPr lang="en-US" sz="2400" dirty="0"/>
              <a:t>These SOD duties fall within each individual domain and applying SOD can and will reduce both fraud and human errors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3"/>
          <p:cNvSpPr>
            <a:spLocks noGrp="1"/>
          </p:cNvSpPr>
          <p:nvPr>
            <p:ph type="title"/>
          </p:nvPr>
        </p:nvSpPr>
        <p:spPr>
          <a:xfrm>
            <a:off x="539750" y="419100"/>
            <a:ext cx="8299450" cy="990600"/>
          </a:xfrm>
        </p:spPr>
        <p:txBody>
          <a:bodyPr/>
          <a:lstStyle/>
          <a:p>
            <a:r>
              <a:rPr lang="en-US" sz="4000">
                <a:ea typeface="ＭＳ Ｐゴシック" pitchFamily="106" charset="-128"/>
              </a:rPr>
              <a:t>Summary</a:t>
            </a:r>
          </a:p>
        </p:txBody>
      </p:sp>
      <p:sp>
        <p:nvSpPr>
          <p:cNvPr id="25603" name="Content Placeholder 4"/>
          <p:cNvSpPr>
            <a:spLocks/>
          </p:cNvSpPr>
          <p:nvPr/>
        </p:nvSpPr>
        <p:spPr bwMode="auto">
          <a:xfrm>
            <a:off x="539750" y="1452563"/>
            <a:ext cx="829945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3363" indent="-233363" eaLnBrk="0" hangingPunct="0">
              <a:spcBef>
                <a:spcPct val="20000"/>
              </a:spcBef>
              <a:buClr>
                <a:srgbClr val="ED6E2E"/>
              </a:buClr>
              <a:buFont typeface="Wingdings" pitchFamily="2" charset="2"/>
              <a:buChar char="§"/>
            </a:pPr>
            <a:r>
              <a:rPr lang="en-US" sz="3200"/>
              <a:t>In this presentation, the following were covered:</a:t>
            </a:r>
          </a:p>
          <a:p>
            <a:pPr marL="690563" lvl="1" indent="-233363" eaLnBrk="0" hangingPunct="0">
              <a:spcBef>
                <a:spcPct val="20000"/>
              </a:spcBef>
              <a:buClr>
                <a:srgbClr val="ED6E2E"/>
              </a:buClr>
              <a:buFont typeface="Arial" charset="0"/>
              <a:buChar char="•"/>
            </a:pPr>
            <a:r>
              <a:rPr lang="en-US" sz="2800"/>
              <a:t>Information systems security policy frameworks and IT security controls</a:t>
            </a:r>
          </a:p>
          <a:p>
            <a:pPr marL="690563" lvl="1" indent="-233363" eaLnBrk="0" hangingPunct="0">
              <a:spcBef>
                <a:spcPct val="20000"/>
              </a:spcBef>
              <a:buClr>
                <a:srgbClr val="ED6E2E"/>
              </a:buClr>
              <a:buFont typeface="Arial" charset="0"/>
              <a:buChar char="•"/>
            </a:pPr>
            <a:r>
              <a:rPr lang="en-US" sz="2800"/>
              <a:t>Difference between GRC and ERM</a:t>
            </a:r>
          </a:p>
          <a:p>
            <a:pPr marL="690563" lvl="1" indent="-233363" eaLnBrk="0" hangingPunct="0">
              <a:spcBef>
                <a:spcPct val="20000"/>
              </a:spcBef>
              <a:buClr>
                <a:srgbClr val="ED6E2E"/>
              </a:buClr>
              <a:buFont typeface="Arial" charset="0"/>
              <a:buChar char="•"/>
            </a:pPr>
            <a:r>
              <a:rPr lang="en-US" sz="2800"/>
              <a:t>Business risks associated with security policy framework</a:t>
            </a:r>
          </a:p>
          <a:p>
            <a:pPr marL="690563" lvl="1" indent="-233363" eaLnBrk="0" hangingPunct="0">
              <a:spcBef>
                <a:spcPct val="20000"/>
              </a:spcBef>
              <a:buClr>
                <a:srgbClr val="ED6E2E"/>
              </a:buClr>
              <a:buFont typeface="Arial" charset="0"/>
              <a:buChar char="•"/>
            </a:pPr>
            <a:r>
              <a:rPr lang="en-US" sz="2800"/>
              <a:t>Roles and responsibilities associated with information systems security policy framework and SOD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539750" y="800100"/>
            <a:ext cx="8299450" cy="990600"/>
          </a:xfrm>
        </p:spPr>
        <p:txBody>
          <a:bodyPr/>
          <a:lstStyle/>
          <a:p>
            <a:r>
              <a:rPr lang="en-US" sz="3600" dirty="0"/>
              <a:t>Discussion and Assignments</a:t>
            </a:r>
          </a:p>
        </p:txBody>
      </p:sp>
      <p:sp>
        <p:nvSpPr>
          <p:cNvPr id="3" name="Content Placeholder 2"/>
          <p:cNvSpPr>
            <a:spLocks noGrp="1"/>
          </p:cNvSpPr>
          <p:nvPr>
            <p:ph idx="1"/>
          </p:nvPr>
        </p:nvSpPr>
        <p:spPr>
          <a:xfrm>
            <a:off x="539750" y="2535382"/>
            <a:ext cx="8299450" cy="3408217"/>
          </a:xfrm>
        </p:spPr>
        <p:txBody>
          <a:bodyPr/>
          <a:lstStyle/>
          <a:p>
            <a:pPr>
              <a:defRPr/>
            </a:pPr>
            <a:r>
              <a:rPr lang="en-US" sz="2800" dirty="0"/>
              <a:t>Discussion 4: Separation of Duties (SOD)</a:t>
            </a:r>
          </a:p>
          <a:p>
            <a:pPr>
              <a:defRPr/>
            </a:pPr>
            <a:r>
              <a:rPr lang="en-US" sz="2800" dirty="0"/>
              <a:t>Assignment 4: Security Policy Creation</a:t>
            </a:r>
          </a:p>
          <a:p>
            <a:pPr marL="0" indent="0">
              <a:buFont typeface="Wingdings" pitchFamily="2" charset="2"/>
              <a:buNone/>
              <a:defRPr/>
            </a:pPr>
            <a:endParaRPr lang="en-US" sz="2800" dirty="0"/>
          </a:p>
          <a:p>
            <a:pPr>
              <a:defRPr/>
            </a:pPr>
            <a:endParaRPr lang="en-US" sz="2800" dirty="0"/>
          </a:p>
        </p:txBody>
      </p:sp>
    </p:spTree>
    <p:extLst>
      <p:ext uri="{BB962C8B-B14F-4D97-AF65-F5344CB8AC3E}">
        <p14:creationId xmlns:p14="http://schemas.microsoft.com/office/powerpoint/2010/main" val="2124853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39750" y="831272"/>
            <a:ext cx="8299450" cy="990600"/>
          </a:xfrm>
        </p:spPr>
        <p:txBody>
          <a:bodyPr/>
          <a:lstStyle/>
          <a:p>
            <a:r>
              <a:rPr lang="en-US" sz="3600" dirty="0"/>
              <a:t>Lab Activities</a:t>
            </a:r>
          </a:p>
        </p:txBody>
      </p:sp>
      <p:sp>
        <p:nvSpPr>
          <p:cNvPr id="3" name="Content Placeholder 2"/>
          <p:cNvSpPr>
            <a:spLocks noGrp="1"/>
          </p:cNvSpPr>
          <p:nvPr>
            <p:ph idx="1"/>
          </p:nvPr>
        </p:nvSpPr>
        <p:spPr>
          <a:xfrm>
            <a:off x="539750" y="2327564"/>
            <a:ext cx="8299450" cy="3616035"/>
          </a:xfrm>
        </p:spPr>
        <p:txBody>
          <a:bodyPr/>
          <a:lstStyle/>
          <a:p>
            <a:pPr>
              <a:defRPr/>
            </a:pPr>
            <a:r>
              <a:rPr lang="en-US" sz="2800" dirty="0"/>
              <a:t>Lab is in the lab manual on </a:t>
            </a:r>
            <a:r>
              <a:rPr lang="en-US" sz="2800" dirty="0" err="1"/>
              <a:t>cms</a:t>
            </a:r>
            <a:endParaRPr lang="en-US" sz="2800" dirty="0"/>
          </a:p>
          <a:p>
            <a:pPr>
              <a:defRPr/>
            </a:pPr>
            <a:r>
              <a:rPr lang="en-US" sz="2800" dirty="0"/>
              <a:t>Lab 4: Craft a Layered Security Management Policy - Separation of Duties</a:t>
            </a:r>
          </a:p>
          <a:p>
            <a:pPr marL="0" indent="0">
              <a:buNone/>
              <a:defRPr/>
            </a:pPr>
            <a:endParaRPr lang="en-US" sz="2800" dirty="0"/>
          </a:p>
          <a:p>
            <a:pPr>
              <a:defRPr/>
            </a:pPr>
            <a:r>
              <a:rPr lang="en-US" sz="2800" dirty="0"/>
              <a:t>Reading Assignment 4, Chapter 8</a:t>
            </a:r>
          </a:p>
          <a:p>
            <a:pPr>
              <a:defRPr/>
            </a:pPr>
            <a:endParaRPr lang="en-US" sz="2800" dirty="0"/>
          </a:p>
        </p:txBody>
      </p:sp>
    </p:spTree>
    <p:extLst>
      <p:ext uri="{BB962C8B-B14F-4D97-AF65-F5344CB8AC3E}">
        <p14:creationId xmlns:p14="http://schemas.microsoft.com/office/powerpoint/2010/main" val="18972665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569862757D4DE44893AB3F20D4900D1" ma:contentTypeVersion="0" ma:contentTypeDescription="Create a new document." ma:contentTypeScope="" ma:versionID="de924425f64a35fd3e6bdf165bb16c0f">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LongProperties xmlns="http://schemas.microsoft.com/office/2006/metadata/long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C21885-371E-4902-A8F9-9DEEB96416BC}">
  <ds:schemaRefs>
    <ds:schemaRef ds:uri="http://schemas.openxmlformats.org/package/2006/metadata/core-properties"/>
    <ds:schemaRef ds:uri="http://www.w3.org/XML/1998/namespace"/>
    <ds:schemaRef ds:uri="http://purl.org/dc/dcmitype/"/>
    <ds:schemaRef ds:uri="http://purl.org/dc/elements/1.1/"/>
    <ds:schemaRef ds:uri="http://schemas.microsoft.com/office/2006/documentManagement/types"/>
    <ds:schemaRef ds:uri="http://purl.org/dc/term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EB8639A-8193-41A3-B88D-30381B1E59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FC179457-D557-43E5-8F5D-F70BD37A9867}">
  <ds:schemaRefs>
    <ds:schemaRef ds:uri="http://schemas.microsoft.com/office/2006/metadata/longProperties"/>
  </ds:schemaRefs>
</ds:datastoreItem>
</file>

<file path=customXml/itemProps4.xml><?xml version="1.0" encoding="utf-8"?>
<ds:datastoreItem xmlns:ds="http://schemas.openxmlformats.org/officeDocument/2006/customXml" ds:itemID="{4CA79F13-E1AA-4D61-B102-462BE46595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22938</TotalTime>
  <Words>1121</Words>
  <Application>Microsoft Office PowerPoint</Application>
  <PresentationFormat>On-screen Show (4:3)</PresentationFormat>
  <Paragraphs>131</Paragraphs>
  <Slides>31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Times</vt:lpstr>
      <vt:lpstr>Times New Roman</vt:lpstr>
      <vt:lpstr>Wingdings</vt:lpstr>
      <vt:lpstr>Blank Presentation</vt:lpstr>
      <vt:lpstr>PowerPoint Presentation</vt:lpstr>
      <vt:lpstr>Learning Objective</vt:lpstr>
      <vt:lpstr>Key Concepts</vt:lpstr>
      <vt:lpstr> EXPLORE: CONCEPTS</vt:lpstr>
      <vt:lpstr>Information Systems Security Policy Frameworks</vt:lpstr>
      <vt:lpstr>The Three-Domain Model</vt:lpstr>
      <vt:lpstr>The Seven-Domain Model</vt:lpstr>
      <vt:lpstr>Information Technology (IT) Security Controls</vt:lpstr>
      <vt:lpstr>Three-lines-of-defense model</vt:lpstr>
      <vt:lpstr>Information Technology (IT) Security Controls (cont’d)</vt:lpstr>
      <vt:lpstr>Information Technology (IT) Security Controls (cont’d)</vt:lpstr>
      <vt:lpstr>GRC &amp; ERM</vt:lpstr>
      <vt:lpstr>Similarities and Differences between GRC and ERM</vt:lpstr>
      <vt:lpstr> EXPLORE: PROCESS</vt:lpstr>
      <vt:lpstr>Best Practices-Security Policy Framework </vt:lpstr>
      <vt:lpstr>Best Practices-Security Policy Framework (cont’d)</vt:lpstr>
      <vt:lpstr> EXPLORE: ROLES</vt:lpstr>
      <vt:lpstr>Roles and Responsibilities </vt:lpstr>
      <vt:lpstr>Roles and Responsibilities (cont’d) </vt:lpstr>
      <vt:lpstr>Security Organizational Structure</vt:lpstr>
      <vt:lpstr>CISO reporting directly to CFO</vt:lpstr>
      <vt:lpstr>CISO organizational chart - CISO role appears several layers deep</vt:lpstr>
      <vt:lpstr> EXPLORE: CONTEXT</vt:lpstr>
      <vt:lpstr>Importance of Governance and Compliance </vt:lpstr>
      <vt:lpstr>Importance of Governance and Compliance (cont’d)</vt:lpstr>
      <vt:lpstr>Security Policy Framework-Business Risks</vt:lpstr>
      <vt:lpstr> EXPLORE: RATIONALE</vt:lpstr>
      <vt:lpstr>Separation of Duties (SOD)</vt:lpstr>
      <vt:lpstr>Summary</vt:lpstr>
      <vt:lpstr>Discussion and Assignments</vt:lpstr>
      <vt:lpstr>Lab Activities</vt:lpstr>
    </vt:vector>
  </TitlesOfParts>
  <Company>Bersin &amp; 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Josh Bersin</dc:creator>
  <cp:lastModifiedBy>Chi Nguyen Dinh</cp:lastModifiedBy>
  <cp:revision>3172</cp:revision>
  <cp:lastPrinted>2008-07-07T18:08:55Z</cp:lastPrinted>
  <dcterms:created xsi:type="dcterms:W3CDTF">1999-09-23T04:05:21Z</dcterms:created>
  <dcterms:modified xsi:type="dcterms:W3CDTF">2023-09-22T09:35:03Z</dcterms:modified>
</cp:coreProperties>
</file>