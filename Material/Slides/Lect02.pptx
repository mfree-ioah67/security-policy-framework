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41"/>
  </p:notesMasterIdLst>
  <p:handoutMasterIdLst>
    <p:handoutMasterId r:id="rId42"/>
  </p:handoutMasterIdLst>
  <p:sldIdLst>
    <p:sldId id="1507" r:id="rId6"/>
    <p:sldId id="1514" r:id="rId7"/>
    <p:sldId id="1529" r:id="rId8"/>
    <p:sldId id="1512" r:id="rId9"/>
    <p:sldId id="1530" r:id="rId10"/>
    <p:sldId id="1550" r:id="rId11"/>
    <p:sldId id="1510" r:id="rId12"/>
    <p:sldId id="1526" r:id="rId13"/>
    <p:sldId id="1531" r:id="rId14"/>
    <p:sldId id="1532" r:id="rId15"/>
    <p:sldId id="1533" r:id="rId16"/>
    <p:sldId id="1534" r:id="rId17"/>
    <p:sldId id="1535" r:id="rId18"/>
    <p:sldId id="1536" r:id="rId19"/>
    <p:sldId id="1537" r:id="rId20"/>
    <p:sldId id="1538" r:id="rId21"/>
    <p:sldId id="1518" r:id="rId22"/>
    <p:sldId id="1527" r:id="rId23"/>
    <p:sldId id="1539" r:id="rId24"/>
    <p:sldId id="1540" r:id="rId25"/>
    <p:sldId id="1541" r:id="rId26"/>
    <p:sldId id="1519" r:id="rId27"/>
    <p:sldId id="1520" r:id="rId28"/>
    <p:sldId id="1528" r:id="rId29"/>
    <p:sldId id="1542" r:id="rId30"/>
    <p:sldId id="1543" r:id="rId31"/>
    <p:sldId id="1544" r:id="rId32"/>
    <p:sldId id="1545" r:id="rId33"/>
    <p:sldId id="1546" r:id="rId34"/>
    <p:sldId id="1547" r:id="rId35"/>
    <p:sldId id="1548" r:id="rId36"/>
    <p:sldId id="1549" r:id="rId37"/>
    <p:sldId id="1525" r:id="rId38"/>
    <p:sldId id="1551" r:id="rId39"/>
    <p:sldId id="1552" r:id="rId40"/>
  </p:sldIdLst>
  <p:sldSz cx="9144000" cy="6858000" type="screen4x3"/>
  <p:notesSz cx="7010400" cy="9296400"/>
  <p:custDataLst>
    <p:tags r:id="rId4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>
          <p15:clr>
            <a:srgbClr val="A4A3A4"/>
          </p15:clr>
        </p15:guide>
        <p15:guide id="2" orient="horz" pos="2748">
          <p15:clr>
            <a:srgbClr val="A4A3A4"/>
          </p15:clr>
        </p15:guide>
        <p15:guide id="3" pos="4627">
          <p15:clr>
            <a:srgbClr val="A4A3A4"/>
          </p15:clr>
        </p15:guide>
        <p15:guide id="4" pos="1452">
          <p15:clr>
            <a:srgbClr val="A4A3A4"/>
          </p15:clr>
        </p15:guide>
        <p15:guide id="5" pos="23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3BBC9"/>
    <a:srgbClr val="D2E4B2"/>
    <a:srgbClr val="DDDDDD"/>
    <a:srgbClr val="FFCCFF"/>
    <a:srgbClr val="FFCCCC"/>
    <a:srgbClr val="423498"/>
    <a:srgbClr val="FFFF00"/>
    <a:srgbClr val="B4E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3" autoAdjust="0"/>
    <p:restoredTop sz="93076" autoAdjust="0"/>
  </p:normalViewPr>
  <p:slideViewPr>
    <p:cSldViewPr snapToGrid="0" snapToObjects="1">
      <p:cViewPr varScale="1">
        <p:scale>
          <a:sx n="73" d="100"/>
          <a:sy n="73" d="100"/>
        </p:scale>
        <p:origin x="1824" y="62"/>
      </p:cViewPr>
      <p:guideLst>
        <p:guide orient="horz" pos="192"/>
        <p:guide orient="horz" pos="2748"/>
        <p:guide pos="4627"/>
        <p:guide pos="1452"/>
        <p:guide pos="23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notesViewPr>
    <p:cSldViewPr snapToGrid="0" snapToObjects="1">
      <p:cViewPr varScale="1">
        <p:scale>
          <a:sx n="55" d="100"/>
          <a:sy n="55" d="100"/>
        </p:scale>
        <p:origin x="-1854" y="-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gs" Target="tags/tag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8725B2-C5F9-4260-90F0-A83DEC4067F4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2DA1E0AB-6416-4064-BB38-74ED0C87EBBB}">
      <dgm:prSet phldrT="[Text]" custT="1"/>
      <dgm:spPr/>
      <dgm:t>
        <a:bodyPr/>
        <a:lstStyle/>
        <a:p>
          <a:r>
            <a:rPr lang="en-US" sz="1800" dirty="0"/>
            <a:t>Data supporting policy implementation aligned with business objectives</a:t>
          </a:r>
        </a:p>
      </dgm:t>
    </dgm:pt>
    <dgm:pt modelId="{76F15335-505A-4539-9B36-24A4BF456D27}" type="parTrans" cxnId="{57A5FF94-4E17-4107-8B27-13027774ADB6}">
      <dgm:prSet/>
      <dgm:spPr/>
      <dgm:t>
        <a:bodyPr/>
        <a:lstStyle/>
        <a:p>
          <a:endParaRPr lang="en-US"/>
        </a:p>
      </dgm:t>
    </dgm:pt>
    <dgm:pt modelId="{C9FB4888-29A3-4AE5-BA33-D9C4F1B70246}" type="sibTrans" cxnId="{57A5FF94-4E17-4107-8B27-13027774ADB6}">
      <dgm:prSet/>
      <dgm:spPr/>
      <dgm:t>
        <a:bodyPr/>
        <a:lstStyle/>
        <a:p>
          <a:endParaRPr lang="en-US"/>
        </a:p>
      </dgm:t>
    </dgm:pt>
    <dgm:pt modelId="{7273FDA9-EB57-47CA-B0E0-0A2B37F90E27}">
      <dgm:prSet phldrT="[Text]"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</a:rPr>
            <a:t>Business objectives identified align with compliance laws or regulations required to conduct business</a:t>
          </a:r>
        </a:p>
      </dgm:t>
    </dgm:pt>
    <dgm:pt modelId="{792A60C7-84CC-420D-BC14-82A73F30A3D6}" type="parTrans" cxnId="{00F650F5-077D-4556-BED6-911D1AD69084}">
      <dgm:prSet/>
      <dgm:spPr/>
      <dgm:t>
        <a:bodyPr/>
        <a:lstStyle/>
        <a:p>
          <a:endParaRPr lang="en-US"/>
        </a:p>
      </dgm:t>
    </dgm:pt>
    <dgm:pt modelId="{DDC6E587-248D-4804-93BF-374075DB9C66}" type="sibTrans" cxnId="{00F650F5-077D-4556-BED6-911D1AD69084}">
      <dgm:prSet/>
      <dgm:spPr/>
      <dgm:t>
        <a:bodyPr/>
        <a:lstStyle/>
        <a:p>
          <a:endParaRPr lang="en-US"/>
        </a:p>
      </dgm:t>
    </dgm:pt>
    <dgm:pt modelId="{98E9D726-26AF-41DF-A71D-B63FA2D1C3C2}">
      <dgm:prSet phldrT="[Text]" custT="1"/>
      <dgm:spPr/>
      <dgm:t>
        <a:bodyPr/>
        <a:lstStyle/>
        <a:p>
          <a:r>
            <a:rPr lang="en-US" sz="1800" dirty="0"/>
            <a:t>Security Policy implementation can expect executive management support</a:t>
          </a:r>
        </a:p>
      </dgm:t>
    </dgm:pt>
    <dgm:pt modelId="{FBED7B23-C37A-4BF6-9551-562D98D4E0B0}" type="parTrans" cxnId="{BEAE8CCC-5DBF-4DC6-B621-BA10F3A447E6}">
      <dgm:prSet/>
      <dgm:spPr/>
      <dgm:t>
        <a:bodyPr/>
        <a:lstStyle/>
        <a:p>
          <a:endParaRPr lang="en-US"/>
        </a:p>
      </dgm:t>
    </dgm:pt>
    <dgm:pt modelId="{8412A9B3-62B0-435B-B671-15C891D7650C}" type="sibTrans" cxnId="{BEAE8CCC-5DBF-4DC6-B621-BA10F3A447E6}">
      <dgm:prSet/>
      <dgm:spPr/>
      <dgm:t>
        <a:bodyPr/>
        <a:lstStyle/>
        <a:p>
          <a:endParaRPr lang="en-US"/>
        </a:p>
      </dgm:t>
    </dgm:pt>
    <dgm:pt modelId="{830484A0-A4BB-4113-A00B-0752CD25105F}" type="pres">
      <dgm:prSet presAssocID="{1A8725B2-C5F9-4260-90F0-A83DEC4067F4}" presName="arrowDiagram" presStyleCnt="0">
        <dgm:presLayoutVars>
          <dgm:chMax val="5"/>
          <dgm:dir/>
          <dgm:resizeHandles val="exact"/>
        </dgm:presLayoutVars>
      </dgm:prSet>
      <dgm:spPr/>
    </dgm:pt>
    <dgm:pt modelId="{AB5DD37B-FFB8-482E-95C9-0C61A562322C}" type="pres">
      <dgm:prSet presAssocID="{1A8725B2-C5F9-4260-90F0-A83DEC4067F4}" presName="arrow" presStyleLbl="bgShp" presStyleIdx="0" presStyleCnt="1"/>
      <dgm:spPr/>
    </dgm:pt>
    <dgm:pt modelId="{6E61B05E-88CC-492F-BB8F-FBFB75BFC236}" type="pres">
      <dgm:prSet presAssocID="{1A8725B2-C5F9-4260-90F0-A83DEC4067F4}" presName="arrowDiagram3" presStyleCnt="0"/>
      <dgm:spPr/>
    </dgm:pt>
    <dgm:pt modelId="{BC2DA2D2-D778-433A-8968-98236D7C9D21}" type="pres">
      <dgm:prSet presAssocID="{2DA1E0AB-6416-4064-BB38-74ED0C87EBBB}" presName="bullet3a" presStyleLbl="node1" presStyleIdx="0" presStyleCnt="3"/>
      <dgm:spPr/>
    </dgm:pt>
    <dgm:pt modelId="{7AF45F7E-368F-4BBD-B0C7-8EF8504B5AE3}" type="pres">
      <dgm:prSet presAssocID="{2DA1E0AB-6416-4064-BB38-74ED0C87EBBB}" presName="textBox3a" presStyleLbl="revTx" presStyleIdx="0" presStyleCnt="3" custScaleX="118511" custScaleY="116700" custLinFactNeighborX="10248" custLinFactNeighborY="1101">
        <dgm:presLayoutVars>
          <dgm:bulletEnabled val="1"/>
        </dgm:presLayoutVars>
      </dgm:prSet>
      <dgm:spPr/>
    </dgm:pt>
    <dgm:pt modelId="{659083C3-E5E1-4464-8DDC-F620EDDAF2B0}" type="pres">
      <dgm:prSet presAssocID="{7273FDA9-EB57-47CA-B0E0-0A2B37F90E27}" presName="bullet3b" presStyleLbl="node1" presStyleIdx="1" presStyleCnt="3"/>
      <dgm:spPr/>
    </dgm:pt>
    <dgm:pt modelId="{19039527-2DB5-416D-AAB6-6CC7631A4CB1}" type="pres">
      <dgm:prSet presAssocID="{7273FDA9-EB57-47CA-B0E0-0A2B37F90E27}" presName="textBox3b" presStyleLbl="revTx" presStyleIdx="1" presStyleCnt="3" custScaleX="125992" custScaleY="101695" custLinFactNeighborX="14093">
        <dgm:presLayoutVars>
          <dgm:bulletEnabled val="1"/>
        </dgm:presLayoutVars>
      </dgm:prSet>
      <dgm:spPr/>
    </dgm:pt>
    <dgm:pt modelId="{7E798822-47BA-48E6-AF48-934F76F3BA31}" type="pres">
      <dgm:prSet presAssocID="{98E9D726-26AF-41DF-A71D-B63FA2D1C3C2}" presName="bullet3c" presStyleLbl="node1" presStyleIdx="2" presStyleCnt="3"/>
      <dgm:spPr/>
    </dgm:pt>
    <dgm:pt modelId="{6FDA3FED-67F4-4A58-86A9-377B77CB6FCA}" type="pres">
      <dgm:prSet presAssocID="{98E9D726-26AF-41DF-A71D-B63FA2D1C3C2}" presName="textBox3c" presStyleLbl="revTx" presStyleIdx="2" presStyleCnt="3" custScaleX="118925" custScaleY="102974" custLinFactNeighborX="10777">
        <dgm:presLayoutVars>
          <dgm:bulletEnabled val="1"/>
        </dgm:presLayoutVars>
      </dgm:prSet>
      <dgm:spPr/>
    </dgm:pt>
  </dgm:ptLst>
  <dgm:cxnLst>
    <dgm:cxn modelId="{A8BD0901-387D-4AD8-B2D7-EAE2DE70AFC7}" type="presOf" srcId="{98E9D726-26AF-41DF-A71D-B63FA2D1C3C2}" destId="{6FDA3FED-67F4-4A58-86A9-377B77CB6FCA}" srcOrd="0" destOrd="0" presId="urn:microsoft.com/office/officeart/2005/8/layout/arrow2"/>
    <dgm:cxn modelId="{6B2B116A-E675-46A6-A40A-6DCB4025254E}" type="presOf" srcId="{1A8725B2-C5F9-4260-90F0-A83DEC4067F4}" destId="{830484A0-A4BB-4113-A00B-0752CD25105F}" srcOrd="0" destOrd="0" presId="urn:microsoft.com/office/officeart/2005/8/layout/arrow2"/>
    <dgm:cxn modelId="{57A5FF94-4E17-4107-8B27-13027774ADB6}" srcId="{1A8725B2-C5F9-4260-90F0-A83DEC4067F4}" destId="{2DA1E0AB-6416-4064-BB38-74ED0C87EBBB}" srcOrd="0" destOrd="0" parTransId="{76F15335-505A-4539-9B36-24A4BF456D27}" sibTransId="{C9FB4888-29A3-4AE5-BA33-D9C4F1B70246}"/>
    <dgm:cxn modelId="{601273BA-ECE2-4915-B853-8CB425E7F4C6}" type="presOf" srcId="{7273FDA9-EB57-47CA-B0E0-0A2B37F90E27}" destId="{19039527-2DB5-416D-AAB6-6CC7631A4CB1}" srcOrd="0" destOrd="0" presId="urn:microsoft.com/office/officeart/2005/8/layout/arrow2"/>
    <dgm:cxn modelId="{BEAE8CCC-5DBF-4DC6-B621-BA10F3A447E6}" srcId="{1A8725B2-C5F9-4260-90F0-A83DEC4067F4}" destId="{98E9D726-26AF-41DF-A71D-B63FA2D1C3C2}" srcOrd="2" destOrd="0" parTransId="{FBED7B23-C37A-4BF6-9551-562D98D4E0B0}" sibTransId="{8412A9B3-62B0-435B-B671-15C891D7650C}"/>
    <dgm:cxn modelId="{53A92CDD-68D3-414B-B933-7F75A29136C7}" type="presOf" srcId="{2DA1E0AB-6416-4064-BB38-74ED0C87EBBB}" destId="{7AF45F7E-368F-4BBD-B0C7-8EF8504B5AE3}" srcOrd="0" destOrd="0" presId="urn:microsoft.com/office/officeart/2005/8/layout/arrow2"/>
    <dgm:cxn modelId="{00F650F5-077D-4556-BED6-911D1AD69084}" srcId="{1A8725B2-C5F9-4260-90F0-A83DEC4067F4}" destId="{7273FDA9-EB57-47CA-B0E0-0A2B37F90E27}" srcOrd="1" destOrd="0" parTransId="{792A60C7-84CC-420D-BC14-82A73F30A3D6}" sibTransId="{DDC6E587-248D-4804-93BF-374075DB9C66}"/>
    <dgm:cxn modelId="{79A0FE58-2843-4AE6-A1CA-BD7FCE33652B}" type="presParOf" srcId="{830484A0-A4BB-4113-A00B-0752CD25105F}" destId="{AB5DD37B-FFB8-482E-95C9-0C61A562322C}" srcOrd="0" destOrd="0" presId="urn:microsoft.com/office/officeart/2005/8/layout/arrow2"/>
    <dgm:cxn modelId="{B6897056-4F25-4586-AED3-2CDC1FF7A1F3}" type="presParOf" srcId="{830484A0-A4BB-4113-A00B-0752CD25105F}" destId="{6E61B05E-88CC-492F-BB8F-FBFB75BFC236}" srcOrd="1" destOrd="0" presId="urn:microsoft.com/office/officeart/2005/8/layout/arrow2"/>
    <dgm:cxn modelId="{222AA48D-C8DD-48C9-920A-453893BA8EF4}" type="presParOf" srcId="{6E61B05E-88CC-492F-BB8F-FBFB75BFC236}" destId="{BC2DA2D2-D778-433A-8968-98236D7C9D21}" srcOrd="0" destOrd="0" presId="urn:microsoft.com/office/officeart/2005/8/layout/arrow2"/>
    <dgm:cxn modelId="{F634E04A-6A23-4875-9C5E-6C2D1181526A}" type="presParOf" srcId="{6E61B05E-88CC-492F-BB8F-FBFB75BFC236}" destId="{7AF45F7E-368F-4BBD-B0C7-8EF8504B5AE3}" srcOrd="1" destOrd="0" presId="urn:microsoft.com/office/officeart/2005/8/layout/arrow2"/>
    <dgm:cxn modelId="{7CA3EF9F-EE87-440D-A9D8-EB4317DAFF46}" type="presParOf" srcId="{6E61B05E-88CC-492F-BB8F-FBFB75BFC236}" destId="{659083C3-E5E1-4464-8DDC-F620EDDAF2B0}" srcOrd="2" destOrd="0" presId="urn:microsoft.com/office/officeart/2005/8/layout/arrow2"/>
    <dgm:cxn modelId="{E5C083E8-BB1C-43DE-8991-A917BEF2343F}" type="presParOf" srcId="{6E61B05E-88CC-492F-BB8F-FBFB75BFC236}" destId="{19039527-2DB5-416D-AAB6-6CC7631A4CB1}" srcOrd="3" destOrd="0" presId="urn:microsoft.com/office/officeart/2005/8/layout/arrow2"/>
    <dgm:cxn modelId="{B029F274-89F3-4D63-84AD-F3B5CD845CC2}" type="presParOf" srcId="{6E61B05E-88CC-492F-BB8F-FBFB75BFC236}" destId="{7E798822-47BA-48E6-AF48-934F76F3BA31}" srcOrd="4" destOrd="0" presId="urn:microsoft.com/office/officeart/2005/8/layout/arrow2"/>
    <dgm:cxn modelId="{64C997C9-FDC8-4F50-A0E2-7CE2C56FCFC9}" type="presParOf" srcId="{6E61B05E-88CC-492F-BB8F-FBFB75BFC236}" destId="{6FDA3FED-67F4-4A58-86A9-377B77CB6FCA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8725B2-C5F9-4260-90F0-A83DEC4067F4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2DA1E0AB-6416-4064-BB38-74ED0C87EBBB}">
      <dgm:prSet phldrT="[Text]" custT="1"/>
      <dgm:spPr/>
      <dgm:t>
        <a:bodyPr/>
        <a:lstStyle/>
        <a:p>
          <a:r>
            <a:rPr lang="en-US" sz="1800" dirty="0"/>
            <a:t>Data supporting policy implementation not aligned with business objectives</a:t>
          </a:r>
        </a:p>
      </dgm:t>
    </dgm:pt>
    <dgm:pt modelId="{76F15335-505A-4539-9B36-24A4BF456D27}" type="parTrans" cxnId="{57A5FF94-4E17-4107-8B27-13027774ADB6}">
      <dgm:prSet/>
      <dgm:spPr/>
      <dgm:t>
        <a:bodyPr/>
        <a:lstStyle/>
        <a:p>
          <a:endParaRPr lang="en-US"/>
        </a:p>
      </dgm:t>
    </dgm:pt>
    <dgm:pt modelId="{C9FB4888-29A3-4AE5-BA33-D9C4F1B70246}" type="sibTrans" cxnId="{57A5FF94-4E17-4107-8B27-13027774ADB6}">
      <dgm:prSet/>
      <dgm:spPr/>
      <dgm:t>
        <a:bodyPr/>
        <a:lstStyle/>
        <a:p>
          <a:endParaRPr lang="en-US"/>
        </a:p>
      </dgm:t>
    </dgm:pt>
    <dgm:pt modelId="{7273FDA9-EB57-47CA-B0E0-0A2B37F90E27}">
      <dgm:prSet phldrT="[Text]" custT="1"/>
      <dgm:spPr/>
      <dgm:t>
        <a:bodyPr/>
        <a:lstStyle/>
        <a:p>
          <a:r>
            <a:rPr lang="en-US" sz="1800" dirty="0"/>
            <a:t>Business objectives identified do not align with compliance laws or regulations required to conduct business, or are unclear and have insufficient support from leadership</a:t>
          </a:r>
          <a:endParaRPr lang="en-US" sz="1800" dirty="0">
            <a:solidFill>
              <a:schemeClr val="tx1"/>
            </a:solidFill>
          </a:endParaRPr>
        </a:p>
      </dgm:t>
    </dgm:pt>
    <dgm:pt modelId="{792A60C7-84CC-420D-BC14-82A73F30A3D6}" type="parTrans" cxnId="{00F650F5-077D-4556-BED6-911D1AD69084}">
      <dgm:prSet/>
      <dgm:spPr/>
      <dgm:t>
        <a:bodyPr/>
        <a:lstStyle/>
        <a:p>
          <a:endParaRPr lang="en-US"/>
        </a:p>
      </dgm:t>
    </dgm:pt>
    <dgm:pt modelId="{DDC6E587-248D-4804-93BF-374075DB9C66}" type="sibTrans" cxnId="{00F650F5-077D-4556-BED6-911D1AD69084}">
      <dgm:prSet/>
      <dgm:spPr/>
      <dgm:t>
        <a:bodyPr/>
        <a:lstStyle/>
        <a:p>
          <a:endParaRPr lang="en-US"/>
        </a:p>
      </dgm:t>
    </dgm:pt>
    <dgm:pt modelId="{98E9D726-26AF-41DF-A71D-B63FA2D1C3C2}">
      <dgm:prSet phldrT="[Text]" custT="1"/>
      <dgm:spPr/>
      <dgm:t>
        <a:bodyPr/>
        <a:lstStyle/>
        <a:p>
          <a:r>
            <a:rPr lang="en-US" sz="1800" dirty="0"/>
            <a:t>Security Policy implementation can expect to fail without executive management support</a:t>
          </a:r>
        </a:p>
      </dgm:t>
    </dgm:pt>
    <dgm:pt modelId="{FBED7B23-C37A-4BF6-9551-562D98D4E0B0}" type="parTrans" cxnId="{BEAE8CCC-5DBF-4DC6-B621-BA10F3A447E6}">
      <dgm:prSet/>
      <dgm:spPr/>
      <dgm:t>
        <a:bodyPr/>
        <a:lstStyle/>
        <a:p>
          <a:endParaRPr lang="en-US"/>
        </a:p>
      </dgm:t>
    </dgm:pt>
    <dgm:pt modelId="{8412A9B3-62B0-435B-B671-15C891D7650C}" type="sibTrans" cxnId="{BEAE8CCC-5DBF-4DC6-B621-BA10F3A447E6}">
      <dgm:prSet/>
      <dgm:spPr/>
      <dgm:t>
        <a:bodyPr/>
        <a:lstStyle/>
        <a:p>
          <a:endParaRPr lang="en-US"/>
        </a:p>
      </dgm:t>
    </dgm:pt>
    <dgm:pt modelId="{830484A0-A4BB-4113-A00B-0752CD25105F}" type="pres">
      <dgm:prSet presAssocID="{1A8725B2-C5F9-4260-90F0-A83DEC4067F4}" presName="arrowDiagram" presStyleCnt="0">
        <dgm:presLayoutVars>
          <dgm:chMax val="5"/>
          <dgm:dir/>
          <dgm:resizeHandles val="exact"/>
        </dgm:presLayoutVars>
      </dgm:prSet>
      <dgm:spPr/>
    </dgm:pt>
    <dgm:pt modelId="{AB5DD37B-FFB8-482E-95C9-0C61A562322C}" type="pres">
      <dgm:prSet presAssocID="{1A8725B2-C5F9-4260-90F0-A83DEC4067F4}" presName="arrow" presStyleLbl="bgShp" presStyleIdx="0" presStyleCnt="1"/>
      <dgm:spPr/>
    </dgm:pt>
    <dgm:pt modelId="{6E61B05E-88CC-492F-BB8F-FBFB75BFC236}" type="pres">
      <dgm:prSet presAssocID="{1A8725B2-C5F9-4260-90F0-A83DEC4067F4}" presName="arrowDiagram3" presStyleCnt="0"/>
      <dgm:spPr/>
    </dgm:pt>
    <dgm:pt modelId="{BC2DA2D2-D778-433A-8968-98236D7C9D21}" type="pres">
      <dgm:prSet presAssocID="{2DA1E0AB-6416-4064-BB38-74ED0C87EBBB}" presName="bullet3a" presStyleLbl="node1" presStyleIdx="0" presStyleCnt="3"/>
      <dgm:spPr/>
    </dgm:pt>
    <dgm:pt modelId="{7AF45F7E-368F-4BBD-B0C7-8EF8504B5AE3}" type="pres">
      <dgm:prSet presAssocID="{2DA1E0AB-6416-4064-BB38-74ED0C87EBBB}" presName="textBox3a" presStyleLbl="revTx" presStyleIdx="0" presStyleCnt="3" custScaleX="109968" custScaleY="105162" custLinFactNeighborX="5978" custLinFactNeighborY="0">
        <dgm:presLayoutVars>
          <dgm:bulletEnabled val="1"/>
        </dgm:presLayoutVars>
      </dgm:prSet>
      <dgm:spPr/>
    </dgm:pt>
    <dgm:pt modelId="{659083C3-E5E1-4464-8DDC-F620EDDAF2B0}" type="pres">
      <dgm:prSet presAssocID="{7273FDA9-EB57-47CA-B0E0-0A2B37F90E27}" presName="bullet3b" presStyleLbl="node1" presStyleIdx="1" presStyleCnt="3"/>
      <dgm:spPr/>
    </dgm:pt>
    <dgm:pt modelId="{19039527-2DB5-416D-AAB6-6CC7631A4CB1}" type="pres">
      <dgm:prSet presAssocID="{7273FDA9-EB57-47CA-B0E0-0A2B37F90E27}" presName="textBox3b" presStyleLbl="revTx" presStyleIdx="1" presStyleCnt="3" custScaleX="130172" custScaleY="110833" custLinFactNeighborX="17409" custLinFactNeighborY="585">
        <dgm:presLayoutVars>
          <dgm:bulletEnabled val="1"/>
        </dgm:presLayoutVars>
      </dgm:prSet>
      <dgm:spPr/>
    </dgm:pt>
    <dgm:pt modelId="{7E798822-47BA-48E6-AF48-934F76F3BA31}" type="pres">
      <dgm:prSet presAssocID="{98E9D726-26AF-41DF-A71D-B63FA2D1C3C2}" presName="bullet3c" presStyleLbl="node1" presStyleIdx="2" presStyleCnt="3"/>
      <dgm:spPr/>
    </dgm:pt>
    <dgm:pt modelId="{6FDA3FED-67F4-4A58-86A9-377B77CB6FCA}" type="pres">
      <dgm:prSet presAssocID="{98E9D726-26AF-41DF-A71D-B63FA2D1C3C2}" presName="textBox3c" presStyleLbl="revTx" presStyleIdx="2" presStyleCnt="3" custScaleX="109133" custLinFactNeighborX="10777">
        <dgm:presLayoutVars>
          <dgm:bulletEnabled val="1"/>
        </dgm:presLayoutVars>
      </dgm:prSet>
      <dgm:spPr/>
    </dgm:pt>
  </dgm:ptLst>
  <dgm:cxnLst>
    <dgm:cxn modelId="{E50AB70E-6F47-4C84-88BC-D82094153AD7}" type="presOf" srcId="{7273FDA9-EB57-47CA-B0E0-0A2B37F90E27}" destId="{19039527-2DB5-416D-AAB6-6CC7631A4CB1}" srcOrd="0" destOrd="0" presId="urn:microsoft.com/office/officeart/2005/8/layout/arrow2"/>
    <dgm:cxn modelId="{5D48CA27-6C7E-4FF0-89F1-E5C0DEA5CD0E}" type="presOf" srcId="{1A8725B2-C5F9-4260-90F0-A83DEC4067F4}" destId="{830484A0-A4BB-4113-A00B-0752CD25105F}" srcOrd="0" destOrd="0" presId="urn:microsoft.com/office/officeart/2005/8/layout/arrow2"/>
    <dgm:cxn modelId="{9B6FEE36-97CF-4D4B-8455-F2C58A7F1A12}" type="presOf" srcId="{2DA1E0AB-6416-4064-BB38-74ED0C87EBBB}" destId="{7AF45F7E-368F-4BBD-B0C7-8EF8504B5AE3}" srcOrd="0" destOrd="0" presId="urn:microsoft.com/office/officeart/2005/8/layout/arrow2"/>
    <dgm:cxn modelId="{BE05BF5C-4F11-4E9B-BE3C-56F8EF2D14DF}" type="presOf" srcId="{98E9D726-26AF-41DF-A71D-B63FA2D1C3C2}" destId="{6FDA3FED-67F4-4A58-86A9-377B77CB6FCA}" srcOrd="0" destOrd="0" presId="urn:microsoft.com/office/officeart/2005/8/layout/arrow2"/>
    <dgm:cxn modelId="{57A5FF94-4E17-4107-8B27-13027774ADB6}" srcId="{1A8725B2-C5F9-4260-90F0-A83DEC4067F4}" destId="{2DA1E0AB-6416-4064-BB38-74ED0C87EBBB}" srcOrd="0" destOrd="0" parTransId="{76F15335-505A-4539-9B36-24A4BF456D27}" sibTransId="{C9FB4888-29A3-4AE5-BA33-D9C4F1B70246}"/>
    <dgm:cxn modelId="{BEAE8CCC-5DBF-4DC6-B621-BA10F3A447E6}" srcId="{1A8725B2-C5F9-4260-90F0-A83DEC4067F4}" destId="{98E9D726-26AF-41DF-A71D-B63FA2D1C3C2}" srcOrd="2" destOrd="0" parTransId="{FBED7B23-C37A-4BF6-9551-562D98D4E0B0}" sibTransId="{8412A9B3-62B0-435B-B671-15C891D7650C}"/>
    <dgm:cxn modelId="{00F650F5-077D-4556-BED6-911D1AD69084}" srcId="{1A8725B2-C5F9-4260-90F0-A83DEC4067F4}" destId="{7273FDA9-EB57-47CA-B0E0-0A2B37F90E27}" srcOrd="1" destOrd="0" parTransId="{792A60C7-84CC-420D-BC14-82A73F30A3D6}" sibTransId="{DDC6E587-248D-4804-93BF-374075DB9C66}"/>
    <dgm:cxn modelId="{B0E41D02-FBA6-4B1A-BB08-F9DA887ED8F8}" type="presParOf" srcId="{830484A0-A4BB-4113-A00B-0752CD25105F}" destId="{AB5DD37B-FFB8-482E-95C9-0C61A562322C}" srcOrd="0" destOrd="0" presId="urn:microsoft.com/office/officeart/2005/8/layout/arrow2"/>
    <dgm:cxn modelId="{CD703C0F-5EAF-4476-9E93-DCD1CF4E55FF}" type="presParOf" srcId="{830484A0-A4BB-4113-A00B-0752CD25105F}" destId="{6E61B05E-88CC-492F-BB8F-FBFB75BFC236}" srcOrd="1" destOrd="0" presId="urn:microsoft.com/office/officeart/2005/8/layout/arrow2"/>
    <dgm:cxn modelId="{F33BC2F5-E2D8-4AA2-AA90-1B0ACA10E368}" type="presParOf" srcId="{6E61B05E-88CC-492F-BB8F-FBFB75BFC236}" destId="{BC2DA2D2-D778-433A-8968-98236D7C9D21}" srcOrd="0" destOrd="0" presId="urn:microsoft.com/office/officeart/2005/8/layout/arrow2"/>
    <dgm:cxn modelId="{E76764C4-C07F-471F-A234-531C7E7F6977}" type="presParOf" srcId="{6E61B05E-88CC-492F-BB8F-FBFB75BFC236}" destId="{7AF45F7E-368F-4BBD-B0C7-8EF8504B5AE3}" srcOrd="1" destOrd="0" presId="urn:microsoft.com/office/officeart/2005/8/layout/arrow2"/>
    <dgm:cxn modelId="{D0588E2D-3494-4840-9FF3-586F6572B1A0}" type="presParOf" srcId="{6E61B05E-88CC-492F-BB8F-FBFB75BFC236}" destId="{659083C3-E5E1-4464-8DDC-F620EDDAF2B0}" srcOrd="2" destOrd="0" presId="urn:microsoft.com/office/officeart/2005/8/layout/arrow2"/>
    <dgm:cxn modelId="{F5E60896-2122-43C6-8C5E-3BE8C9BE2406}" type="presParOf" srcId="{6E61B05E-88CC-492F-BB8F-FBFB75BFC236}" destId="{19039527-2DB5-416D-AAB6-6CC7631A4CB1}" srcOrd="3" destOrd="0" presId="urn:microsoft.com/office/officeart/2005/8/layout/arrow2"/>
    <dgm:cxn modelId="{17BEF179-B879-43AF-84AE-0D438A1A81F4}" type="presParOf" srcId="{6E61B05E-88CC-492F-BB8F-FBFB75BFC236}" destId="{7E798822-47BA-48E6-AF48-934F76F3BA31}" srcOrd="4" destOrd="0" presId="urn:microsoft.com/office/officeart/2005/8/layout/arrow2"/>
    <dgm:cxn modelId="{314292AB-239F-4E7C-8BA8-10FF02EBB294}" type="presParOf" srcId="{6E61B05E-88CC-492F-BB8F-FBFB75BFC236}" destId="{6FDA3FED-67F4-4A58-86A9-377B77CB6FCA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DD37B-FFB8-482E-95C9-0C61A562322C}">
      <dsp:nvSpPr>
        <dsp:cNvPr id="0" name=""/>
        <dsp:cNvSpPr/>
      </dsp:nvSpPr>
      <dsp:spPr>
        <a:xfrm>
          <a:off x="632615" y="-52518"/>
          <a:ext cx="6964369" cy="435273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2DA2D2-D778-433A-8968-98236D7C9D21}">
      <dsp:nvSpPr>
        <dsp:cNvPr id="0" name=""/>
        <dsp:cNvSpPr/>
      </dsp:nvSpPr>
      <dsp:spPr>
        <a:xfrm>
          <a:off x="1517090" y="2951735"/>
          <a:ext cx="181073" cy="1810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45F7E-368F-4BBD-B0C7-8EF8504B5AE3}">
      <dsp:nvSpPr>
        <dsp:cNvPr id="0" name=""/>
        <dsp:cNvSpPr/>
      </dsp:nvSpPr>
      <dsp:spPr>
        <a:xfrm>
          <a:off x="1623732" y="2937234"/>
          <a:ext cx="1923075" cy="1468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supporting policy implementation aligned with business objectives</a:t>
          </a:r>
        </a:p>
      </dsp:txBody>
      <dsp:txXfrm>
        <a:off x="1623732" y="2937234"/>
        <a:ext cx="1923075" cy="1468015"/>
      </dsp:txXfrm>
    </dsp:sp>
    <dsp:sp modelId="{659083C3-E5E1-4464-8DDC-F620EDDAF2B0}">
      <dsp:nvSpPr>
        <dsp:cNvPr id="0" name=""/>
        <dsp:cNvSpPr/>
      </dsp:nvSpPr>
      <dsp:spPr>
        <a:xfrm>
          <a:off x="3115412" y="1768663"/>
          <a:ext cx="327325" cy="3273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39527-2DB5-416D-AAB6-6CC7631A4CB1}">
      <dsp:nvSpPr>
        <dsp:cNvPr id="0" name=""/>
        <dsp:cNvSpPr/>
      </dsp:nvSpPr>
      <dsp:spPr>
        <a:xfrm>
          <a:off x="3297411" y="1912258"/>
          <a:ext cx="2105891" cy="2408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443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Business objectives identified align with compliance laws or regulations required to conduct business</a:t>
          </a:r>
        </a:p>
      </dsp:txBody>
      <dsp:txXfrm>
        <a:off x="3297411" y="1912258"/>
        <a:ext cx="2105891" cy="2408021"/>
      </dsp:txXfrm>
    </dsp:sp>
    <dsp:sp modelId="{7E798822-47BA-48E6-AF48-934F76F3BA31}">
      <dsp:nvSpPr>
        <dsp:cNvPr id="0" name=""/>
        <dsp:cNvSpPr/>
      </dsp:nvSpPr>
      <dsp:spPr>
        <a:xfrm>
          <a:off x="5037578" y="1048721"/>
          <a:ext cx="452684" cy="4526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A3FED-67F4-4A58-86A9-377B77CB6FCA}">
      <dsp:nvSpPr>
        <dsp:cNvPr id="0" name=""/>
        <dsp:cNvSpPr/>
      </dsp:nvSpPr>
      <dsp:spPr>
        <a:xfrm>
          <a:off x="5285892" y="1230080"/>
          <a:ext cx="1987770" cy="3115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86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Security Policy implementation can expect executive management support</a:t>
          </a:r>
        </a:p>
      </dsp:txBody>
      <dsp:txXfrm>
        <a:off x="5285892" y="1230080"/>
        <a:ext cx="1987770" cy="31151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DD37B-FFB8-482E-95C9-0C61A562322C}">
      <dsp:nvSpPr>
        <dsp:cNvPr id="0" name=""/>
        <dsp:cNvSpPr/>
      </dsp:nvSpPr>
      <dsp:spPr>
        <a:xfrm>
          <a:off x="632615" y="-64128"/>
          <a:ext cx="6964369" cy="435273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2DA2D2-D778-433A-8968-98236D7C9D21}">
      <dsp:nvSpPr>
        <dsp:cNvPr id="0" name=""/>
        <dsp:cNvSpPr/>
      </dsp:nvSpPr>
      <dsp:spPr>
        <a:xfrm>
          <a:off x="1517090" y="2940126"/>
          <a:ext cx="181073" cy="1810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45F7E-368F-4BBD-B0C7-8EF8504B5AE3}">
      <dsp:nvSpPr>
        <dsp:cNvPr id="0" name=""/>
        <dsp:cNvSpPr/>
      </dsp:nvSpPr>
      <dsp:spPr>
        <a:xfrm>
          <a:off x="1623756" y="2998196"/>
          <a:ext cx="1784448" cy="132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supporting policy implementation not aligned with business objectives</a:t>
          </a:r>
        </a:p>
      </dsp:txBody>
      <dsp:txXfrm>
        <a:off x="1623756" y="2998196"/>
        <a:ext cx="1784448" cy="1322874"/>
      </dsp:txXfrm>
    </dsp:sp>
    <dsp:sp modelId="{659083C3-E5E1-4464-8DDC-F620EDDAF2B0}">
      <dsp:nvSpPr>
        <dsp:cNvPr id="0" name=""/>
        <dsp:cNvSpPr/>
      </dsp:nvSpPr>
      <dsp:spPr>
        <a:xfrm>
          <a:off x="3115412" y="1757054"/>
          <a:ext cx="327325" cy="3273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39527-2DB5-416D-AAB6-6CC7631A4CB1}">
      <dsp:nvSpPr>
        <dsp:cNvPr id="0" name=""/>
        <dsp:cNvSpPr/>
      </dsp:nvSpPr>
      <dsp:spPr>
        <a:xfrm>
          <a:off x="3317903" y="1792460"/>
          <a:ext cx="2175758" cy="2624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443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Business objectives identified do not align with compliance laws or regulations required to conduct business, or are unclear and have insufficient support from leadership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3317903" y="1792460"/>
        <a:ext cx="2175758" cy="2624398"/>
      </dsp:txXfrm>
    </dsp:sp>
    <dsp:sp modelId="{7E798822-47BA-48E6-AF48-934F76F3BA31}">
      <dsp:nvSpPr>
        <dsp:cNvPr id="0" name=""/>
        <dsp:cNvSpPr/>
      </dsp:nvSpPr>
      <dsp:spPr>
        <a:xfrm>
          <a:off x="5037578" y="1037112"/>
          <a:ext cx="452684" cy="4526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A3FED-67F4-4A58-86A9-377B77CB6FCA}">
      <dsp:nvSpPr>
        <dsp:cNvPr id="0" name=""/>
        <dsp:cNvSpPr/>
      </dsp:nvSpPr>
      <dsp:spPr>
        <a:xfrm>
          <a:off x="5367726" y="1263454"/>
          <a:ext cx="1824102" cy="302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86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Security Policy implementation can expect to fail without executive management support</a:t>
          </a:r>
        </a:p>
      </dsp:txBody>
      <dsp:txXfrm>
        <a:off x="5367726" y="1263454"/>
        <a:ext cx="1824102" cy="3025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3B4894CD-3C6A-4891-B614-18E6431D6674}" type="datetime1">
              <a:rPr lang="en-US"/>
              <a:pPr>
                <a:defRPr/>
              </a:pPr>
              <a:t>9/22/2023</a:t>
            </a:fld>
            <a:endParaRPr lang="en-US" dirty="0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(c) ITT Educational Services, Inc.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72EF060-28F5-400C-928E-A8480EA941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2460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D0391A12-8B20-4D2D-A8F6-DD6792922A81}" type="datetime1">
              <a:rPr lang="en-US"/>
              <a:pPr>
                <a:defRPr/>
              </a:pPr>
              <a:t>9/22/2023</a:t>
            </a:fld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(c) ITT Educational Services, Inc.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4B3B58AE-6A00-4754-90F7-67793E1CD9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05909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2A4677B-38BB-49C2-87E7-BE4C9A8A87E3}" type="slidenum">
              <a:rPr lang="en-US" smtClean="0">
                <a:latin typeface="Times New Roman" pitchFamily="18" charset="0"/>
              </a:rPr>
              <a:pPr eaLnBrk="1" hangingPunct="1"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69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E02B72D-4AE2-4B9F-82D3-69BE4B08E988}" type="slidenum">
              <a:rPr lang="en-US" smtClean="0"/>
              <a:pPr eaLnBrk="1" hangingPunct="1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28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bg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19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133600"/>
            <a:ext cx="7086600" cy="584775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3463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381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117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bg2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304800"/>
            <a:ext cx="82994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295400"/>
            <a:ext cx="82994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80966" name="Text Box 6"/>
          <p:cNvSpPr txBox="1">
            <a:spLocks noChangeArrowheads="1"/>
          </p:cNvSpPr>
          <p:nvPr/>
        </p:nvSpPr>
        <p:spPr bwMode="auto">
          <a:xfrm>
            <a:off x="8382000" y="6496050"/>
            <a:ext cx="5810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800" dirty="0">
                <a:solidFill>
                  <a:schemeClr val="bg1"/>
                </a:solidFill>
              </a:rPr>
              <a:t>Page </a:t>
            </a:r>
            <a:fld id="{B1ACB423-12F8-4A9E-9042-D8EBEB08A360}" type="slidenum">
              <a:rPr lang="en-US" sz="800">
                <a:solidFill>
                  <a:schemeClr val="bg1"/>
                </a:solidFill>
              </a:rPr>
              <a:pPr eaLnBrk="0" hangingPunct="0"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20" r:id="rId2"/>
    <p:sldLayoutId id="2147484021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687388" indent="-231775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SzPct val="85000"/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400">
          <a:solidFill>
            <a:schemeClr val="tx1"/>
          </a:solidFill>
          <a:latin typeface="+mn-lt"/>
        </a:defRPr>
      </a:lvl3pPr>
      <a:lvl4pPr marL="1544638" indent="-173038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SzPct val="90000"/>
        <a:buChar char="›"/>
        <a:defRPr sz="1200">
          <a:solidFill>
            <a:schemeClr val="tx1"/>
          </a:solidFill>
          <a:latin typeface="+mn-lt"/>
        </a:defRPr>
      </a:lvl4pPr>
      <a:lvl5pPr marL="20526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000">
          <a:solidFill>
            <a:schemeClr val="tx1"/>
          </a:solidFill>
          <a:latin typeface="+mn-lt"/>
        </a:defRPr>
      </a:lvl5pPr>
      <a:lvl6pPr marL="25098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6pPr>
      <a:lvl7pPr marL="29670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7pPr>
      <a:lvl8pPr marL="34242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8pPr>
      <a:lvl9pPr marL="38814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ns.org/security-resources/policie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01638" y="2133600"/>
            <a:ext cx="8348662" cy="3465564"/>
          </a:xfrm>
        </p:spPr>
        <p:txBody>
          <a:bodyPr/>
          <a:lstStyle/>
          <a:p>
            <a:pPr algn="ctr"/>
            <a:r>
              <a:rPr lang="en-US" sz="3600" b="1" dirty="0"/>
              <a:t>IAP301 Policy Development in Information Assurance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Lecture 2. Risk Mitigation and Business Support Processes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25261B-5379-51DF-7307-6558257A52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68370"/>
            <a:ext cx="1429406" cy="5896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Learning Objective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539750" y="1524000"/>
            <a:ext cx="8299450" cy="4419600"/>
          </a:xfrm>
        </p:spPr>
        <p:txBody>
          <a:bodyPr/>
          <a:lstStyle/>
          <a:p>
            <a:r>
              <a:rPr lang="en-US" sz="3200"/>
              <a:t>Analyze how security policies help mitigate risks and support business processes in various domains in the information technology (IT) infrastructure.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Key Concepts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Business challenges in each IT domain</a:t>
            </a:r>
          </a:p>
          <a:p>
            <a:r>
              <a:rPr lang="en-US" sz="3200"/>
              <a:t>Risk mitigation in seven IT domains</a:t>
            </a:r>
          </a:p>
          <a:p>
            <a:r>
              <a:rPr lang="en-US" sz="3200"/>
              <a:t>Organizational hurdles to policy implementation</a:t>
            </a:r>
          </a:p>
          <a:p>
            <a:r>
              <a:rPr lang="en-US" sz="3200"/>
              <a:t>Policy implementation issues related to humans in the workplace</a:t>
            </a:r>
          </a:p>
          <a:p>
            <a:r>
              <a:rPr lang="en-US" sz="3200"/>
              <a:t>Executive management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CONCEPTS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539750" y="484914"/>
            <a:ext cx="8299450" cy="1302321"/>
          </a:xfrm>
        </p:spPr>
        <p:txBody>
          <a:bodyPr/>
          <a:lstStyle/>
          <a:p>
            <a:r>
              <a:rPr lang="en-US" sz="3600" dirty="0"/>
              <a:t>Risk Mitigation and the Role of Security Policies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539750" y="2244436"/>
            <a:ext cx="8299450" cy="3699163"/>
          </a:xfrm>
        </p:spPr>
        <p:txBody>
          <a:bodyPr/>
          <a:lstStyle/>
          <a:p>
            <a:r>
              <a:rPr lang="en-US" sz="3200" dirty="0"/>
              <a:t>Each of the seven IT domains have different types of risks associated with them, and policy creation seeks to reduce or mitigate these risks. </a:t>
            </a:r>
          </a:p>
          <a:p>
            <a:r>
              <a:rPr lang="en-US" sz="3200" dirty="0"/>
              <a:t>Each policy created for the seven IT domains must address as many risks in that domain as possible.</a:t>
            </a:r>
          </a:p>
        </p:txBody>
      </p:sp>
    </p:spTree>
    <p:extLst>
      <p:ext uri="{BB962C8B-B14F-4D97-AF65-F5344CB8AC3E}">
        <p14:creationId xmlns:p14="http://schemas.microsoft.com/office/powerpoint/2010/main" val="327897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568036"/>
            <a:ext cx="8299450" cy="990600"/>
          </a:xfrm>
        </p:spPr>
        <p:txBody>
          <a:bodyPr/>
          <a:lstStyle/>
          <a:p>
            <a:r>
              <a:rPr lang="en-US" sz="4000" dirty="0"/>
              <a:t>A Sample of Security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774" y="2452255"/>
            <a:ext cx="8494426" cy="3491344"/>
          </a:xfrm>
        </p:spPr>
        <p:txBody>
          <a:bodyPr/>
          <a:lstStyle/>
          <a:p>
            <a:r>
              <a:rPr lang="en-US" sz="2800" dirty="0"/>
              <a:t>Security policies template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>
                <a:hlinkClick r:id="rId2"/>
              </a:rPr>
              <a:t>https://www.sans.org/security-resources/policies/</a:t>
            </a:r>
            <a:r>
              <a:rPr lang="en-US" sz="2800" dirty="0"/>
              <a:t>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0263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 dirty="0"/>
              <a:t>Seven Domains of a Typical IT Infrastructure</a:t>
            </a:r>
            <a:endParaRPr lang="en-US" sz="4000" dirty="0">
              <a:solidFill>
                <a:schemeClr val="tx2"/>
              </a:solidFill>
            </a:endParaRP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1662113"/>
            <a:ext cx="18669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1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00" y="4475163"/>
            <a:ext cx="4146550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2616200"/>
            <a:ext cx="10826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638" y="1555750"/>
            <a:ext cx="2335212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2622550"/>
            <a:ext cx="1328737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7176" name="Group 12"/>
          <p:cNvGrpSpPr>
            <a:grpSpLocks/>
          </p:cNvGrpSpPr>
          <p:nvPr/>
        </p:nvGrpSpPr>
        <p:grpSpPr bwMode="auto">
          <a:xfrm>
            <a:off x="2814638" y="1717675"/>
            <a:ext cx="1528762" cy="2489200"/>
            <a:chOff x="2695575" y="1036638"/>
            <a:chExt cx="1528763" cy="2489200"/>
          </a:xfrm>
        </p:grpSpPr>
        <p:pic>
          <p:nvPicPr>
            <p:cNvPr id="7178" name="Picture 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575" y="1036638"/>
              <a:ext cx="1528763" cy="248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7179" name="Rectangle 11"/>
            <p:cNvSpPr>
              <a:spLocks noChangeArrowheads="1"/>
            </p:cNvSpPr>
            <p:nvPr/>
          </p:nvSpPr>
          <p:spPr bwMode="auto">
            <a:xfrm>
              <a:off x="3200400" y="3352800"/>
              <a:ext cx="533400" cy="7620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19400" y="3276601"/>
              <a:ext cx="1219201" cy="2286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9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</a:rPr>
                <a:t>Switch</a:t>
              </a:r>
            </a:p>
          </p:txBody>
        </p:sp>
      </p:grpSp>
      <p:pic>
        <p:nvPicPr>
          <p:cNvPr id="717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31000" y="3021013"/>
            <a:ext cx="2154238" cy="3192462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Policy Failure Issues</a:t>
            </a:r>
            <a:r>
              <a:rPr lang="en-US" sz="4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648687"/>
            <a:ext cx="8575962" cy="4544291"/>
          </a:xfrm>
        </p:spPr>
        <p:txBody>
          <a:bodyPr/>
          <a:lstStyle/>
          <a:p>
            <a:r>
              <a:rPr lang="en-US" sz="2600" dirty="0"/>
              <a:t>The most common reasons that policy implementation efforts fail to get senior management support are:</a:t>
            </a:r>
          </a:p>
          <a:p>
            <a:pPr lvl="1"/>
            <a:r>
              <a:rPr lang="en-US" sz="2400" dirty="0"/>
              <a:t>Unclear purpose</a:t>
            </a:r>
          </a:p>
          <a:p>
            <a:pPr lvl="1"/>
            <a:r>
              <a:rPr lang="en-US" sz="2400" dirty="0"/>
              <a:t>Doubt</a:t>
            </a:r>
          </a:p>
          <a:p>
            <a:pPr lvl="1"/>
            <a:r>
              <a:rPr lang="en-US" sz="2400" dirty="0"/>
              <a:t>Insufficient support</a:t>
            </a:r>
          </a:p>
          <a:p>
            <a:pPr lvl="1"/>
            <a:r>
              <a:rPr lang="en-US" sz="2400" dirty="0"/>
              <a:t>Organizational baggage</a:t>
            </a:r>
          </a:p>
          <a:p>
            <a:pPr lvl="1"/>
            <a:r>
              <a:rPr lang="en-US" sz="2400" dirty="0"/>
              <a:t>Lack of incentives</a:t>
            </a:r>
          </a:p>
          <a:p>
            <a:pPr lvl="1"/>
            <a:r>
              <a:rPr lang="en-US" sz="2400" dirty="0"/>
              <a:t>Lack of candor</a:t>
            </a:r>
          </a:p>
          <a:p>
            <a:pPr lvl="1"/>
            <a:r>
              <a:rPr lang="en-US" sz="2400" dirty="0"/>
              <a:t>Low tolerance for bad news</a:t>
            </a:r>
          </a:p>
          <a:p>
            <a:pPr lvl="1"/>
            <a:r>
              <a:rPr lang="en-US" sz="2400" dirty="0"/>
              <a:t>Unmanageable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Unclear Purpose</a:t>
            </a:r>
            <a:r>
              <a:rPr lang="en-US" sz="4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2133600"/>
            <a:ext cx="8575962" cy="4059378"/>
          </a:xfrm>
        </p:spPr>
        <p:txBody>
          <a:bodyPr/>
          <a:lstStyle/>
          <a:p>
            <a:r>
              <a:rPr lang="en-US" sz="2600" dirty="0"/>
              <a:t>Unclear purpose happens when a policy’s business value hasn’t been clearly delineated.</a:t>
            </a:r>
          </a:p>
          <a:p>
            <a:r>
              <a:rPr lang="en-US" sz="2600" dirty="0"/>
              <a:t>It’s important to demonstrate how policies will reduce risk.</a:t>
            </a:r>
          </a:p>
          <a:p>
            <a:r>
              <a:rPr lang="en-US" sz="2600" dirty="0"/>
              <a:t>It’s equally important to demonstrate how the policies were derived in a way that kept the business cost and impact low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19817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Doubt</a:t>
            </a:r>
            <a:r>
              <a:rPr lang="en-US" sz="4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745673"/>
            <a:ext cx="8575962" cy="4447305"/>
          </a:xfrm>
        </p:spPr>
        <p:txBody>
          <a:bodyPr/>
          <a:lstStyle/>
          <a:p>
            <a:r>
              <a:rPr lang="en-US" sz="2600" dirty="0"/>
              <a:t>Doubt occurs when there is disagreement about the need for change.</a:t>
            </a:r>
          </a:p>
          <a:p>
            <a:r>
              <a:rPr lang="en-US" sz="2600" dirty="0"/>
              <a:t>Change is perceived as a distraction from the core business.</a:t>
            </a:r>
          </a:p>
          <a:p>
            <a:r>
              <a:rPr lang="en-US" sz="2600" dirty="0"/>
              <a:t>You need to convince the executive that the benefits outweigh disruption.</a:t>
            </a:r>
          </a:p>
          <a:p>
            <a:r>
              <a:rPr lang="en-US" sz="2600" dirty="0"/>
              <a:t>Doubt may also be a factor if an organization has had several false starts.</a:t>
            </a:r>
          </a:p>
          <a:p>
            <a:r>
              <a:rPr lang="en-US" sz="2600" dirty="0"/>
              <a:t>Even when the message and benefits are clear, it is also a matter of credibility with the executive.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272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Insufficient Support</a:t>
            </a:r>
            <a:r>
              <a:rPr lang="en-US" sz="4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939637"/>
            <a:ext cx="8575962" cy="4253342"/>
          </a:xfrm>
        </p:spPr>
        <p:txBody>
          <a:bodyPr/>
          <a:lstStyle/>
          <a:p>
            <a:r>
              <a:rPr lang="en-US" sz="2600" dirty="0"/>
              <a:t>Most leaders doesn’t like surprises and want to know they are not alone in their support for an idea.</a:t>
            </a:r>
          </a:p>
          <a:p>
            <a:r>
              <a:rPr lang="en-US" sz="2600" dirty="0"/>
              <a:t>To avoid surprises, be sure to articulate any pushback you are getting from other leaders.</a:t>
            </a:r>
          </a:p>
          <a:p>
            <a:r>
              <a:rPr lang="en-US" sz="2600" dirty="0"/>
              <a:t>This will allow the executive to be an advocate and sway his or her peers.</a:t>
            </a:r>
          </a:p>
          <a:p>
            <a:r>
              <a:rPr lang="en-US" sz="2600" dirty="0"/>
              <a:t>When problems are encountered, be sure to anticipate where your support will emerge or evaporate.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294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Organizational Baggage</a:t>
            </a:r>
            <a:r>
              <a:rPr lang="en-US" sz="4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773382"/>
            <a:ext cx="8575962" cy="4419597"/>
          </a:xfrm>
        </p:spPr>
        <p:txBody>
          <a:bodyPr/>
          <a:lstStyle/>
          <a:p>
            <a:r>
              <a:rPr lang="en-US" sz="2600" dirty="0"/>
              <a:t>Organizational baggage refers to how the organization executes based on past unsuccessful efforts.</a:t>
            </a:r>
          </a:p>
          <a:p>
            <a:r>
              <a:rPr lang="en-US" sz="2600" dirty="0"/>
              <a:t>Unlike doubt, which is a personal credibility issue, this category focuses on the organization’s ability to execute.</a:t>
            </a:r>
          </a:p>
          <a:p>
            <a:r>
              <a:rPr lang="en-US" sz="2600" dirty="0"/>
              <a:t>If an organization has problems implementing policies of any kind, security policies won’t likely be any different.</a:t>
            </a:r>
          </a:p>
          <a:p>
            <a:r>
              <a:rPr lang="en-US" sz="2600" dirty="0"/>
              <a:t>Organizations that reorganize frequently fall within this category.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0132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Lack of Incentives</a:t>
            </a:r>
            <a:r>
              <a:rPr lang="en-US" sz="4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981200"/>
            <a:ext cx="8575962" cy="4211779"/>
          </a:xfrm>
        </p:spPr>
        <p:txBody>
          <a:bodyPr/>
          <a:lstStyle/>
          <a:p>
            <a:r>
              <a:rPr lang="en-US" sz="2600" dirty="0"/>
              <a:t>Lack of organizational incentives refers to the inability to motivate behavior.</a:t>
            </a:r>
          </a:p>
          <a:p>
            <a:r>
              <a:rPr lang="en-US" sz="2600" dirty="0"/>
              <a:t>Value is only derived from policies when they are enforced.</a:t>
            </a:r>
          </a:p>
          <a:p>
            <a:r>
              <a:rPr lang="en-US" sz="2600" dirty="0"/>
              <a:t>An organization must have the will and process to reward adherence.</a:t>
            </a:r>
          </a:p>
          <a:p>
            <a:r>
              <a:rPr lang="en-US" sz="2600" dirty="0"/>
              <a:t>The organization must have a low or zero tolerance for security policy violations.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6603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Lack of Candor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995055"/>
            <a:ext cx="8575962" cy="4197924"/>
          </a:xfrm>
        </p:spPr>
        <p:txBody>
          <a:bodyPr/>
          <a:lstStyle/>
          <a:p>
            <a:r>
              <a:rPr lang="en-US" sz="2600" dirty="0"/>
              <a:t>Lack of candor refers to not having open, candid conversations.</a:t>
            </a:r>
          </a:p>
          <a:p>
            <a:r>
              <a:rPr lang="en-US" sz="2600" dirty="0"/>
              <a:t>In the case of policies, you need to be clear what can and cannot be achieved.</a:t>
            </a:r>
          </a:p>
          <a:p>
            <a:r>
              <a:rPr lang="en-US" sz="2600" dirty="0"/>
              <a:t>You need to listen and explain how the business’s input was considered and adopted or rejected.</a:t>
            </a:r>
          </a:p>
          <a:p>
            <a:r>
              <a:rPr lang="en-US" sz="2600" dirty="0"/>
              <a:t>Executives need a sense that they were part of a process and not just the recipients of the result.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213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Low Tolerance for Bad News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2438399"/>
            <a:ext cx="8575962" cy="3754579"/>
          </a:xfrm>
        </p:spPr>
        <p:txBody>
          <a:bodyPr/>
          <a:lstStyle/>
          <a:p>
            <a:r>
              <a:rPr lang="en-US" sz="2600" dirty="0"/>
              <a:t>Low tolerance for bad news refers to how executives react to missteps.</a:t>
            </a:r>
          </a:p>
          <a:p>
            <a:r>
              <a:rPr lang="en-US" sz="2600" dirty="0"/>
              <a:t>You can count on an error in judgment at some point in implementing security policies.</a:t>
            </a:r>
          </a:p>
          <a:p>
            <a:r>
              <a:rPr lang="en-US" sz="2600" dirty="0"/>
              <a:t>You need to prepare executives for the inevitable.</a:t>
            </a:r>
          </a:p>
          <a:p>
            <a:r>
              <a:rPr lang="en-US" sz="2600" dirty="0"/>
              <a:t>You also need to gauge how they will react.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8078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Unmanageable Complexity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2438399"/>
            <a:ext cx="8575962" cy="3754579"/>
          </a:xfrm>
        </p:spPr>
        <p:txBody>
          <a:bodyPr/>
          <a:lstStyle/>
          <a:p>
            <a:r>
              <a:rPr lang="en-US" sz="2600" dirty="0"/>
              <a:t>Unmanageable complexity refers to how complex and realistic the project is.</a:t>
            </a:r>
          </a:p>
          <a:p>
            <a:r>
              <a:rPr lang="en-US" sz="2600" dirty="0"/>
              <a:t>The ability of the organization to support the security polices will be an important topic of conversation.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085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/>
              <a:t>Relevance of Executive Management Support</a:t>
            </a:r>
            <a:endParaRPr lang="en-US" sz="400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457200" y="1600200"/>
          <a:ext cx="8229600" cy="4352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/>
              <a:t>Lack of Executive Management Support</a:t>
            </a:r>
            <a:endParaRPr lang="en-US" sz="400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457200" y="1600200"/>
          <a:ext cx="8229600" cy="4352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Organizational Issues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2272145"/>
            <a:ext cx="8575962" cy="3920833"/>
          </a:xfrm>
        </p:spPr>
        <p:txBody>
          <a:bodyPr/>
          <a:lstStyle/>
          <a:p>
            <a:r>
              <a:rPr lang="en-US" sz="2600" dirty="0"/>
              <a:t>Two important organizational issues that affect the implementation of security policies are:</a:t>
            </a:r>
          </a:p>
          <a:p>
            <a:pPr lvl="1"/>
            <a:r>
              <a:rPr lang="en-US" sz="2400" dirty="0"/>
              <a:t>Division of labor: who is </a:t>
            </a:r>
            <a:r>
              <a:rPr lang="en-US" sz="2600" dirty="0"/>
              <a:t>responsible for what?</a:t>
            </a:r>
          </a:p>
          <a:p>
            <a:pPr lvl="1"/>
            <a:r>
              <a:rPr lang="en-US" sz="2400" dirty="0"/>
              <a:t>Span of control: how much </a:t>
            </a:r>
            <a:r>
              <a:rPr lang="en-US" sz="2600" dirty="0"/>
              <a:t>responsibility does one individual have?</a:t>
            </a:r>
          </a:p>
          <a:p>
            <a:pPr lvl="2"/>
            <a:r>
              <a:rPr lang="en-US" sz="2200" dirty="0"/>
              <a:t>Hierarchical</a:t>
            </a:r>
          </a:p>
          <a:p>
            <a:pPr lvl="2"/>
            <a:r>
              <a:rPr lang="en-US" sz="2200" dirty="0"/>
              <a:t>Flat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7762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Flat Organizations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579419"/>
            <a:ext cx="8575962" cy="4613560"/>
          </a:xfrm>
        </p:spPr>
        <p:txBody>
          <a:bodyPr/>
          <a:lstStyle/>
          <a:p>
            <a:r>
              <a:rPr lang="en-US" sz="2600" dirty="0"/>
              <a:t>Management structure is cross-functional and more open to employee input.</a:t>
            </a:r>
          </a:p>
          <a:p>
            <a:r>
              <a:rPr lang="en-US" sz="2600" dirty="0"/>
              <a:t>Dialogue and communications between employees may occur across organizational functions.</a:t>
            </a:r>
          </a:p>
          <a:p>
            <a:r>
              <a:rPr lang="en-US" sz="2600" dirty="0"/>
              <a:t>Employees tend to be more open and communicative.</a:t>
            </a:r>
          </a:p>
          <a:p>
            <a:r>
              <a:rPr lang="en-US" sz="2600" dirty="0"/>
              <a:t>Employees tend to be more creative and involved in business decisions.</a:t>
            </a:r>
          </a:p>
          <a:p>
            <a:r>
              <a:rPr lang="en-US" sz="2600" dirty="0"/>
              <a:t>Employees are not as constrained within their role or function and can see and interact across the organization more freely.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1885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221660"/>
            <a:ext cx="8299450" cy="845127"/>
          </a:xfrm>
        </p:spPr>
        <p:txBody>
          <a:bodyPr/>
          <a:lstStyle/>
          <a:p>
            <a:r>
              <a:rPr lang="en-US" sz="4000" dirty="0"/>
              <a:t>Hierarchical Organizations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983659"/>
            <a:ext cx="8575962" cy="5361719"/>
          </a:xfrm>
        </p:spPr>
        <p:txBody>
          <a:bodyPr/>
          <a:lstStyle/>
          <a:p>
            <a:r>
              <a:rPr lang="en-US" sz="2600" dirty="0"/>
              <a:t>Departments are separated by function, creating multiple functional silos.</a:t>
            </a:r>
          </a:p>
          <a:p>
            <a:r>
              <a:rPr lang="en-US" sz="2600" dirty="0"/>
              <a:t>Business decision-making performed at the executive management level.</a:t>
            </a:r>
          </a:p>
          <a:p>
            <a:r>
              <a:rPr lang="en-US" sz="2600" dirty="0"/>
              <a:t>Dialogue and communications is more top-down.</a:t>
            </a:r>
          </a:p>
          <a:p>
            <a:r>
              <a:rPr lang="en-US" sz="2600" dirty="0"/>
              <a:t>Employees tend to be less communicative and more isolated within their business functions.</a:t>
            </a:r>
          </a:p>
          <a:p>
            <a:r>
              <a:rPr lang="en-US" sz="2600" dirty="0"/>
              <a:t>Employees find it difficult to offer additional creativity or input to business decisions.</a:t>
            </a:r>
          </a:p>
          <a:p>
            <a:r>
              <a:rPr lang="en-US" sz="2600" dirty="0"/>
              <a:t>Employees are constrained within their roles and cannot interact outside of their business functions without going through a chain of command.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3904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PROCESS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/>
              <a:t>Policy Implementation Steps</a:t>
            </a:r>
            <a:endParaRPr lang="en-US" sz="4000">
              <a:solidFill>
                <a:schemeClr val="tx2"/>
              </a:solidFill>
            </a:endParaRPr>
          </a:p>
        </p:txBody>
      </p:sp>
      <p:grpSp>
        <p:nvGrpSpPr>
          <p:cNvPr id="12291" name="Group 36"/>
          <p:cNvGrpSpPr>
            <a:grpSpLocks/>
          </p:cNvGrpSpPr>
          <p:nvPr/>
        </p:nvGrpSpPr>
        <p:grpSpPr bwMode="auto">
          <a:xfrm>
            <a:off x="76200" y="2676525"/>
            <a:ext cx="9034463" cy="3089275"/>
            <a:chOff x="76200" y="1744681"/>
            <a:chExt cx="9034473" cy="3219946"/>
          </a:xfrm>
        </p:grpSpPr>
        <p:pic>
          <p:nvPicPr>
            <p:cNvPr id="1230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2438400"/>
              <a:ext cx="3343275" cy="2028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738189" y="2611717"/>
              <a:ext cx="2895603" cy="67344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Step One: Create Urgency 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6200" y="3434078"/>
              <a:ext cx="3048003" cy="67344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Step Two: Form a Powerful Coalition 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943606" y="1744681"/>
              <a:ext cx="2971803" cy="67344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Step Four: Communicate the Vision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95275" y="4198525"/>
              <a:ext cx="3276604" cy="67344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Step Three: Create a Vision for Change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 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362707" y="2437979"/>
              <a:ext cx="2438403" cy="67344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Step Five: Remove Obstacles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376995" y="3068400"/>
              <a:ext cx="2667003" cy="67344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Step Six: Create Short-Term Wins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324607" y="3650836"/>
              <a:ext cx="2590803" cy="67344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Step Seven: Build on the Change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581656" y="4291186"/>
              <a:ext cx="3529017" cy="67344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Step Eight: Anchor the Changes in Corporate Culture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endParaRPr>
            </a:p>
          </p:txBody>
        </p:sp>
      </p:grpSp>
      <p:sp>
        <p:nvSpPr>
          <p:cNvPr id="12292" name="TextBox 16"/>
          <p:cNvSpPr txBox="1">
            <a:spLocks noChangeArrowheads="1"/>
          </p:cNvSpPr>
          <p:nvPr/>
        </p:nvSpPr>
        <p:spPr bwMode="auto">
          <a:xfrm>
            <a:off x="3633788" y="5888038"/>
            <a:ext cx="5357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i="1"/>
              <a:t>Adapted from “Kotter’s Eight-Step Change Model.”</a:t>
            </a:r>
          </a:p>
        </p:txBody>
      </p:sp>
      <p:grpSp>
        <p:nvGrpSpPr>
          <p:cNvPr id="12293" name="Group 41"/>
          <p:cNvGrpSpPr>
            <a:grpSpLocks/>
          </p:cNvGrpSpPr>
          <p:nvPr/>
        </p:nvGrpSpPr>
        <p:grpSpPr bwMode="auto">
          <a:xfrm>
            <a:off x="152400" y="1600200"/>
            <a:ext cx="8763000" cy="1477963"/>
            <a:chOff x="152400" y="2016192"/>
            <a:chExt cx="8763000" cy="1477215"/>
          </a:xfrm>
        </p:grpSpPr>
        <p:sp>
          <p:nvSpPr>
            <p:cNvPr id="12296" name="TextBox 6"/>
            <p:cNvSpPr txBox="1">
              <a:spLocks noChangeArrowheads="1"/>
            </p:cNvSpPr>
            <p:nvPr/>
          </p:nvSpPr>
          <p:spPr bwMode="auto">
            <a:xfrm>
              <a:off x="457200" y="2531105"/>
              <a:ext cx="2819400" cy="369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b="1"/>
                <a:t>Build Support for Policy</a:t>
              </a:r>
              <a:endParaRPr lang="en-US"/>
            </a:p>
          </p:txBody>
        </p:sp>
        <p:sp>
          <p:nvSpPr>
            <p:cNvPr id="12297" name="TextBox 15"/>
            <p:cNvSpPr txBox="1">
              <a:spLocks noChangeArrowheads="1"/>
            </p:cNvSpPr>
            <p:nvPr/>
          </p:nvSpPr>
          <p:spPr bwMode="auto">
            <a:xfrm>
              <a:off x="5257800" y="2529517"/>
              <a:ext cx="3276600" cy="369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b="1"/>
                <a:t>Implement Security Policy</a:t>
              </a:r>
              <a:endParaRPr lang="en-US"/>
            </a:p>
          </p:txBody>
        </p:sp>
        <p:cxnSp>
          <p:nvCxnSpPr>
            <p:cNvPr id="12298" name="Straight Arrow Connector 18"/>
            <p:cNvCxnSpPr>
              <a:cxnSpLocks noChangeShapeType="1"/>
            </p:cNvCxnSpPr>
            <p:nvPr/>
          </p:nvCxnSpPr>
          <p:spPr bwMode="auto">
            <a:xfrm>
              <a:off x="152400" y="2438400"/>
              <a:ext cx="3352800" cy="16506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99" name="Straight Arrow Connector 20"/>
            <p:cNvCxnSpPr>
              <a:cxnSpLocks noChangeShapeType="1"/>
            </p:cNvCxnSpPr>
            <p:nvPr/>
          </p:nvCxnSpPr>
          <p:spPr bwMode="auto">
            <a:xfrm flipV="1">
              <a:off x="5029200" y="2438400"/>
              <a:ext cx="3886200" cy="1491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0" name="TextBox 21"/>
            <p:cNvSpPr txBox="1">
              <a:spLocks noChangeArrowheads="1"/>
            </p:cNvSpPr>
            <p:nvPr/>
          </p:nvSpPr>
          <p:spPr bwMode="auto">
            <a:xfrm>
              <a:off x="3048000" y="2016192"/>
              <a:ext cx="2514600" cy="1477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i="1"/>
                <a:t>Transition </a:t>
              </a:r>
            </a:p>
            <a:p>
              <a:pPr algn="ctr" eaLnBrk="1" hangingPunct="1"/>
              <a:r>
                <a:rPr lang="en-US" i="1"/>
                <a:t>From</a:t>
              </a:r>
            </a:p>
            <a:p>
              <a:pPr algn="ctr" eaLnBrk="1" hangingPunct="1"/>
              <a:r>
                <a:rPr lang="en-US" i="1"/>
                <a:t> Informal to Formal </a:t>
              </a:r>
            </a:p>
            <a:p>
              <a:pPr algn="ctr" eaLnBrk="1" hangingPunct="1"/>
              <a:r>
                <a:rPr lang="en-US" i="1"/>
                <a:t>Implementation</a:t>
              </a:r>
            </a:p>
            <a:p>
              <a:pPr algn="ctr" eaLnBrk="1" hangingPunct="1"/>
              <a:r>
                <a:rPr lang="en-US" i="1"/>
                <a:t>Tasks</a:t>
              </a:r>
            </a:p>
          </p:txBody>
        </p:sp>
      </p:grpSp>
      <p:sp>
        <p:nvSpPr>
          <p:cNvPr id="12294" name="TextBox 42"/>
          <p:cNvSpPr txBox="1">
            <a:spLocks noChangeArrowheads="1"/>
          </p:cNvSpPr>
          <p:nvPr/>
        </p:nvSpPr>
        <p:spPr bwMode="auto">
          <a:xfrm>
            <a:off x="560388" y="1655763"/>
            <a:ext cx="2806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/>
              <a:t>Informal Discussions</a:t>
            </a:r>
          </a:p>
        </p:txBody>
      </p:sp>
      <p:sp>
        <p:nvSpPr>
          <p:cNvPr id="12295" name="TextBox 43"/>
          <p:cNvSpPr txBox="1">
            <a:spLocks noChangeArrowheads="1"/>
          </p:cNvSpPr>
          <p:nvPr/>
        </p:nvSpPr>
        <p:spPr bwMode="auto">
          <a:xfrm>
            <a:off x="5348288" y="1655763"/>
            <a:ext cx="335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/>
              <a:t>Formal Implementation Project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/>
              <a:t>Policy Implementation Issues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9750" y="1482435"/>
            <a:ext cx="8299450" cy="4235739"/>
          </a:xfrm>
        </p:spPr>
        <p:txBody>
          <a:bodyPr/>
          <a:lstStyle/>
          <a:p>
            <a:r>
              <a:rPr lang="en-US" sz="2800" dirty="0"/>
              <a:t>Each organization has many different types of personal traits, each affecting the organization in its attempt to implement a policy in the workplace.</a:t>
            </a:r>
          </a:p>
          <a:p>
            <a:r>
              <a:rPr lang="en-US" sz="2800" dirty="0"/>
              <a:t>The most common workplace personality types include: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398739" y="3882460"/>
            <a:ext cx="2272723" cy="183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3363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388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SzPct val="85000"/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400">
                <a:solidFill>
                  <a:schemeClr val="tx1"/>
                </a:solidFill>
                <a:latin typeface="+mn-lt"/>
              </a:defRPr>
            </a:lvl3pPr>
            <a:lvl4pPr marL="15446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SzPct val="90000"/>
              <a:buChar char="›"/>
              <a:defRPr sz="1200">
                <a:solidFill>
                  <a:schemeClr val="tx1"/>
                </a:solidFill>
                <a:latin typeface="+mn-lt"/>
              </a:defRPr>
            </a:lvl4pPr>
            <a:lvl5pPr marL="20526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000">
                <a:solidFill>
                  <a:schemeClr val="tx1"/>
                </a:solidFill>
                <a:latin typeface="+mn-lt"/>
              </a:defRPr>
            </a:lvl5pPr>
            <a:lvl6pPr marL="25098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29670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34242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38814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Commanders</a:t>
            </a:r>
          </a:p>
          <a:p>
            <a:r>
              <a:rPr lang="en-US" sz="2400" kern="0" dirty="0"/>
              <a:t>Attackers</a:t>
            </a:r>
          </a:p>
          <a:p>
            <a:r>
              <a:rPr lang="en-US" sz="2400" kern="0" dirty="0"/>
              <a:t>Performers</a:t>
            </a:r>
          </a:p>
          <a:p>
            <a:r>
              <a:rPr lang="en-US" sz="2400" kern="0" dirty="0" err="1"/>
              <a:t>Analyticals</a:t>
            </a:r>
            <a:endParaRPr lang="en-US" sz="2400" kern="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458116" y="3886217"/>
            <a:ext cx="1829375" cy="1918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3363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388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SzPct val="85000"/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400">
                <a:solidFill>
                  <a:schemeClr val="tx1"/>
                </a:solidFill>
                <a:latin typeface="+mn-lt"/>
              </a:defRPr>
            </a:lvl3pPr>
            <a:lvl4pPr marL="15446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SzPct val="90000"/>
              <a:buChar char="›"/>
              <a:defRPr sz="1200">
                <a:solidFill>
                  <a:schemeClr val="tx1"/>
                </a:solidFill>
                <a:latin typeface="+mn-lt"/>
              </a:defRPr>
            </a:lvl4pPr>
            <a:lvl5pPr marL="20526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000">
                <a:solidFill>
                  <a:schemeClr val="tx1"/>
                </a:solidFill>
                <a:latin typeface="+mn-lt"/>
              </a:defRPr>
            </a:lvl5pPr>
            <a:lvl6pPr marL="25098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29670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34242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3881438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6E2E"/>
              </a:buClr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Drifters</a:t>
            </a:r>
          </a:p>
          <a:p>
            <a:r>
              <a:rPr lang="en-US" sz="2400" kern="0" dirty="0"/>
              <a:t>Pleasers</a:t>
            </a:r>
          </a:p>
          <a:p>
            <a:r>
              <a:rPr lang="en-US" sz="2400" kern="0" dirty="0"/>
              <a:t>Avoiders</a:t>
            </a:r>
          </a:p>
          <a:p>
            <a:r>
              <a:rPr lang="en-US" sz="2400" kern="0" dirty="0"/>
              <a:t>Achievers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Commanders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2327563"/>
            <a:ext cx="8575962" cy="3865415"/>
          </a:xfrm>
        </p:spPr>
        <p:txBody>
          <a:bodyPr/>
          <a:lstStyle/>
          <a:p>
            <a:r>
              <a:rPr lang="en-US" sz="2600" dirty="0"/>
              <a:t>Commanders are demanding and not tactful.</a:t>
            </a:r>
          </a:p>
          <a:p>
            <a:r>
              <a:rPr lang="en-US" sz="2600" dirty="0"/>
              <a:t>They come across at best as impolite, at worst rude and abrupt.</a:t>
            </a:r>
          </a:p>
          <a:p>
            <a:r>
              <a:rPr lang="en-US" sz="2600" dirty="0"/>
              <a:t>They are forceful in an attempt to achieve stated goals.</a:t>
            </a:r>
          </a:p>
          <a:p>
            <a:r>
              <a:rPr lang="en-US" sz="2600" dirty="0"/>
              <a:t>They can break through barriers that have prevented past success.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2495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Drifters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2119745"/>
            <a:ext cx="8575962" cy="4073233"/>
          </a:xfrm>
        </p:spPr>
        <p:txBody>
          <a:bodyPr/>
          <a:lstStyle/>
          <a:p>
            <a:r>
              <a:rPr lang="en-US" sz="2600" dirty="0"/>
              <a:t>Drifters are uncomfortable with structure and deadlines.</a:t>
            </a:r>
          </a:p>
          <a:p>
            <a:r>
              <a:rPr lang="en-US" sz="2600" dirty="0"/>
              <a:t>They may have great soft skills but might not follow up and take a more laid-back attitude toward work assignments.</a:t>
            </a:r>
          </a:p>
          <a:p>
            <a:r>
              <a:rPr lang="en-US" sz="2600" dirty="0"/>
              <a:t>What they lack in discipline may be offset by their creativity and thinking out of the box.</a:t>
            </a:r>
          </a:p>
          <a:p>
            <a:r>
              <a:rPr lang="en-US" sz="2600" dirty="0"/>
              <a:t>Drifters are often at odds with Commanders.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8947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Attackers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2258291"/>
            <a:ext cx="8575962" cy="3934687"/>
          </a:xfrm>
        </p:spPr>
        <p:txBody>
          <a:bodyPr/>
          <a:lstStyle/>
          <a:p>
            <a:r>
              <a:rPr lang="en-US" sz="2600" dirty="0"/>
              <a:t>Attackers may seem angry or even hostile toward ideas and others on the team.</a:t>
            </a:r>
          </a:p>
          <a:p>
            <a:r>
              <a:rPr lang="en-US" sz="2600" dirty="0"/>
              <a:t>They are critical of others’ ideas and are egotistical.</a:t>
            </a:r>
          </a:p>
          <a:p>
            <a:r>
              <a:rPr lang="en-US" sz="2600" dirty="0"/>
              <a:t>Although their biting attacks other team members can be disruptive, they can also take on very unpopular tasks.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58313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Pleasers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2272145"/>
            <a:ext cx="8575962" cy="3920833"/>
          </a:xfrm>
        </p:spPr>
        <p:txBody>
          <a:bodyPr/>
          <a:lstStyle/>
          <a:p>
            <a:r>
              <a:rPr lang="en-US" sz="2600" dirty="0"/>
              <a:t>Pleasers are very kind and thoughtful to others.</a:t>
            </a:r>
          </a:p>
          <a:p>
            <a:r>
              <a:rPr lang="en-US" sz="2600" dirty="0"/>
              <a:t>They want everyone to “feel good” and will put their own self-interest aside for the good of the whole.</a:t>
            </a:r>
          </a:p>
          <a:p>
            <a:r>
              <a:rPr lang="en-US" sz="2600" dirty="0"/>
              <a:t>They may shy away from enforcing rules that offend others, but they promote the concept of collaboration and teamwork.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7329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Performers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884218"/>
            <a:ext cx="8575962" cy="4308760"/>
          </a:xfrm>
        </p:spPr>
        <p:txBody>
          <a:bodyPr/>
          <a:lstStyle/>
          <a:p>
            <a:r>
              <a:rPr lang="en-US" sz="2600" dirty="0"/>
              <a:t>Performers like to be on center stage.</a:t>
            </a:r>
          </a:p>
          <a:p>
            <a:r>
              <a:rPr lang="en-US" sz="2600" dirty="0"/>
              <a:t>They like to entertain and be the center of attention.</a:t>
            </a:r>
          </a:p>
          <a:p>
            <a:r>
              <a:rPr lang="en-US" sz="2600" dirty="0"/>
              <a:t>They develop over time a wit and charm to capture people’s attention.</a:t>
            </a:r>
          </a:p>
          <a:p>
            <a:r>
              <a:rPr lang="en-US" sz="2600" dirty="0"/>
              <a:t>They may not be the highest producer and may be in the habit of self-promotion.</a:t>
            </a:r>
          </a:p>
          <a:p>
            <a:r>
              <a:rPr lang="en-US" sz="2600" dirty="0"/>
              <a:t>They are often excellent public speakers and can establish new relationships important to the business.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1035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Avoiders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884218"/>
            <a:ext cx="8575962" cy="4308760"/>
          </a:xfrm>
        </p:spPr>
        <p:txBody>
          <a:bodyPr/>
          <a:lstStyle/>
          <a:p>
            <a:r>
              <a:rPr lang="en-US" sz="2600" dirty="0"/>
              <a:t>Avoiders like to fly under the radar and be in the background.</a:t>
            </a:r>
          </a:p>
          <a:p>
            <a:r>
              <a:rPr lang="en-US" sz="2600" dirty="0"/>
              <a:t>They tend not to take chances or do anything that brings attention on them.</a:t>
            </a:r>
          </a:p>
          <a:p>
            <a:r>
              <a:rPr lang="en-US" sz="2600" dirty="0"/>
              <a:t>They will do precisely what’s asked of them but not much more.</a:t>
            </a:r>
          </a:p>
          <a:p>
            <a:r>
              <a:rPr lang="en-US" sz="2600" dirty="0"/>
              <a:t>However, they are very dependable and their work quality is consistent.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33169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221660"/>
            <a:ext cx="8299450" cy="845127"/>
          </a:xfrm>
        </p:spPr>
        <p:txBody>
          <a:bodyPr/>
          <a:lstStyle/>
          <a:p>
            <a:r>
              <a:rPr lang="en-US" sz="4000" dirty="0" err="1"/>
              <a:t>Analyticals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066787"/>
            <a:ext cx="8575962" cy="5126191"/>
          </a:xfrm>
        </p:spPr>
        <p:txBody>
          <a:bodyPr/>
          <a:lstStyle/>
          <a:p>
            <a:r>
              <a:rPr lang="en-US" sz="2600" dirty="0" err="1"/>
              <a:t>Analyticals</a:t>
            </a:r>
            <a:r>
              <a:rPr lang="en-US" sz="2600" dirty="0"/>
              <a:t> like structure and deadlines.</a:t>
            </a:r>
          </a:p>
          <a:p>
            <a:r>
              <a:rPr lang="en-US" sz="2600" dirty="0"/>
              <a:t>They measure their success in precise terms of  the number of widgets produced in a given time at a given quality level.</a:t>
            </a:r>
          </a:p>
          <a:p>
            <a:r>
              <a:rPr lang="en-US" sz="2600" dirty="0"/>
              <a:t>They tend to be obsessed with precision and attention to detail.</a:t>
            </a:r>
          </a:p>
          <a:p>
            <a:r>
              <a:rPr lang="en-US" sz="2600" dirty="0"/>
              <a:t>They may not be the best at understanding human dynamics, so working with customers and emotions may be a problem.</a:t>
            </a:r>
          </a:p>
          <a:p>
            <a:r>
              <a:rPr lang="en-US" sz="2600" dirty="0"/>
              <a:t>They are very comfortable with lots of information and have the ability to analyze issues and evaluate different types of risk.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06385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581890"/>
            <a:ext cx="8299450" cy="845127"/>
          </a:xfrm>
        </p:spPr>
        <p:txBody>
          <a:bodyPr/>
          <a:lstStyle/>
          <a:p>
            <a:r>
              <a:rPr lang="en-US" sz="4000" dirty="0"/>
              <a:t>Achievers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01783" y="1884218"/>
            <a:ext cx="8575962" cy="4308760"/>
          </a:xfrm>
        </p:spPr>
        <p:txBody>
          <a:bodyPr/>
          <a:lstStyle/>
          <a:p>
            <a:r>
              <a:rPr lang="en-US" sz="2600" dirty="0"/>
              <a:t>Achievers are very result oriented.</a:t>
            </a:r>
          </a:p>
          <a:p>
            <a:r>
              <a:rPr lang="en-US" sz="2600" dirty="0"/>
              <a:t>They may have several traits of the other personality types.</a:t>
            </a:r>
          </a:p>
          <a:p>
            <a:r>
              <a:rPr lang="en-US" sz="2600" dirty="0"/>
              <a:t>For example, they may be self-confident but not at the expense of others.</a:t>
            </a:r>
          </a:p>
          <a:p>
            <a:r>
              <a:rPr lang="en-US" sz="2600" dirty="0"/>
              <a:t>They genuinely want the best result and may seek different ways to achieve it.</a:t>
            </a:r>
          </a:p>
          <a:p>
            <a:r>
              <a:rPr lang="en-US" sz="2600" dirty="0"/>
              <a:t>Achievers can make good leaders.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2474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3"/>
          <p:cNvSpPr>
            <a:spLocks noGrp="1"/>
          </p:cNvSpPr>
          <p:nvPr>
            <p:ph type="title"/>
          </p:nvPr>
        </p:nvSpPr>
        <p:spPr>
          <a:xfrm>
            <a:off x="539750" y="419100"/>
            <a:ext cx="8299450" cy="990600"/>
          </a:xfrm>
        </p:spPr>
        <p:txBody>
          <a:bodyPr/>
          <a:lstStyle/>
          <a:p>
            <a:r>
              <a:rPr lang="en-US" sz="4000">
                <a:ea typeface="ＭＳ Ｐゴシック" pitchFamily="106" charset="-128"/>
              </a:rPr>
              <a:t>Summary</a:t>
            </a:r>
          </a:p>
        </p:txBody>
      </p:sp>
      <p:sp>
        <p:nvSpPr>
          <p:cNvPr id="14339" name="Content Placeholder 4"/>
          <p:cNvSpPr>
            <a:spLocks/>
          </p:cNvSpPr>
          <p:nvPr/>
        </p:nvSpPr>
        <p:spPr bwMode="auto">
          <a:xfrm>
            <a:off x="539750" y="1452563"/>
            <a:ext cx="82994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3363" indent="-233363" eaLnBrk="0" hangingPunct="0">
              <a:spcBef>
                <a:spcPct val="20000"/>
              </a:spcBef>
              <a:buClr>
                <a:srgbClr val="ED6E2E"/>
              </a:buClr>
              <a:buFont typeface="Wingdings" pitchFamily="2" charset="2"/>
              <a:buChar char="§"/>
            </a:pPr>
            <a:r>
              <a:rPr lang="en-US" sz="3200"/>
              <a:t>In this presentation, the following were covered: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800"/>
              <a:t>Seven domains of a typical IT infrastructure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800"/>
              <a:t>Importance of executive management support to implement security policy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800"/>
              <a:t>Policy implementation steps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800"/>
              <a:t>Policy implementation issues related to humans in the workplace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36732" y="800100"/>
            <a:ext cx="8299450" cy="990600"/>
          </a:xfrm>
        </p:spPr>
        <p:txBody>
          <a:bodyPr/>
          <a:lstStyle/>
          <a:p>
            <a:r>
              <a:rPr lang="en-US" sz="4000" dirty="0"/>
              <a:t>Discussion and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757054"/>
            <a:ext cx="8299450" cy="3186545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Discussion 2: Risk Mitigation</a:t>
            </a:r>
          </a:p>
          <a:p>
            <a:pPr>
              <a:defRPr/>
            </a:pPr>
            <a:r>
              <a:rPr lang="en-US" sz="2800" dirty="0"/>
              <a:t>Assignment 2: Good Policy Implementation</a:t>
            </a:r>
          </a:p>
          <a:p>
            <a:pPr>
              <a:defRPr/>
            </a:pPr>
            <a:endParaRPr lang="en-US" sz="2800" dirty="0"/>
          </a:p>
          <a:p>
            <a:pPr marL="0" indent="0">
              <a:buFont typeface="Wingdings" pitchFamily="2" charset="2"/>
              <a:buNone/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8234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636732" y="800100"/>
            <a:ext cx="8299450" cy="990600"/>
          </a:xfrm>
        </p:spPr>
        <p:txBody>
          <a:bodyPr/>
          <a:lstStyle/>
          <a:p>
            <a:r>
              <a:rPr lang="en-US" sz="4000" dirty="0"/>
              <a:t>Lab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050473"/>
            <a:ext cx="8299450" cy="4045526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Lab is in the lab manual on </a:t>
            </a:r>
            <a:r>
              <a:rPr lang="en-US" sz="2800" dirty="0" err="1"/>
              <a:t>cms</a:t>
            </a:r>
            <a:endParaRPr lang="en-US" sz="2800" dirty="0"/>
          </a:p>
          <a:p>
            <a:pPr>
              <a:defRPr/>
            </a:pPr>
            <a:r>
              <a:rPr lang="en-US" sz="2800" dirty="0"/>
              <a:t>Lab 2: Develop an Organization-Wide Policy Framework Implementation Plan</a:t>
            </a:r>
          </a:p>
          <a:p>
            <a:pPr>
              <a:defRPr/>
            </a:pPr>
            <a:r>
              <a:rPr lang="en-US" sz="2800" dirty="0"/>
              <a:t>Reading Assignment 2, Chapter 4, 5</a:t>
            </a:r>
          </a:p>
          <a:p>
            <a:pPr>
              <a:defRPr/>
            </a:pPr>
            <a:r>
              <a:rPr lang="en-US" sz="2600" i="1" dirty="0"/>
              <a:t>Assigned Reading</a:t>
            </a:r>
            <a:r>
              <a:rPr lang="en-US" sz="2600" dirty="0"/>
              <a:t>: - How will Brexit affect the cyber-security industry in UK and Europe?; The Social Dilemma of Self-Driving Cars; ISO/IEC27001 for Mobile Devices, Access Controls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083092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ROPS" val="doc-id:164124"/>
  <p:tag name="PRESENTATION_PLAYLIST_COUNT" val="0"/>
  <p:tag name="PRESENTATION_PRESENTER_SLIDE_LEVEL" val="0"/>
  <p:tag name="ART_ENCODE_TYPE" val="0"/>
  <p:tag name="ART_ENCODE_INDEX" val="1"/>
  <p:tag name="PUBLISH_TITLE" val="PM 2006"/>
  <p:tag name="ARTICULATE_PUBLISH_PATH" val="C:\Documents and Settings\Josh Bersin\My Documents\_Bersin Files\_PRESENTATIONS\2006_05_PMLAUNCH\PM 2006"/>
  <p:tag name="ARTICULATE_LOGO" val="Bersin-Logo2.gif"/>
  <p:tag name="ARTICULATE_PRESENTER" val="Josh Bersin"/>
  <p:tag name="ARTICULATE_PRESENTER_GUID" val="AF8D0DB1-D4D4-4749-BE26-AB8CCB5FD1C7"/>
  <p:tag name="ARTICULATE_LMS" val="0"/>
  <p:tag name="LMS_PUBLISH" val="No"/>
  <p:tag name="PLAYERLOGOHEIGHT" val="94"/>
  <p:tag name="PLAYERLOGOWIDTH" val="244"/>
  <p:tag name="LAUNCHINNEWWINDOW" val="1"/>
  <p:tag name="LASTPUBLISHED" val="C:\Documents and Settings\Josh Bersin\My Documents\_Bersin Files\_PRESENTATIONS\2006_05_PMLAUNCH\PM 2006\PM 2006\launcher.html"/>
  <p:tag name="MMPROD_NEXTUNIQUEID" val="10009"/>
  <p:tag name="MMPROD_UIDATA" val="&lt;database version=&quot;7.0&quot;&gt;&lt;object type=&quot;1&quot; unique_id=&quot;10001&quot;&gt;&lt;property id=&quot;20141&quot; value=&quot;PM 2006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Cummins Presentation&amp;#x0D;&amp;#x0A;High-Impact Learning Organizations &amp;#x0D;&amp;#x0A;&amp;#x0D;&amp;#x0A;WhatWorks® In the Management, Governance, and Operations &quot;/&gt;&lt;property id=&quot;20302&quot; value=&quot;0&quot;/&gt;&lt;property id=&quot;20307&quot; value=&quot;1507&quot;/&gt;&lt;/object&gt;&lt;object type=&quot;3&quot; unique_id=&quot;10006&quot;&gt;&lt;property id=&quot;20148&quot; value=&quot;5&quot;/&gt;&lt;property id=&quot;20300&quot; value=&quot;Slide 2 - &amp;quot;Bersin WhatWorks® Methodology&amp;quot;&quot;/&gt;&lt;property id=&quot;20302&quot; value=&quot;0&quot;/&gt;&lt;property id=&quot;20307&quot; value=&quot;1509&quot;/&gt;&lt;/object&gt;&lt;object type=&quot;3&quot; unique_id=&quot;10008&quot;&gt;&lt;property id=&quot;20148&quot; value=&quot;5&quot;/&gt;&lt;property id=&quot;20300&quot; value=&quot;Slide 6 - &amp;quot;The Corporate L&amp;amp;D Marketplace&amp;quot;&quot;/&gt;&lt;property id=&quot;20302&quot; value=&quot;0&quot;/&gt;&lt;property id=&quot;20307&quot; value=&quot;1486&quot;/&gt;&lt;/object&gt;&lt;object type=&quot;3&quot; unique_id=&quot;10011&quot;&gt;&lt;property id=&quot;20148&quot; value=&quot;5&quot;/&gt;&lt;property id=&quot;20300&quot; value=&quot;Slide 7 - &amp;quot;Current Workforce Demographics&amp;quot;&quot;/&gt;&lt;property id=&quot;20302&quot; value=&quot;0&quot;/&gt;&lt;property id=&quot;20307&quot; value=&quot;1513&quot;/&gt;&lt;/object&gt;&lt;object type=&quot;3&quot; unique_id=&quot;10013&quot;&gt;&lt;property id=&quot;20148&quot; value=&quot;5&quot;/&gt;&lt;property id=&quot;20300&quot; value=&quot;Slide 8 - &amp;quot;Today’s Worker&amp;quot;&quot;/&gt;&lt;property id=&quot;20302&quot; value=&quot;0&quot;/&gt;&lt;property id=&quot;20307&quot; value=&quot;1520&quot;/&gt;&lt;/object&gt;&lt;object type=&quot;3&quot; unique_id=&quot;10015&quot;&gt;&lt;property id=&quot;20148&quot; value=&quot;5&quot;/&gt;&lt;property id=&quot;20300&quot; value=&quot;Slide 9 - &amp;quot;Forces for Change in Corporate L&amp;amp;D&amp;quot;&quot;/&gt;&lt;property id=&quot;20302&quot; value=&quot;0&quot;/&gt;&lt;property id=&quot;20307&quot; value=&quot;1479&quot;/&gt;&lt;/object&gt;&lt;object type=&quot;3&quot; unique_id=&quot;10018&quot;&gt;&lt;property id=&quot;20148&quot; value=&quot;5&quot;/&gt;&lt;property id=&quot;20300&quot; value=&quot;Slide 10 - &amp;quot;High Impact Learning Organization&amp;#x0D;&amp;#x0A;How we create business impact&amp;quot;&quot;/&gt;&lt;property id=&quot;20302&quot; value=&quot;0&quot;/&gt;&lt;property id=&quot;20307&quot; value=&quot;1485&quot;/&gt;&lt;/object&gt;&lt;object type=&quot;3&quot; unique_id=&quot;10030&quot;&gt;&lt;property id=&quot;20148&quot; value=&quot;5&quot;/&gt;&lt;property id=&quot;20300&quot; value=&quot;Slide 11 - &amp;quot;High Impact Governance&amp;quot;&quot;/&gt;&lt;property id=&quot;20302&quot; value=&quot;0&quot;/&gt;&lt;property id=&quot;20307&quot; value=&quot;1523&quot;/&gt;&lt;/object&gt;&lt;object type=&quot;3&quot; unique_id=&quot;10031&quot;&gt;&lt;property id=&quot;20148&quot; value=&quot;5&quot;/&gt;&lt;property id=&quot;20300&quot; value=&quot;Slide 12 - &amp;quot;High Impact Governance Process&amp;quot;&quot;/&gt;&lt;property id=&quot;20302&quot; value=&quot;0&quot;/&gt;&lt;property id=&quot;20307&quot; value=&quot;1527&quot;/&gt;&lt;/object&gt;&lt;object type=&quot;3&quot; unique_id=&quot;10033&quot;&gt;&lt;property id=&quot;20148&quot; value=&quot;5&quot;/&gt;&lt;property id=&quot;20300&quot; value=&quot;Slide 13 - &amp;quot;Strategy Alignment Process&amp;quot;&quot;/&gt;&lt;property id=&quot;20302&quot; value=&quot;0&quot;/&gt;&lt;property id=&quot;20307&quot; value=&quot;1572&quot;/&gt;&lt;/object&gt;&lt;object type=&quot;3&quot; unique_id=&quot;10036&quot;&gt;&lt;property id=&quot;20148&quot; value=&quot;5&quot;/&gt;&lt;property id=&quot;20300&quot; value=&quot;Slide 14 - &amp;quot;A Working Federated Model&amp;quot;&quot;/&gt;&lt;property id=&quot;20302&quot; value=&quot;0&quot;/&gt;&lt;property id=&quot;20307&quot; value=&quot;1528&quot;/&gt;&lt;/object&gt;&lt;object type=&quot;3&quot; unique_id=&quot;10970&quot;&gt;&lt;property id=&quot;20148&quot; value=&quot;5&quot;/&gt;&lt;property id=&quot;20300&quot; value=&quot;Slide 3&quot;/&gt;&lt;property id=&quot;20307&quot; value=&quot;1573&quot;/&gt;&lt;/object&gt;&lt;object type=&quot;3&quot; unique_id=&quot;10971&quot;&gt;&lt;property id=&quot;20148&quot; value=&quot;5&quot;/&gt;&lt;property id=&quot;20300&quot; value=&quot;Slide 4 - &amp;quot;Business Needs Leading to Training Requirements&amp;quot;&quot;/&gt;&lt;property id=&quot;20307&quot; value=&quot;1574&quot;/&gt;&lt;/object&gt;&lt;object type=&quot;3&quot; unique_id=&quot;10972&quot;&gt;&lt;property id=&quot;20148&quot; value=&quot;5&quot;/&gt;&lt;property id=&quot;20300&quot; value=&quot;Slide 5 - &amp;quot;Context - Training &amp;amp; Development: &amp;#x0D;&amp;#x0A;Sample Interventions&amp;quot;&quot;/&gt;&lt;property id=&quot;20307&quot; value=&quot;1575&quot;/&gt;&lt;/object&gt;&lt;/object&gt;&lt;object type=&quot;4&quot; unique_id=&quot;10310&quot;&gt;&lt;property id=&quot;28&quot; value=&quot;1000&quot;/&gt;&lt;object type=&quot;5&quot; unique_id=&quot;1001&quot;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2">
      <a:dk1>
        <a:srgbClr val="000000"/>
      </a:dk1>
      <a:lt1>
        <a:srgbClr val="FFFFFF"/>
      </a:lt1>
      <a:dk2>
        <a:srgbClr val="204F91"/>
      </a:dk2>
      <a:lt2>
        <a:srgbClr val="A1A8AD"/>
      </a:lt2>
      <a:accent1>
        <a:srgbClr val="38629C"/>
      </a:accent1>
      <a:accent2>
        <a:srgbClr val="FE9901"/>
      </a:accent2>
      <a:accent3>
        <a:srgbClr val="FFFFFF"/>
      </a:accent3>
      <a:accent4>
        <a:srgbClr val="000000"/>
      </a:accent4>
      <a:accent5>
        <a:srgbClr val="AEB7CB"/>
      </a:accent5>
      <a:accent6>
        <a:srgbClr val="E68A01"/>
      </a:accent6>
      <a:hlink>
        <a:srgbClr val="7DBA00"/>
      </a:hlink>
      <a:folHlink>
        <a:srgbClr val="9C1F2E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204F91"/>
        </a:dk2>
        <a:lt2>
          <a:srgbClr val="A1A8AD"/>
        </a:lt2>
        <a:accent1>
          <a:srgbClr val="38629C"/>
        </a:accent1>
        <a:accent2>
          <a:srgbClr val="FE9901"/>
        </a:accent2>
        <a:accent3>
          <a:srgbClr val="FFFFFF"/>
        </a:accent3>
        <a:accent4>
          <a:srgbClr val="000000"/>
        </a:accent4>
        <a:accent5>
          <a:srgbClr val="AEB7CB"/>
        </a:accent5>
        <a:accent6>
          <a:srgbClr val="E68A01"/>
        </a:accent6>
        <a:hlink>
          <a:srgbClr val="7DBA00"/>
        </a:hlink>
        <a:folHlink>
          <a:srgbClr val="9C1F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3366"/>
        </a:dk2>
        <a:lt2>
          <a:srgbClr val="A1A8AD"/>
        </a:lt2>
        <a:accent1>
          <a:srgbClr val="A8C77F"/>
        </a:accent1>
        <a:accent2>
          <a:srgbClr val="547933"/>
        </a:accent2>
        <a:accent3>
          <a:srgbClr val="FFFFFF"/>
        </a:accent3>
        <a:accent4>
          <a:srgbClr val="000000"/>
        </a:accent4>
        <a:accent5>
          <a:srgbClr val="D1E0C0"/>
        </a:accent5>
        <a:accent6>
          <a:srgbClr val="4B6D2D"/>
        </a:accent6>
        <a:hlink>
          <a:srgbClr val="E6851A"/>
        </a:hlink>
        <a:folHlink>
          <a:srgbClr val="9C1F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D2E0BA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BECBA8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C57F21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B2721D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3366"/>
        </a:dk1>
        <a:lt1>
          <a:srgbClr val="FFFFFF"/>
        </a:lt1>
        <a:dk2>
          <a:srgbClr val="204F91"/>
        </a:dk2>
        <a:lt2>
          <a:srgbClr val="A1A8AD"/>
        </a:lt2>
        <a:accent1>
          <a:srgbClr val="73B244"/>
        </a:accent1>
        <a:accent2>
          <a:srgbClr val="932121"/>
        </a:accent2>
        <a:accent3>
          <a:srgbClr val="FFFFFF"/>
        </a:accent3>
        <a:accent4>
          <a:srgbClr val="002A56"/>
        </a:accent4>
        <a:accent5>
          <a:srgbClr val="BCD5B0"/>
        </a:accent5>
        <a:accent6>
          <a:srgbClr val="851D1D"/>
        </a:accent6>
        <a:hlink>
          <a:srgbClr val="67983A"/>
        </a:hlink>
        <a:folHlink>
          <a:srgbClr val="315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3366"/>
        </a:dk1>
        <a:lt1>
          <a:srgbClr val="FFFFFF"/>
        </a:lt1>
        <a:dk2>
          <a:srgbClr val="204F91"/>
        </a:dk2>
        <a:lt2>
          <a:srgbClr val="A1A8AD"/>
        </a:lt2>
        <a:accent1>
          <a:srgbClr val="D7D214"/>
        </a:accent1>
        <a:accent2>
          <a:srgbClr val="932121"/>
        </a:accent2>
        <a:accent3>
          <a:srgbClr val="FFFFFF"/>
        </a:accent3>
        <a:accent4>
          <a:srgbClr val="002A56"/>
        </a:accent4>
        <a:accent5>
          <a:srgbClr val="E8E5AA"/>
        </a:accent5>
        <a:accent6>
          <a:srgbClr val="851D1D"/>
        </a:accent6>
        <a:hlink>
          <a:srgbClr val="67983A"/>
        </a:hlink>
        <a:folHlink>
          <a:srgbClr val="315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DD9043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C8823C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69862757D4DE44893AB3F20D4900D1" ma:contentTypeVersion="0" ma:contentTypeDescription="Create a new document." ma:contentTypeScope="" ma:versionID="de924425f64a35fd3e6bdf165bb16c0f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LongProperties xmlns="http://schemas.microsoft.com/office/2006/metadata/longProperties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B8639A-8193-41A3-B88D-30381B1E59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FC179457-D557-43E5-8F5D-F70BD37A9867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4CA79F13-E1AA-4D61-B102-462BE465956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8DB373A-0F5C-4686-9F21-9425555D8714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23042</TotalTime>
  <Words>1628</Words>
  <Application>Microsoft Office PowerPoint</Application>
  <PresentationFormat>On-screen Show (4:3)</PresentationFormat>
  <Paragraphs>186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Times</vt:lpstr>
      <vt:lpstr>Times New Roman</vt:lpstr>
      <vt:lpstr>Wingdings</vt:lpstr>
      <vt:lpstr>Blank Presentation</vt:lpstr>
      <vt:lpstr>PowerPoint Presentation</vt:lpstr>
      <vt:lpstr>Learning Objective</vt:lpstr>
      <vt:lpstr>Key Concepts</vt:lpstr>
      <vt:lpstr> EXPLORE: CONCEPTS</vt:lpstr>
      <vt:lpstr>Risk Mitigation and the Role of Security Policies</vt:lpstr>
      <vt:lpstr>A Sample of Security Policies</vt:lpstr>
      <vt:lpstr>Seven Domains of a Typical IT Infrastructure</vt:lpstr>
      <vt:lpstr>Policy Failure Issues </vt:lpstr>
      <vt:lpstr>Unclear Purpose </vt:lpstr>
      <vt:lpstr>Doubt </vt:lpstr>
      <vt:lpstr>Insufficient Support </vt:lpstr>
      <vt:lpstr>Organizational Baggage </vt:lpstr>
      <vt:lpstr>Lack of Incentives </vt:lpstr>
      <vt:lpstr>Lack of Candor</vt:lpstr>
      <vt:lpstr>Low Tolerance for Bad News</vt:lpstr>
      <vt:lpstr>Unmanageable Complexity</vt:lpstr>
      <vt:lpstr>Relevance of Executive Management Support</vt:lpstr>
      <vt:lpstr>Lack of Executive Management Support</vt:lpstr>
      <vt:lpstr>Organizational Issues</vt:lpstr>
      <vt:lpstr>Flat Organizations</vt:lpstr>
      <vt:lpstr>Hierarchical Organizations</vt:lpstr>
      <vt:lpstr> EXPLORE: PROCESS</vt:lpstr>
      <vt:lpstr>Policy Implementation Steps</vt:lpstr>
      <vt:lpstr>Policy Implementation Issues</vt:lpstr>
      <vt:lpstr>Commanders</vt:lpstr>
      <vt:lpstr>Drifters</vt:lpstr>
      <vt:lpstr>Attackers</vt:lpstr>
      <vt:lpstr>Pleasers</vt:lpstr>
      <vt:lpstr>Performers</vt:lpstr>
      <vt:lpstr>Avoiders</vt:lpstr>
      <vt:lpstr>Analyticals</vt:lpstr>
      <vt:lpstr>Achievers</vt:lpstr>
      <vt:lpstr>Summary</vt:lpstr>
      <vt:lpstr>Discussion and Assignments</vt:lpstr>
      <vt:lpstr>Lab Activities</vt:lpstr>
    </vt:vector>
  </TitlesOfParts>
  <Company>Bersin &amp; Associates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E-Learning</dc:title>
  <dc:creator>Josh Bersin</dc:creator>
  <cp:lastModifiedBy>Chi Nguyen Dinh</cp:lastModifiedBy>
  <cp:revision>3171</cp:revision>
  <cp:lastPrinted>2008-07-07T18:08:55Z</cp:lastPrinted>
  <dcterms:created xsi:type="dcterms:W3CDTF">1999-09-23T04:05:21Z</dcterms:created>
  <dcterms:modified xsi:type="dcterms:W3CDTF">2023-09-22T09:34:46Z</dcterms:modified>
</cp:coreProperties>
</file>